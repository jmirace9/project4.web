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18288000" cy="11430000"/>
  <p:notesSz cx="6858000" cy="9144000"/>
  <p:embeddedFontLst>
    <p:embeddedFont>
      <p:font typeface="JASO Sans Bold" charset="1" panose="020E0002060000000900"/>
      <p:regular r:id="rId63"/>
    </p:embeddedFont>
    <p:embeddedFont>
      <p:font typeface="JASO Sans" charset="1" panose="020E0002060000000900"/>
      <p:regular r:id="rId64"/>
    </p:embeddedFont>
    <p:embeddedFont>
      <p:font typeface="Noto Sans Kr Bold" charset="1" panose="020B0200000000000000"/>
      <p:regular r:id="rId65"/>
    </p:embeddedFont>
    <p:embeddedFont>
      <p:font typeface="Noto Sans Kr" charset="1" panose="020B0200000000000000"/>
      <p:regular r:id="rId66"/>
    </p:embeddedFont>
    <p:embeddedFont>
      <p:font typeface="210 네버랜드" charset="1" panose="02020503020101020101"/>
      <p:regular r:id="rId71"/>
    </p:embeddedFont>
    <p:embeddedFont>
      <p:font typeface="둥근펜" charset="1" panose="020B0500000000000000"/>
      <p:regular r:id="rId7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fonts/font63.fntdata" Type="http://schemas.openxmlformats.org/officeDocument/2006/relationships/font"/><Relationship Id="rId64" Target="fonts/font64.fntdata" Type="http://schemas.openxmlformats.org/officeDocument/2006/relationships/font"/><Relationship Id="rId65" Target="fonts/font65.fntdata" Type="http://schemas.openxmlformats.org/officeDocument/2006/relationships/font"/><Relationship Id="rId66" Target="fonts/font66.fntdata" Type="http://schemas.openxmlformats.org/officeDocument/2006/relationships/font"/><Relationship Id="rId67" Target="notesMasters/notesMaster1.xml" Type="http://schemas.openxmlformats.org/officeDocument/2006/relationships/notesMaster"/><Relationship Id="rId68" Target="theme/theme2.xml" Type="http://schemas.openxmlformats.org/officeDocument/2006/relationships/theme"/><Relationship Id="rId69" Target="notesSlides/notesSlide1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2.xml" Type="http://schemas.openxmlformats.org/officeDocument/2006/relationships/notesSlide"/><Relationship Id="rId71" Target="fonts/font71.fntdata" Type="http://schemas.openxmlformats.org/officeDocument/2006/relationships/font"/><Relationship Id="rId72" Target="fonts/font72.fntdata" Type="http://schemas.openxmlformats.org/officeDocument/2006/relationships/font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장바구니(Cart)</a:t>
            </a:r>
          </a:p>
          <a:p>
            <a:r>
              <a:rPr lang="en-US"/>
              <a:t>사용자: 상품 옵션·수량 담기, 장바구니 목록 및 총 결제금액 조회, 수량 변경 및 선택/개별 삭제, 체크박스 기반 주문서 연동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장바구니(Cart)</a:t>
            </a:r>
          </a:p>
          <a:p>
            <a:r>
              <a:rPr lang="en-US"/>
              <a:t>사용자: 상품 옵션·수량 담기, 장바구니 목록 및 총 결제금액 조회, 수량 변경 및 선택/개별 삭제, 체크박스 기반 주문서 연동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Relationship Id="rId3" Target="../media/image32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1.png" Type="http://schemas.openxmlformats.org/officeDocument/2006/relationships/image"/><Relationship Id="rId4" Target="../media/image33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4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4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6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pn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Relationship Id="rId3" Target="../media/image34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0.pn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3892" y="8840965"/>
            <a:ext cx="5765074" cy="639984"/>
            <a:chOff x="0" y="0"/>
            <a:chExt cx="1518373" cy="1685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18373" cy="168556"/>
            </a:xfrm>
            <a:custGeom>
              <a:avLst/>
              <a:gdLst/>
              <a:ahLst/>
              <a:cxnLst/>
              <a:rect r="r" b="b" t="t" l="l"/>
              <a:pathLst>
                <a:path h="168556" w="1518373">
                  <a:moveTo>
                    <a:pt x="13429" y="0"/>
                  </a:moveTo>
                  <a:lnTo>
                    <a:pt x="1504944" y="0"/>
                  </a:lnTo>
                  <a:cubicBezTo>
                    <a:pt x="1508506" y="0"/>
                    <a:pt x="1511922" y="1415"/>
                    <a:pt x="1514440" y="3933"/>
                  </a:cubicBezTo>
                  <a:cubicBezTo>
                    <a:pt x="1516959" y="6452"/>
                    <a:pt x="1518373" y="9867"/>
                    <a:pt x="1518373" y="13429"/>
                  </a:cubicBezTo>
                  <a:lnTo>
                    <a:pt x="1518373" y="155127"/>
                  </a:lnTo>
                  <a:cubicBezTo>
                    <a:pt x="1518373" y="158688"/>
                    <a:pt x="1516959" y="162104"/>
                    <a:pt x="1514440" y="164622"/>
                  </a:cubicBezTo>
                  <a:cubicBezTo>
                    <a:pt x="1511922" y="167141"/>
                    <a:pt x="1508506" y="168556"/>
                    <a:pt x="1504944" y="168556"/>
                  </a:cubicBezTo>
                  <a:lnTo>
                    <a:pt x="13429" y="168556"/>
                  </a:lnTo>
                  <a:cubicBezTo>
                    <a:pt x="9867" y="168556"/>
                    <a:pt x="6452" y="167141"/>
                    <a:pt x="3933" y="164622"/>
                  </a:cubicBezTo>
                  <a:cubicBezTo>
                    <a:pt x="1415" y="162104"/>
                    <a:pt x="0" y="158688"/>
                    <a:pt x="0" y="155127"/>
                  </a:cubicBezTo>
                  <a:lnTo>
                    <a:pt x="0" y="13429"/>
                  </a:lnTo>
                  <a:cubicBezTo>
                    <a:pt x="0" y="9867"/>
                    <a:pt x="1415" y="6452"/>
                    <a:pt x="3933" y="3933"/>
                  </a:cubicBezTo>
                  <a:cubicBezTo>
                    <a:pt x="6452" y="1415"/>
                    <a:pt x="9867" y="0"/>
                    <a:pt x="1342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518373" cy="2638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94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33892" y="4622084"/>
            <a:ext cx="7354788" cy="15610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493"/>
              </a:lnSpc>
              <a:spcBef>
                <a:spcPct val="0"/>
              </a:spcBef>
            </a:pPr>
            <a:r>
              <a:rPr lang="en-US" b="true" sz="3528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JSP·Servlet 기반 </a:t>
            </a:r>
          </a:p>
          <a:p>
            <a:pPr algn="l" marL="0" indent="0" lvl="0">
              <a:lnSpc>
                <a:spcPts val="6493"/>
              </a:lnSpc>
              <a:spcBef>
                <a:spcPct val="0"/>
              </a:spcBef>
            </a:pPr>
            <a:r>
              <a:rPr lang="en-US" b="true" sz="3528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쇼핑 플랫폼 구현 프로젝트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33892" y="8129876"/>
            <a:ext cx="6946027" cy="40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7"/>
              </a:lnSpc>
            </a:pPr>
            <a:r>
              <a:rPr lang="en-US" b="true" sz="2398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1조 | </a:t>
            </a:r>
            <a:r>
              <a:rPr lang="en-US" b="true" sz="2398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문규리</a:t>
            </a:r>
            <a:r>
              <a:rPr lang="en-US" sz="2398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 · 조지훈 · 류호훈 · 안정빈 · 장미성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867413" y="9014590"/>
            <a:ext cx="4831553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40"/>
              </a:lnSpc>
            </a:pPr>
            <a:r>
              <a:rPr lang="en-US" b="true" sz="1600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기간: 2026.08.03 ~ 2026.09.07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3892" y="3079992"/>
            <a:ext cx="8733639" cy="1227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018"/>
              </a:lnSpc>
              <a:spcBef>
                <a:spcPct val="0"/>
              </a:spcBef>
            </a:pPr>
            <a:r>
              <a:rPr lang="en-US" sz="7156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오늘의집 프로젝트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3892" y="1146810"/>
            <a:ext cx="2198787" cy="239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28"/>
              </a:lnSpc>
              <a:spcBef>
                <a:spcPct val="0"/>
              </a:spcBef>
            </a:pPr>
            <a:r>
              <a:rPr lang="en-US" sz="1200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TEAM PROJECT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5187" y="3671545"/>
            <a:ext cx="9016494" cy="8712187"/>
          </a:xfrm>
          <a:custGeom>
            <a:avLst/>
            <a:gdLst/>
            <a:ahLst/>
            <a:cxnLst/>
            <a:rect r="r" b="b" t="t" l="l"/>
            <a:pathLst>
              <a:path h="8712187" w="9016494">
                <a:moveTo>
                  <a:pt x="0" y="0"/>
                </a:moveTo>
                <a:lnTo>
                  <a:pt x="9016494" y="0"/>
                </a:lnTo>
                <a:lnTo>
                  <a:pt x="9016494" y="8712187"/>
                </a:lnTo>
                <a:lnTo>
                  <a:pt x="0" y="87121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20483" y="3102850"/>
            <a:ext cx="6496191" cy="6705745"/>
          </a:xfrm>
          <a:custGeom>
            <a:avLst/>
            <a:gdLst/>
            <a:ahLst/>
            <a:cxnLst/>
            <a:rect r="r" b="b" t="t" l="l"/>
            <a:pathLst>
              <a:path h="6705745" w="6496191">
                <a:moveTo>
                  <a:pt x="0" y="0"/>
                </a:moveTo>
                <a:lnTo>
                  <a:pt x="6496190" y="0"/>
                </a:lnTo>
                <a:lnTo>
                  <a:pt x="6496190" y="6705745"/>
                </a:lnTo>
                <a:lnTo>
                  <a:pt x="0" y="67057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501786" y="2947857"/>
            <a:ext cx="1094929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78"/>
              </a:lnSpc>
            </a:pPr>
            <a:r>
              <a:rPr lang="en-US" b="true" sz="2181" spc="-4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목차</a:t>
            </a:r>
          </a:p>
        </p:txBody>
      </p:sp>
      <p:sp>
        <p:nvSpPr>
          <p:cNvPr name="AutoShape 4" id="4"/>
          <p:cNvSpPr/>
          <p:nvPr/>
        </p:nvSpPr>
        <p:spPr>
          <a:xfrm>
            <a:off x="13902298" y="4967185"/>
            <a:ext cx="4861809" cy="4762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3596719" y="6051398"/>
            <a:ext cx="5129309" cy="5453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6" id="6"/>
          <p:cNvSpPr txBox="true"/>
          <p:nvPr/>
        </p:nvSpPr>
        <p:spPr>
          <a:xfrm rot="0">
            <a:off x="14773463" y="4286595"/>
            <a:ext cx="2712031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데이터베이스 모델링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044107" y="4293221"/>
            <a:ext cx="463427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5</a:t>
            </a:r>
          </a:p>
        </p:txBody>
      </p:sp>
      <p:sp>
        <p:nvSpPr>
          <p:cNvPr name="AutoShape 8" id="8"/>
          <p:cNvSpPr/>
          <p:nvPr/>
        </p:nvSpPr>
        <p:spPr>
          <a:xfrm>
            <a:off x="9356143" y="4971948"/>
            <a:ext cx="3532293" cy="0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9356143" y="6058298"/>
            <a:ext cx="3532293" cy="0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9356143" y="7146114"/>
            <a:ext cx="3532293" cy="0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9953257" y="4279969"/>
            <a:ext cx="1680816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개요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53257" y="5341456"/>
            <a:ext cx="3463462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개발 환경 및 기술 구조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53257" y="6430190"/>
            <a:ext cx="3144554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요구사항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56143" y="4286595"/>
            <a:ext cx="509539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356143" y="5348082"/>
            <a:ext cx="509539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356143" y="6436816"/>
            <a:ext cx="509539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773463" y="5335748"/>
            <a:ext cx="6323498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기능 구현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773463" y="6423564"/>
            <a:ext cx="3161749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Q &amp; 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036839" y="5342373"/>
            <a:ext cx="629455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036839" y="6430190"/>
            <a:ext cx="629455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899221" y="7506201"/>
            <a:ext cx="2712031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객체 속성 &amp;</a:t>
            </a: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관계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356143" y="7512827"/>
            <a:ext cx="463427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4</a:t>
            </a:r>
          </a:p>
        </p:txBody>
      </p:sp>
      <p:sp>
        <p:nvSpPr>
          <p:cNvPr name="AutoShape 23" id="23"/>
          <p:cNvSpPr/>
          <p:nvPr/>
        </p:nvSpPr>
        <p:spPr>
          <a:xfrm flipV="true">
            <a:off x="13726636" y="7135496"/>
            <a:ext cx="4863779" cy="0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14773463" y="7512827"/>
            <a:ext cx="3161749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개발 후기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036839" y="7519452"/>
            <a:ext cx="629455" cy="2814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37"/>
              </a:lnSpc>
            </a:pPr>
            <a:r>
              <a:rPr lang="en-US" b="true" sz="1669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4686494"/>
            <a:ext cx="15590707" cy="2172148"/>
            <a:chOff x="0" y="0"/>
            <a:chExt cx="3207964" cy="44694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446944"/>
            </a:xfrm>
            <a:custGeom>
              <a:avLst/>
              <a:gdLst/>
              <a:ahLst/>
              <a:cxnLst/>
              <a:rect r="r" b="b" t="t" l="l"/>
              <a:pathLst>
                <a:path h="44694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37245"/>
                  </a:lnTo>
                  <a:cubicBezTo>
                    <a:pt x="3207964" y="439817"/>
                    <a:pt x="3206943" y="442284"/>
                    <a:pt x="3205124" y="444103"/>
                  </a:cubicBezTo>
                  <a:cubicBezTo>
                    <a:pt x="3203305" y="445922"/>
                    <a:pt x="3200838" y="446944"/>
                    <a:pt x="3198266" y="446944"/>
                  </a:cubicBezTo>
                  <a:lnTo>
                    <a:pt x="9699" y="446944"/>
                  </a:lnTo>
                  <a:cubicBezTo>
                    <a:pt x="4342" y="446944"/>
                    <a:pt x="0" y="442602"/>
                    <a:pt x="0" y="437245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5040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7491510"/>
            <a:ext cx="15590707" cy="2157020"/>
            <a:chOff x="0" y="0"/>
            <a:chExt cx="3207964" cy="44383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443831"/>
            </a:xfrm>
            <a:custGeom>
              <a:avLst/>
              <a:gdLst/>
              <a:ahLst/>
              <a:cxnLst/>
              <a:rect r="r" b="b" t="t" l="l"/>
              <a:pathLst>
                <a:path h="443831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34133"/>
                  </a:lnTo>
                  <a:cubicBezTo>
                    <a:pt x="3207964" y="439489"/>
                    <a:pt x="3203622" y="443831"/>
                    <a:pt x="3198266" y="443831"/>
                  </a:cubicBezTo>
                  <a:lnTo>
                    <a:pt x="9699" y="443831"/>
                  </a:lnTo>
                  <a:cubicBezTo>
                    <a:pt x="4342" y="443831"/>
                    <a:pt x="0" y="439489"/>
                    <a:pt x="0" y="434133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50098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7108" y="5649124"/>
            <a:ext cx="383167" cy="38316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8378437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931961" y="7961832"/>
            <a:ext cx="1188487" cy="1173677"/>
          </a:xfrm>
          <a:custGeom>
            <a:avLst/>
            <a:gdLst/>
            <a:ahLst/>
            <a:cxnLst/>
            <a:rect r="r" b="b" t="t" l="l"/>
            <a:pathLst>
              <a:path h="1173677" w="1188487">
                <a:moveTo>
                  <a:pt x="0" y="0"/>
                </a:moveTo>
                <a:lnTo>
                  <a:pt x="1188487" y="0"/>
                </a:lnTo>
                <a:lnTo>
                  <a:pt x="1188487" y="1173677"/>
                </a:lnTo>
                <a:lnTo>
                  <a:pt x="0" y="11736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931961" y="5060897"/>
            <a:ext cx="1289734" cy="1308207"/>
          </a:xfrm>
          <a:custGeom>
            <a:avLst/>
            <a:gdLst/>
            <a:ahLst/>
            <a:cxnLst/>
            <a:rect r="r" b="b" t="t" l="l"/>
            <a:pathLst>
              <a:path h="1308207" w="1289734">
                <a:moveTo>
                  <a:pt x="0" y="0"/>
                </a:moveTo>
                <a:lnTo>
                  <a:pt x="1289734" y="0"/>
                </a:lnTo>
                <a:lnTo>
                  <a:pt x="1289734" y="1308206"/>
                </a:lnTo>
                <a:lnTo>
                  <a:pt x="0" y="13082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7120">
            <a:off x="7417139" y="5276799"/>
            <a:ext cx="9031567" cy="1061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8"/>
              </a:lnSpc>
            </a:pPr>
            <a:r>
              <a:rPr lang="en-US" sz="1798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오늘의집 프로젝트 — JSP·Servlet 기반 쇼핑 플랫폼 구현 </a:t>
            </a:r>
          </a:p>
          <a:p>
            <a:pPr algn="l" marL="0" indent="0" lvl="0">
              <a:lnSpc>
                <a:spcPts val="2878"/>
              </a:lnSpc>
            </a:pPr>
          </a:p>
          <a:p>
            <a:pPr algn="l" marL="0" indent="0" lvl="0">
              <a:lnSpc>
                <a:spcPts val="2878"/>
              </a:lnSpc>
            </a:pPr>
            <a:r>
              <a:rPr lang="en-US" sz="1798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오늘의집 선택 사유: 다양한 기능(상품·장바구니·결제·판매자)을 포함한 실무형 쇼핑 플랫폼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706755" y="5644780"/>
            <a:ext cx="1352401" cy="334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</a:pPr>
            <a:r>
              <a:rPr lang="en-US" b="true" sz="1848" spc="-5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주제</a:t>
            </a:r>
          </a:p>
        </p:txBody>
      </p:sp>
      <p:sp>
        <p:nvSpPr>
          <p:cNvPr name="TextBox 18" id="18"/>
          <p:cNvSpPr txBox="true"/>
          <p:nvPr/>
        </p:nvSpPr>
        <p:spPr>
          <a:xfrm rot="7120">
            <a:off x="7417138" y="7984762"/>
            <a:ext cx="9636024" cy="1061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8"/>
              </a:lnSpc>
            </a:pPr>
            <a:r>
              <a:rPr lang="en-US" sz="1798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 조회 · 상품 판매 · 장바구니 · 주문 및 결제 · 판매자 관리</a:t>
            </a:r>
          </a:p>
          <a:p>
            <a:pPr algn="l" marL="0" indent="0" lvl="0">
              <a:lnSpc>
                <a:spcPts val="2878"/>
              </a:lnSpc>
            </a:pPr>
          </a:p>
          <a:p>
            <a:pPr algn="l" marL="0" indent="0" lvl="0">
              <a:lnSpc>
                <a:spcPts val="2878"/>
              </a:lnSpc>
            </a:pPr>
            <a:r>
              <a:rPr lang="en-US" sz="1798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오늘의집의 쇼핑 기능을 중심으로 구현했으며, 커뮤니티 기능은 구현 범위에서 제외했습니다.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706755" y="8352743"/>
            <a:ext cx="2076152" cy="334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</a:pPr>
            <a:r>
              <a:rPr lang="en-US" b="true" sz="1848" spc="-5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52245" y="2277839"/>
            <a:ext cx="6165582" cy="12125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273"/>
              </a:lnSpc>
            </a:pPr>
            <a:r>
              <a:rPr lang="en-US" b="true" sz="6421" spc="-141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 프로젝트 개요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10711543"/>
          </a:xfrm>
          <a:custGeom>
            <a:avLst/>
            <a:gdLst/>
            <a:ahLst/>
            <a:cxnLst/>
            <a:rect r="r" b="b" t="t" l="l"/>
            <a:pathLst>
              <a:path h="10711543" w="18288000">
                <a:moveTo>
                  <a:pt x="0" y="0"/>
                </a:moveTo>
                <a:lnTo>
                  <a:pt x="18288000" y="0"/>
                </a:lnTo>
                <a:lnTo>
                  <a:pt x="18288000" y="10711543"/>
                </a:lnTo>
                <a:lnTo>
                  <a:pt x="0" y="107115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16874" y="1978438"/>
            <a:ext cx="5839417" cy="529449"/>
            <a:chOff x="0" y="0"/>
            <a:chExt cx="1537953" cy="13944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537953" cy="139443"/>
            </a:xfrm>
            <a:custGeom>
              <a:avLst/>
              <a:gdLst/>
              <a:ahLst/>
              <a:cxnLst/>
              <a:rect r="r" b="b" t="t" l="l"/>
              <a:pathLst>
                <a:path h="139443" w="1537953">
                  <a:moveTo>
                    <a:pt x="0" y="0"/>
                  </a:moveTo>
                  <a:lnTo>
                    <a:pt x="1537953" y="0"/>
                  </a:lnTo>
                  <a:lnTo>
                    <a:pt x="1537953" y="139443"/>
                  </a:lnTo>
                  <a:lnTo>
                    <a:pt x="0" y="13944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85725"/>
              <a:ext cx="1537953" cy="2251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1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824505" y="1046164"/>
            <a:ext cx="8024780" cy="932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821"/>
              </a:lnSpc>
            </a:pPr>
            <a:r>
              <a:rPr lang="en-US" b="true" sz="4888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개발 환경 및 기술 구조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7923" y="571500"/>
            <a:ext cx="18463846" cy="10287000"/>
          </a:xfrm>
          <a:custGeom>
            <a:avLst/>
            <a:gdLst/>
            <a:ahLst/>
            <a:cxnLst/>
            <a:rect r="r" b="b" t="t" l="l"/>
            <a:pathLst>
              <a:path h="10287000" w="18463846">
                <a:moveTo>
                  <a:pt x="0" y="0"/>
                </a:moveTo>
                <a:lnTo>
                  <a:pt x="18463846" y="0"/>
                </a:lnTo>
                <a:lnTo>
                  <a:pt x="184638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86629" y="1971087"/>
            <a:ext cx="6686591" cy="529449"/>
            <a:chOff x="0" y="0"/>
            <a:chExt cx="1761078" cy="13944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61078" cy="139443"/>
            </a:xfrm>
            <a:custGeom>
              <a:avLst/>
              <a:gdLst/>
              <a:ahLst/>
              <a:cxnLst/>
              <a:rect r="r" b="b" t="t" l="l"/>
              <a:pathLst>
                <a:path h="139443" w="1761078">
                  <a:moveTo>
                    <a:pt x="0" y="0"/>
                  </a:moveTo>
                  <a:lnTo>
                    <a:pt x="1761078" y="0"/>
                  </a:lnTo>
                  <a:lnTo>
                    <a:pt x="1761078" y="139443"/>
                  </a:lnTo>
                  <a:lnTo>
                    <a:pt x="0" y="13944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85725"/>
              <a:ext cx="1761078" cy="2251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1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824505" y="1046164"/>
            <a:ext cx="8024780" cy="932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821"/>
              </a:lnSpc>
            </a:pPr>
            <a:r>
              <a:rPr lang="en-US" b="true" sz="4888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개발 환경 및 기술 구조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6153" y="2249815"/>
            <a:ext cx="6626263" cy="580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2"/>
              </a:lnSpc>
            </a:pP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일반 사용자 요구사항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-686847" y="1069890"/>
            <a:ext cx="8024780" cy="932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821"/>
              </a:lnSpc>
            </a:pPr>
            <a:r>
              <a:rPr lang="en-US" b="true" sz="4888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요구사항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3897595" y="3206462"/>
            <a:ext cx="13760186" cy="1234547"/>
            <a:chOff x="0" y="0"/>
            <a:chExt cx="3004784" cy="26958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3004784" cy="3648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65588" y="3211763"/>
            <a:ext cx="5410839" cy="1234547"/>
            <a:chOff x="0" y="0"/>
            <a:chExt cx="1181554" cy="26958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157CEE"/>
            </a:solidFill>
            <a:ln w="9525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161700" y="358327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회원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33779" y="3636499"/>
            <a:ext cx="8791034" cy="35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85"/>
              </a:lnSpc>
            </a:pPr>
            <a:r>
              <a:rPr lang="en-US" sz="19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회원가입, 로그인/로그아웃, 회원 정보 수정, 비밀번호 변경, 회원 탈퇴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3897595" y="4707710"/>
            <a:ext cx="13760186" cy="1234547"/>
            <a:chOff x="0" y="0"/>
            <a:chExt cx="3004784" cy="26958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0"/>
              <a:ext cx="3004784" cy="3648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65588" y="4710182"/>
            <a:ext cx="5410839" cy="1234547"/>
            <a:chOff x="0" y="0"/>
            <a:chExt cx="1181554" cy="26958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9525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3161700" y="5081434"/>
            <a:ext cx="2618614" cy="4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391"/>
              </a:lnSpc>
            </a:pPr>
            <a:r>
              <a:rPr lang="en-US" b="true" sz="2119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상품 탐색 / 검색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833779" y="5135273"/>
            <a:ext cx="10367304" cy="35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85"/>
              </a:lnSpc>
            </a:pPr>
            <a:r>
              <a:rPr lang="en-US" sz="19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카테고리별 상품 목록 조회, 베스트·단독 상품 탐색, 키워드 검색 및 결과 목록 표시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3897595" y="6192380"/>
            <a:ext cx="13760186" cy="1234547"/>
            <a:chOff x="0" y="0"/>
            <a:chExt cx="3004784" cy="26958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765588" y="6208957"/>
            <a:ext cx="5410839" cy="1234547"/>
            <a:chOff x="0" y="0"/>
            <a:chExt cx="1181554" cy="26958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3161700" y="6572035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833779" y="6636520"/>
            <a:ext cx="9702238" cy="35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85"/>
              </a:lnSpc>
            </a:pPr>
            <a:r>
              <a:rPr lang="en-US" sz="19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장바구니 담기·수량 변경·삭제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3897595" y="7710204"/>
            <a:ext cx="13760186" cy="1234547"/>
            <a:chOff x="0" y="0"/>
            <a:chExt cx="3004784" cy="26958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765588" y="7710204"/>
            <a:ext cx="5410839" cy="1234547"/>
            <a:chOff x="0" y="0"/>
            <a:chExt cx="1181554" cy="26958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3161700" y="8081712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주문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33779" y="8100762"/>
            <a:ext cx="9702238" cy="35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85"/>
              </a:lnSpc>
            </a:pPr>
            <a:r>
              <a:rPr lang="en-US" sz="19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주문 생성 및 결제 처리, 주문 내역 조회, 주문 상태 확인, 주문 취소/반품 요청 처리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3897595" y="9211451"/>
            <a:ext cx="13760186" cy="1234547"/>
            <a:chOff x="0" y="0"/>
            <a:chExt cx="3004784" cy="26958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765588" y="9211451"/>
            <a:ext cx="5410839" cy="1234547"/>
            <a:chOff x="0" y="0"/>
            <a:chExt cx="1181554" cy="2695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3161700" y="959245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833779" y="9625226"/>
            <a:ext cx="9702238" cy="3593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85"/>
              </a:lnSpc>
            </a:pPr>
            <a:r>
              <a:rPr lang="en-US" sz="19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구매 상품에 대한 리뷰 등록, 수정, 삭제 및 별점 평가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302562" y="2250684"/>
            <a:ext cx="6626263" cy="580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2"/>
              </a:lnSpc>
            </a:pP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판매자</a:t>
            </a: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요구사항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3928414" y="3211763"/>
            <a:ext cx="13760186" cy="1234547"/>
            <a:chOff x="0" y="0"/>
            <a:chExt cx="3004784" cy="2695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0"/>
              <a:ext cx="3004784" cy="3648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765588" y="3211763"/>
            <a:ext cx="5410839" cy="1234547"/>
            <a:chOff x="0" y="0"/>
            <a:chExt cx="1181554" cy="26958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157CEE"/>
            </a:solidFill>
            <a:ln w="9525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3161700" y="358327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상품 관리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3928414" y="4707710"/>
            <a:ext cx="13760186" cy="1234547"/>
            <a:chOff x="0" y="0"/>
            <a:chExt cx="3004784" cy="2695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0"/>
              <a:ext cx="3004784" cy="3648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5588" y="4710182"/>
            <a:ext cx="5410839" cy="1234547"/>
            <a:chOff x="0" y="0"/>
            <a:chExt cx="1181554" cy="26958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9525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928414" y="6211430"/>
            <a:ext cx="13760186" cy="1234547"/>
            <a:chOff x="0" y="0"/>
            <a:chExt cx="3004784" cy="2695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765588" y="6208957"/>
            <a:ext cx="5410839" cy="1234547"/>
            <a:chOff x="0" y="0"/>
            <a:chExt cx="1181554" cy="2695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928414" y="7703152"/>
            <a:ext cx="13760186" cy="1234547"/>
            <a:chOff x="0" y="0"/>
            <a:chExt cx="3004784" cy="26958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765588" y="7710204"/>
            <a:ext cx="5410839" cy="1234547"/>
            <a:chOff x="0" y="0"/>
            <a:chExt cx="1181554" cy="26958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928414" y="9211451"/>
            <a:ext cx="13760186" cy="1234547"/>
            <a:chOff x="0" y="0"/>
            <a:chExt cx="3004784" cy="26958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765588" y="9211451"/>
            <a:ext cx="5410839" cy="1234547"/>
            <a:chOff x="0" y="0"/>
            <a:chExt cx="1181554" cy="26958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-701975" y="1038813"/>
            <a:ext cx="8024780" cy="932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821"/>
              </a:lnSpc>
            </a:pPr>
            <a:r>
              <a:rPr lang="en-US" b="true" sz="4888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요구사항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161700" y="5079217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배송 관리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161700" y="6582937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C</a:t>
            </a: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 관리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161700" y="8074627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</a:t>
            </a: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산 관리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161700" y="957340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 관리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8707273" y="3587528"/>
            <a:ext cx="6143465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</a:t>
            </a: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품 등록 및 수정 / 상품 목록 확인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227649" y="5081723"/>
            <a:ext cx="3435532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 배송 처리 기능 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372910" y="6563920"/>
            <a:ext cx="5145009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</a:t>
            </a: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품 취소 및 반품 처리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068803" y="8084152"/>
            <a:ext cx="3753223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판</a:t>
            </a: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매 물품 정산액 확인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397493" y="9585399"/>
            <a:ext cx="5095843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본</a:t>
            </a: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인 상품 리뷰 확인 및 답글 작성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287434" y="2250684"/>
            <a:ext cx="6626263" cy="580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2"/>
              </a:lnSpc>
            </a:pP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관리자</a:t>
            </a: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요구사항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-701975" y="1038813"/>
            <a:ext cx="8024780" cy="932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821"/>
              </a:lnSpc>
            </a:pPr>
            <a:r>
              <a:rPr lang="en-US" b="true" sz="4888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요구사항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3931211" y="3231683"/>
            <a:ext cx="13760186" cy="1211265"/>
            <a:chOff x="0" y="0"/>
            <a:chExt cx="3004784" cy="26450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04784" cy="264502"/>
            </a:xfrm>
            <a:custGeom>
              <a:avLst/>
              <a:gdLst/>
              <a:ahLst/>
              <a:cxnLst/>
              <a:rect r="r" b="b" t="t" l="l"/>
              <a:pathLst>
                <a:path h="264502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0436"/>
                  </a:lnTo>
                  <a:cubicBezTo>
                    <a:pt x="3004784" y="258204"/>
                    <a:pt x="2998487" y="264502"/>
                    <a:pt x="2990719" y="264502"/>
                  </a:cubicBezTo>
                  <a:lnTo>
                    <a:pt x="14066" y="264502"/>
                  </a:lnTo>
                  <a:cubicBezTo>
                    <a:pt x="10335" y="264502"/>
                    <a:pt x="6758" y="263020"/>
                    <a:pt x="4120" y="260382"/>
                  </a:cubicBezTo>
                  <a:cubicBezTo>
                    <a:pt x="1482" y="257744"/>
                    <a:pt x="0" y="254166"/>
                    <a:pt x="0" y="250436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95250"/>
              <a:ext cx="3004784" cy="359752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765588" y="3211763"/>
            <a:ext cx="5410839" cy="1234547"/>
            <a:chOff x="0" y="0"/>
            <a:chExt cx="1181554" cy="26958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157CEE"/>
            </a:solidFill>
            <a:ln w="9525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931211" y="4708805"/>
            <a:ext cx="13760186" cy="1234547"/>
            <a:chOff x="0" y="0"/>
            <a:chExt cx="3004784" cy="2695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0"/>
              <a:ext cx="3004784" cy="3648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5588" y="4708805"/>
            <a:ext cx="5410839" cy="1234547"/>
            <a:chOff x="0" y="0"/>
            <a:chExt cx="1181554" cy="26958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9525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85725"/>
              <a:ext cx="1181554" cy="35531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352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931211" y="6200528"/>
            <a:ext cx="13760186" cy="1234547"/>
            <a:chOff x="0" y="0"/>
            <a:chExt cx="3004784" cy="26958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765588" y="6208957"/>
            <a:ext cx="5410839" cy="1234547"/>
            <a:chOff x="0" y="0"/>
            <a:chExt cx="1181554" cy="2695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931211" y="7696480"/>
            <a:ext cx="13760186" cy="1234547"/>
            <a:chOff x="0" y="0"/>
            <a:chExt cx="3004784" cy="26958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765588" y="7710204"/>
            <a:ext cx="5410839" cy="1234547"/>
            <a:chOff x="0" y="0"/>
            <a:chExt cx="1181554" cy="26958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931211" y="9220944"/>
            <a:ext cx="13760186" cy="1234547"/>
            <a:chOff x="0" y="0"/>
            <a:chExt cx="3004784" cy="26958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004784" cy="269586"/>
            </a:xfrm>
            <a:custGeom>
              <a:avLst/>
              <a:gdLst/>
              <a:ahLst/>
              <a:cxnLst/>
              <a:rect r="r" b="b" t="t" l="l"/>
              <a:pathLst>
                <a:path h="269586" w="3004784">
                  <a:moveTo>
                    <a:pt x="14066" y="0"/>
                  </a:moveTo>
                  <a:lnTo>
                    <a:pt x="2990719" y="0"/>
                  </a:lnTo>
                  <a:cubicBezTo>
                    <a:pt x="2994449" y="0"/>
                    <a:pt x="2998027" y="1482"/>
                    <a:pt x="3000665" y="4120"/>
                  </a:cubicBezTo>
                  <a:cubicBezTo>
                    <a:pt x="3003303" y="6758"/>
                    <a:pt x="3004784" y="10335"/>
                    <a:pt x="3004784" y="14066"/>
                  </a:cubicBezTo>
                  <a:lnTo>
                    <a:pt x="3004784" y="255520"/>
                  </a:lnTo>
                  <a:cubicBezTo>
                    <a:pt x="3004784" y="263288"/>
                    <a:pt x="2998487" y="269586"/>
                    <a:pt x="2990719" y="269586"/>
                  </a:cubicBezTo>
                  <a:lnTo>
                    <a:pt x="14066" y="269586"/>
                  </a:lnTo>
                  <a:cubicBezTo>
                    <a:pt x="10335" y="269586"/>
                    <a:pt x="6758" y="268104"/>
                    <a:pt x="4120" y="265466"/>
                  </a:cubicBezTo>
                  <a:cubicBezTo>
                    <a:pt x="1482" y="262828"/>
                    <a:pt x="0" y="259250"/>
                    <a:pt x="0" y="255520"/>
                  </a:cubicBezTo>
                  <a:lnTo>
                    <a:pt x="0" y="14066"/>
                  </a:lnTo>
                  <a:cubicBezTo>
                    <a:pt x="0" y="10335"/>
                    <a:pt x="1482" y="6758"/>
                    <a:pt x="4120" y="4120"/>
                  </a:cubicBezTo>
                  <a:cubicBezTo>
                    <a:pt x="6758" y="1482"/>
                    <a:pt x="10335" y="0"/>
                    <a:pt x="14066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42875"/>
              <a:ext cx="3004784" cy="412461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ctr" marL="0" indent="0" lvl="0">
                <a:lnSpc>
                  <a:spcPts val="4048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765588" y="9211451"/>
            <a:ext cx="5410839" cy="1234547"/>
            <a:chOff x="0" y="0"/>
            <a:chExt cx="1181554" cy="26958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181554" cy="269586"/>
            </a:xfrm>
            <a:custGeom>
              <a:avLst/>
              <a:gdLst/>
              <a:ahLst/>
              <a:cxnLst/>
              <a:rect r="r" b="b" t="t" l="l"/>
              <a:pathLst>
                <a:path h="269586" w="1181554">
                  <a:moveTo>
                    <a:pt x="35770" y="0"/>
                  </a:moveTo>
                  <a:lnTo>
                    <a:pt x="1145784" y="0"/>
                  </a:lnTo>
                  <a:cubicBezTo>
                    <a:pt x="1165539" y="0"/>
                    <a:pt x="1181554" y="16015"/>
                    <a:pt x="1181554" y="35770"/>
                  </a:cubicBezTo>
                  <a:lnTo>
                    <a:pt x="1181554" y="233815"/>
                  </a:lnTo>
                  <a:cubicBezTo>
                    <a:pt x="1181554" y="253571"/>
                    <a:pt x="1165539" y="269586"/>
                    <a:pt x="1145784" y="269586"/>
                  </a:cubicBezTo>
                  <a:lnTo>
                    <a:pt x="35770" y="269586"/>
                  </a:lnTo>
                  <a:cubicBezTo>
                    <a:pt x="16015" y="269586"/>
                    <a:pt x="0" y="253571"/>
                    <a:pt x="0" y="233815"/>
                  </a:cubicBezTo>
                  <a:lnTo>
                    <a:pt x="0" y="35770"/>
                  </a:lnTo>
                  <a:cubicBezTo>
                    <a:pt x="0" y="16015"/>
                    <a:pt x="16015" y="0"/>
                    <a:pt x="35770" y="0"/>
                  </a:cubicBezTo>
                  <a:close/>
                </a:path>
              </a:pathLst>
            </a:custGeom>
            <a:solidFill>
              <a:srgbClr val="D1D1D1"/>
            </a:solidFill>
            <a:ln w="19050" cap="rnd">
              <a:solidFill>
                <a:srgbClr val="D1D1D1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133350"/>
              <a:ext cx="1181554" cy="402936"/>
            </a:xfrm>
            <a:prstGeom prst="rect">
              <a:avLst/>
            </a:prstGeom>
          </p:spPr>
          <p:txBody>
            <a:bodyPr anchor="ctr" rtlCol="false" tIns="72458" lIns="72458" bIns="72458" rIns="72458"/>
            <a:lstStyle/>
            <a:p>
              <a:pPr algn="l" marL="0" indent="0" lvl="0">
                <a:lnSpc>
                  <a:spcPts val="4048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3161700" y="358327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회원 계정</a:t>
            </a:r>
            <a:r>
              <a:rPr lang="en-US" b="true" sz="213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관리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161700" y="5077653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판매자 계정 관리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161700" y="6572035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상품 관리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161700" y="8067988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정산 관리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3161700" y="9573401"/>
            <a:ext cx="2618614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b="true" sz="2136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쿠폰 관리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474332" y="3591550"/>
            <a:ext cx="9426266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가입된 회원 목록 확인 및 관리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509069" y="5099363"/>
            <a:ext cx="9426266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가입된 판매자 목록 확인 및 관리 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566219" y="6572003"/>
            <a:ext cx="9426266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등록된 상품 목록 확인 및 관리 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566219" y="8063725"/>
            <a:ext cx="9426266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판매자 정산 목록 확인 및 승인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7566219" y="9559677"/>
            <a:ext cx="9426266" cy="405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418"/>
              </a:lnSpc>
            </a:pP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쿠</a:t>
            </a:r>
            <a:r>
              <a:rPr lang="en-US" sz="2136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폰 등록/조회 및 배포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434773" y="2185619"/>
            <a:ext cx="15418454" cy="8672881"/>
          </a:xfrm>
          <a:prstGeom prst="rect">
            <a:avLst/>
          </a:prstGeom>
          <a:solidFill>
            <a:srgbClr val="FAFAFA"/>
          </a:solidFill>
        </p:spPr>
      </p:sp>
      <p:grpSp>
        <p:nvGrpSpPr>
          <p:cNvPr name="Group 3" id="3"/>
          <p:cNvGrpSpPr/>
          <p:nvPr/>
        </p:nvGrpSpPr>
        <p:grpSpPr>
          <a:xfrm rot="0">
            <a:off x="4591493" y="7792612"/>
            <a:ext cx="1958139" cy="1310324"/>
            <a:chOff x="0" y="0"/>
            <a:chExt cx="2610852" cy="1747098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0"/>
              <a:ext cx="2610852" cy="1747098"/>
              <a:chOff x="0" y="0"/>
              <a:chExt cx="778898" cy="521213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778898" cy="521213"/>
              </a:xfrm>
              <a:custGeom>
                <a:avLst/>
                <a:gdLst/>
                <a:ahLst/>
                <a:cxnLst/>
                <a:rect r="r" b="b" t="t" l="l"/>
                <a:pathLst>
                  <a:path h="521213" w="778898">
                    <a:moveTo>
                      <a:pt x="98843" y="0"/>
                    </a:moveTo>
                    <a:lnTo>
                      <a:pt x="680055" y="0"/>
                    </a:lnTo>
                    <a:cubicBezTo>
                      <a:pt x="734644" y="0"/>
                      <a:pt x="778898" y="44253"/>
                      <a:pt x="778898" y="98843"/>
                    </a:cubicBezTo>
                    <a:lnTo>
                      <a:pt x="778898" y="422370"/>
                    </a:lnTo>
                    <a:cubicBezTo>
                      <a:pt x="778898" y="448585"/>
                      <a:pt x="768484" y="473726"/>
                      <a:pt x="749947" y="492263"/>
                    </a:cubicBezTo>
                    <a:cubicBezTo>
                      <a:pt x="731411" y="510800"/>
                      <a:pt x="706270" y="521213"/>
                      <a:pt x="680055" y="521213"/>
                    </a:cubicBezTo>
                    <a:lnTo>
                      <a:pt x="98843" y="521213"/>
                    </a:lnTo>
                    <a:cubicBezTo>
                      <a:pt x="44253" y="521213"/>
                      <a:pt x="0" y="476960"/>
                      <a:pt x="0" y="422370"/>
                    </a:cubicBezTo>
                    <a:lnTo>
                      <a:pt x="0" y="98843"/>
                    </a:lnTo>
                    <a:cubicBezTo>
                      <a:pt x="0" y="44253"/>
                      <a:pt x="44253" y="0"/>
                      <a:pt x="98843" y="0"/>
                    </a:cubicBezTo>
                    <a:close/>
                  </a:path>
                </a:pathLst>
              </a:custGeom>
              <a:solidFill>
                <a:srgbClr val="35D19C"/>
              </a:solidFill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57150"/>
                <a:ext cx="778898" cy="578363"/>
              </a:xfrm>
              <a:prstGeom prst="rect">
                <a:avLst/>
              </a:prstGeom>
            </p:spPr>
            <p:txBody>
              <a:bodyPr anchor="ctr" rtlCol="false" tIns="42829" lIns="42829" bIns="42829" rIns="42829"/>
              <a:lstStyle/>
              <a:p>
                <a:pPr algn="ctr" marL="0" indent="0" lvl="0">
                  <a:lnSpc>
                    <a:spcPts val="2158"/>
                  </a:lnSpc>
                </a:pPr>
              </a:p>
            </p:txBody>
          </p:sp>
        </p:grpSp>
        <p:sp>
          <p:nvSpPr>
            <p:cNvPr name="TextBox 7" id="7"/>
            <p:cNvSpPr txBox="true"/>
            <p:nvPr/>
          </p:nvSpPr>
          <p:spPr>
            <a:xfrm rot="0">
              <a:off x="442193" y="521325"/>
              <a:ext cx="1726466" cy="5986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043"/>
                </a:lnSpc>
              </a:pPr>
              <a:r>
                <a:rPr lang="en-US" b="true" sz="2527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회원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749072" y="7792612"/>
            <a:ext cx="1958139" cy="1310324"/>
            <a:chOff x="0" y="0"/>
            <a:chExt cx="2610852" cy="1747098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2610852" cy="1747098"/>
              <a:chOff x="0" y="0"/>
              <a:chExt cx="778898" cy="521213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778898" cy="521213"/>
              </a:xfrm>
              <a:custGeom>
                <a:avLst/>
                <a:gdLst/>
                <a:ahLst/>
                <a:cxnLst/>
                <a:rect r="r" b="b" t="t" l="l"/>
                <a:pathLst>
                  <a:path h="521213" w="778898">
                    <a:moveTo>
                      <a:pt x="98843" y="0"/>
                    </a:moveTo>
                    <a:lnTo>
                      <a:pt x="680055" y="0"/>
                    </a:lnTo>
                    <a:cubicBezTo>
                      <a:pt x="734644" y="0"/>
                      <a:pt x="778898" y="44253"/>
                      <a:pt x="778898" y="98843"/>
                    </a:cubicBezTo>
                    <a:lnTo>
                      <a:pt x="778898" y="422370"/>
                    </a:lnTo>
                    <a:cubicBezTo>
                      <a:pt x="778898" y="448585"/>
                      <a:pt x="768484" y="473726"/>
                      <a:pt x="749947" y="492263"/>
                    </a:cubicBezTo>
                    <a:cubicBezTo>
                      <a:pt x="731411" y="510800"/>
                      <a:pt x="706270" y="521213"/>
                      <a:pt x="680055" y="521213"/>
                    </a:cubicBezTo>
                    <a:lnTo>
                      <a:pt x="98843" y="521213"/>
                    </a:lnTo>
                    <a:cubicBezTo>
                      <a:pt x="44253" y="521213"/>
                      <a:pt x="0" y="476960"/>
                      <a:pt x="0" y="422370"/>
                    </a:cubicBezTo>
                    <a:lnTo>
                      <a:pt x="0" y="98843"/>
                    </a:lnTo>
                    <a:cubicBezTo>
                      <a:pt x="0" y="44253"/>
                      <a:pt x="44253" y="0"/>
                      <a:pt x="98843" y="0"/>
                    </a:cubicBezTo>
                    <a:close/>
                  </a:path>
                </a:pathLst>
              </a:custGeom>
              <a:solidFill>
                <a:srgbClr val="EDEDED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57150"/>
                <a:ext cx="778898" cy="578363"/>
              </a:xfrm>
              <a:prstGeom prst="rect">
                <a:avLst/>
              </a:prstGeom>
            </p:spPr>
            <p:txBody>
              <a:bodyPr anchor="ctr" rtlCol="false" tIns="42829" lIns="42829" bIns="42829" rIns="42829"/>
              <a:lstStyle/>
              <a:p>
                <a:pPr algn="ctr" marL="0" indent="0" lvl="0">
                  <a:lnSpc>
                    <a:spcPts val="2158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649817" y="521325"/>
              <a:ext cx="1311218" cy="5986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043"/>
                </a:lnSpc>
              </a:pPr>
              <a:r>
                <a:rPr lang="en-US" b="true" sz="2527">
                  <a:solidFill>
                    <a:srgbClr val="222222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상품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28700" y="1476375"/>
            <a:ext cx="6049350" cy="580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802"/>
              </a:lnSpc>
            </a:pPr>
            <a:r>
              <a:rPr lang="en-US" b="true" sz="3001" spc="-66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ER Diagram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2859139" y="2377972"/>
            <a:ext cx="12056739" cy="8037826"/>
          </a:xfrm>
          <a:custGeom>
            <a:avLst/>
            <a:gdLst/>
            <a:ahLst/>
            <a:cxnLst/>
            <a:rect r="r" b="b" t="t" l="l"/>
            <a:pathLst>
              <a:path h="8037826" w="12056739">
                <a:moveTo>
                  <a:pt x="0" y="0"/>
                </a:moveTo>
                <a:lnTo>
                  <a:pt x="12056739" y="0"/>
                </a:lnTo>
                <a:lnTo>
                  <a:pt x="12056739" y="8037827"/>
                </a:lnTo>
                <a:lnTo>
                  <a:pt x="0" y="80378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1733539" y="810345"/>
            <a:ext cx="5950856" cy="932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824"/>
              </a:lnSpc>
            </a:pPr>
            <a:r>
              <a:rPr lang="en-US" b="true" sz="4890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04 개체 속성 &amp; 관계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04742" y="3082954"/>
            <a:ext cx="15159258" cy="6733064"/>
          </a:xfrm>
          <a:custGeom>
            <a:avLst/>
            <a:gdLst/>
            <a:ahLst/>
            <a:cxnLst/>
            <a:rect r="r" b="b" t="t" l="l"/>
            <a:pathLst>
              <a:path h="6733064" w="15159258">
                <a:moveTo>
                  <a:pt x="0" y="0"/>
                </a:moveTo>
                <a:lnTo>
                  <a:pt x="15159258" y="0"/>
                </a:lnTo>
                <a:lnTo>
                  <a:pt x="15159258" y="6733064"/>
                </a:lnTo>
                <a:lnTo>
                  <a:pt x="0" y="67330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81" t="0" r="-881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54387" y="210312"/>
            <a:ext cx="9168899" cy="932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824"/>
              </a:lnSpc>
            </a:pPr>
            <a:r>
              <a:rPr lang="en-US" b="true" sz="4890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05 데이터베이스 논리적 모델링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892" y="4022006"/>
            <a:ext cx="7354788" cy="1916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 상세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892" y="3146667"/>
            <a:ext cx="8733639" cy="14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TEAM MEMBER</a:t>
            </a:r>
          </a:p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조지훈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305322" y="3942282"/>
            <a:ext cx="9108032" cy="8424930"/>
          </a:xfrm>
          <a:custGeom>
            <a:avLst/>
            <a:gdLst/>
            <a:ahLst/>
            <a:cxnLst/>
            <a:rect r="r" b="b" t="t" l="l"/>
            <a:pathLst>
              <a:path h="8424930" w="9108032">
                <a:moveTo>
                  <a:pt x="0" y="0"/>
                </a:moveTo>
                <a:lnTo>
                  <a:pt x="9108032" y="0"/>
                </a:lnTo>
                <a:lnTo>
                  <a:pt x="9108032" y="8424930"/>
                </a:lnTo>
                <a:lnTo>
                  <a:pt x="0" y="842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80475" y="6287083"/>
            <a:ext cx="4038898" cy="273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카테고리</a:t>
            </a:r>
          </a:p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오늘의집 only</a:t>
            </a:r>
          </a:p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회원탈퇴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2151223"/>
            <a:ext cx="15590707" cy="2818660"/>
            <a:chOff x="0" y="0"/>
            <a:chExt cx="3207964" cy="5799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579971"/>
            </a:xfrm>
            <a:custGeom>
              <a:avLst/>
              <a:gdLst/>
              <a:ahLst/>
              <a:cxnLst/>
              <a:rect r="r" b="b" t="t" l="l"/>
              <a:pathLst>
                <a:path h="579971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570273"/>
                  </a:lnTo>
                  <a:cubicBezTo>
                    <a:pt x="3207964" y="572845"/>
                    <a:pt x="3206943" y="575312"/>
                    <a:pt x="3205124" y="577131"/>
                  </a:cubicBezTo>
                  <a:cubicBezTo>
                    <a:pt x="3203305" y="578949"/>
                    <a:pt x="3200838" y="579971"/>
                    <a:pt x="3198266" y="579971"/>
                  </a:cubicBezTo>
                  <a:lnTo>
                    <a:pt x="9699" y="579971"/>
                  </a:lnTo>
                  <a:cubicBezTo>
                    <a:pt x="4342" y="579971"/>
                    <a:pt x="0" y="575629"/>
                    <a:pt x="0" y="570273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637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4969883"/>
            <a:ext cx="15590707" cy="2100341"/>
            <a:chOff x="0" y="0"/>
            <a:chExt cx="3207964" cy="4321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432169"/>
            </a:xfrm>
            <a:custGeom>
              <a:avLst/>
              <a:gdLst/>
              <a:ahLst/>
              <a:cxnLst/>
              <a:rect r="r" b="b" t="t" l="l"/>
              <a:pathLst>
                <a:path h="432169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22470"/>
                  </a:lnTo>
                  <a:cubicBezTo>
                    <a:pt x="3207964" y="427827"/>
                    <a:pt x="3203622" y="432169"/>
                    <a:pt x="3198266" y="432169"/>
                  </a:cubicBezTo>
                  <a:lnTo>
                    <a:pt x="9699" y="432169"/>
                  </a:lnTo>
                  <a:cubicBezTo>
                    <a:pt x="4342" y="432169"/>
                    <a:pt x="0" y="427827"/>
                    <a:pt x="0" y="422470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4893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7079141"/>
            <a:ext cx="15590707" cy="2144209"/>
            <a:chOff x="0" y="0"/>
            <a:chExt cx="3207964" cy="44119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441195"/>
            </a:xfrm>
            <a:custGeom>
              <a:avLst/>
              <a:gdLst/>
              <a:ahLst/>
              <a:cxnLst/>
              <a:rect r="r" b="b" t="t" l="l"/>
              <a:pathLst>
                <a:path h="441195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31497"/>
                  </a:lnTo>
                  <a:cubicBezTo>
                    <a:pt x="3207964" y="436853"/>
                    <a:pt x="3203622" y="441195"/>
                    <a:pt x="3198266" y="441195"/>
                  </a:cubicBezTo>
                  <a:lnTo>
                    <a:pt x="9699" y="441195"/>
                  </a:lnTo>
                  <a:cubicBezTo>
                    <a:pt x="4342" y="441195"/>
                    <a:pt x="0" y="436853"/>
                    <a:pt x="0" y="431497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4983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2957788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5736213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764837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2119754" y="7305961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799"/>
                </a:lnTo>
                <a:lnTo>
                  <a:pt x="0" y="1058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35090" y="5420579"/>
            <a:ext cx="1097094" cy="1048299"/>
          </a:xfrm>
          <a:custGeom>
            <a:avLst/>
            <a:gdLst/>
            <a:ahLst/>
            <a:cxnLst/>
            <a:rect r="r" b="b" t="t" l="l"/>
            <a:pathLst>
              <a:path h="1048299" w="1097094">
                <a:moveTo>
                  <a:pt x="0" y="0"/>
                </a:moveTo>
                <a:lnTo>
                  <a:pt x="1097093" y="0"/>
                </a:lnTo>
                <a:lnTo>
                  <a:pt x="1097093" y="1048299"/>
                </a:lnTo>
                <a:lnTo>
                  <a:pt x="0" y="10482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949245" y="2323301"/>
            <a:ext cx="1254318" cy="1386351"/>
          </a:xfrm>
          <a:custGeom>
            <a:avLst/>
            <a:gdLst/>
            <a:ahLst/>
            <a:cxnLst/>
            <a:rect r="r" b="b" t="t" l="l"/>
            <a:pathLst>
              <a:path h="1386351" w="1254318">
                <a:moveTo>
                  <a:pt x="0" y="0"/>
                </a:moveTo>
                <a:lnTo>
                  <a:pt x="1254318" y="0"/>
                </a:lnTo>
                <a:lnTo>
                  <a:pt x="1254318" y="1386352"/>
                </a:lnTo>
                <a:lnTo>
                  <a:pt x="0" y="13863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606828" y="2334932"/>
            <a:ext cx="6126944" cy="2375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쇼핑 카테고리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대분류, 준분류, 소분류 별 상품조회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 카테고리별 상품 목록 및 상세페이지로 이동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오늘의집 ONLY 상품 조회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회원 탈퇴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탈퇴회원 status 관리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2831212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920764" y="5202238"/>
            <a:ext cx="6443763" cy="1574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실제 오늘의 집과 유사한 카테고리 탐색 및 회원 관리 기능 구현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계층형 카테고리를 통한 상품 탐색 편의성 향상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대분류별 오늘의집 ONLY 상품 제공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회원탈퇴시 데이터 보존하며 상태값으로 관리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5609638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목표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918867" y="7205556"/>
            <a:ext cx="7818264" cy="1842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02771" indent="-251385" lvl="1">
              <a:lnSpc>
                <a:spcPts val="3725"/>
              </a:lnSpc>
              <a:buFont typeface="Arial"/>
              <a:buChar char="•"/>
            </a:pPr>
            <a:r>
              <a:rPr lang="en-US" sz="23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카테고리 계층 구조 및 카테고리별 상품 조회</a:t>
            </a:r>
          </a:p>
          <a:p>
            <a:pPr algn="l" marL="502771" indent="-251385" lvl="1">
              <a:lnSpc>
                <a:spcPts val="3725"/>
              </a:lnSpc>
              <a:buFont typeface="Arial"/>
              <a:buChar char="•"/>
            </a:pPr>
            <a:r>
              <a:rPr lang="en-US" sz="23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오늘의집 ONLY 전용 상품 목록 구현</a:t>
            </a:r>
          </a:p>
          <a:p>
            <a:pPr algn="l" marL="502771" indent="-251385" lvl="1">
              <a:lnSpc>
                <a:spcPts val="3725"/>
              </a:lnSpc>
              <a:buFont typeface="Arial"/>
              <a:buChar char="•"/>
            </a:pPr>
            <a:r>
              <a:rPr lang="en-US" sz="23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회원탈퇴 기능 및 탈퇴회원 status = 0 처리</a:t>
            </a:r>
          </a:p>
          <a:p>
            <a:pPr algn="l" marL="502771" indent="-251385" lvl="1">
              <a:lnSpc>
                <a:spcPts val="3725"/>
              </a:lnSpc>
              <a:buFont typeface="Arial"/>
              <a:buChar char="•"/>
            </a:pPr>
            <a:r>
              <a:rPr lang="en-US" sz="2328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MVC 구조 기반 handler → Service → DAO → JSP 연동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7521801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2245" y="112531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 담당 영역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95388" y="1917813"/>
            <a:ext cx="16589923" cy="8595654"/>
          </a:xfrm>
          <a:custGeom>
            <a:avLst/>
            <a:gdLst/>
            <a:ahLst/>
            <a:cxnLst/>
            <a:rect r="r" b="b" t="t" l="l"/>
            <a:pathLst>
              <a:path h="8595654" w="16589923">
                <a:moveTo>
                  <a:pt x="0" y="0"/>
                </a:moveTo>
                <a:lnTo>
                  <a:pt x="16589923" y="0"/>
                </a:lnTo>
                <a:lnTo>
                  <a:pt x="16589923" y="8595654"/>
                </a:lnTo>
                <a:lnTo>
                  <a:pt x="0" y="85956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5926678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카테고리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844605"/>
            <a:ext cx="16712655" cy="8638354"/>
          </a:xfrm>
          <a:custGeom>
            <a:avLst/>
            <a:gdLst/>
            <a:ahLst/>
            <a:cxnLst/>
            <a:rect r="r" b="b" t="t" l="l"/>
            <a:pathLst>
              <a:path h="8638354" w="16712655">
                <a:moveTo>
                  <a:pt x="0" y="0"/>
                </a:moveTo>
                <a:lnTo>
                  <a:pt x="16712655" y="0"/>
                </a:lnTo>
                <a:lnTo>
                  <a:pt x="16712655" y="8638353"/>
                </a:lnTo>
                <a:lnTo>
                  <a:pt x="0" y="86383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5926678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카테고리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72216"/>
            <a:ext cx="16837288" cy="8660680"/>
          </a:xfrm>
          <a:custGeom>
            <a:avLst/>
            <a:gdLst/>
            <a:ahLst/>
            <a:cxnLst/>
            <a:rect r="r" b="b" t="t" l="l"/>
            <a:pathLst>
              <a:path h="8660680" w="16837288">
                <a:moveTo>
                  <a:pt x="0" y="0"/>
                </a:moveTo>
                <a:lnTo>
                  <a:pt x="16837288" y="0"/>
                </a:lnTo>
                <a:lnTo>
                  <a:pt x="16837288" y="8660680"/>
                </a:lnTo>
                <a:lnTo>
                  <a:pt x="0" y="86606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5926678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상품정렬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24258" y="2144069"/>
            <a:ext cx="15876376" cy="8126720"/>
          </a:xfrm>
          <a:custGeom>
            <a:avLst/>
            <a:gdLst/>
            <a:ahLst/>
            <a:cxnLst/>
            <a:rect r="r" b="b" t="t" l="l"/>
            <a:pathLst>
              <a:path h="8126720" w="15876376">
                <a:moveTo>
                  <a:pt x="0" y="0"/>
                </a:moveTo>
                <a:lnTo>
                  <a:pt x="15876376" y="0"/>
                </a:lnTo>
                <a:lnTo>
                  <a:pt x="15876376" y="8126720"/>
                </a:lnTo>
                <a:lnTo>
                  <a:pt x="0" y="81267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13481006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대분류 → 오늘의 집 Only 진입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78079"/>
            <a:ext cx="16763482" cy="8664625"/>
          </a:xfrm>
          <a:custGeom>
            <a:avLst/>
            <a:gdLst/>
            <a:ahLst/>
            <a:cxnLst/>
            <a:rect r="r" b="b" t="t" l="l"/>
            <a:pathLst>
              <a:path h="8664625" w="16763482">
                <a:moveTo>
                  <a:pt x="0" y="0"/>
                </a:moveTo>
                <a:lnTo>
                  <a:pt x="16763482" y="0"/>
                </a:lnTo>
                <a:lnTo>
                  <a:pt x="16763482" y="8664625"/>
                </a:lnTo>
                <a:lnTo>
                  <a:pt x="0" y="8664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9992684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오늘의집 Only 상품 목록 출력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82168"/>
            <a:ext cx="16401152" cy="8467095"/>
          </a:xfrm>
          <a:custGeom>
            <a:avLst/>
            <a:gdLst/>
            <a:ahLst/>
            <a:cxnLst/>
            <a:rect r="r" b="b" t="t" l="l"/>
            <a:pathLst>
              <a:path h="8467095" w="16401152">
                <a:moveTo>
                  <a:pt x="0" y="0"/>
                </a:moveTo>
                <a:lnTo>
                  <a:pt x="16401152" y="0"/>
                </a:lnTo>
                <a:lnTo>
                  <a:pt x="16401152" y="8467095"/>
                </a:lnTo>
                <a:lnTo>
                  <a:pt x="0" y="84670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6637674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회원탈퇴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822516"/>
            <a:ext cx="16601532" cy="8580917"/>
          </a:xfrm>
          <a:custGeom>
            <a:avLst/>
            <a:gdLst/>
            <a:ahLst/>
            <a:cxnLst/>
            <a:rect r="r" b="b" t="t" l="l"/>
            <a:pathLst>
              <a:path h="8580917" w="16601532">
                <a:moveTo>
                  <a:pt x="0" y="0"/>
                </a:moveTo>
                <a:lnTo>
                  <a:pt x="16601532" y="0"/>
                </a:lnTo>
                <a:lnTo>
                  <a:pt x="16601532" y="8580917"/>
                </a:lnTo>
                <a:lnTo>
                  <a:pt x="0" y="858091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7726385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회원탈퇴 유효성 검증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786257"/>
            <a:ext cx="16932519" cy="8730830"/>
          </a:xfrm>
          <a:custGeom>
            <a:avLst/>
            <a:gdLst/>
            <a:ahLst/>
            <a:cxnLst/>
            <a:rect r="r" b="b" t="t" l="l"/>
            <a:pathLst>
              <a:path h="8730830" w="16932519">
                <a:moveTo>
                  <a:pt x="0" y="0"/>
                </a:moveTo>
                <a:lnTo>
                  <a:pt x="16932519" y="0"/>
                </a:lnTo>
                <a:lnTo>
                  <a:pt x="16932519" y="8730830"/>
                </a:lnTo>
                <a:lnTo>
                  <a:pt x="0" y="87308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1232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841232"/>
            <a:ext cx="7726385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 - 회원탈퇴 최종 확인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057688" y="1600200"/>
            <a:ext cx="9781863" cy="6972793"/>
          </a:xfrm>
          <a:custGeom>
            <a:avLst/>
            <a:gdLst/>
            <a:ahLst/>
            <a:cxnLst/>
            <a:rect r="r" b="b" t="t" l="l"/>
            <a:pathLst>
              <a:path h="6972793" w="9781863">
                <a:moveTo>
                  <a:pt x="0" y="0"/>
                </a:moveTo>
                <a:lnTo>
                  <a:pt x="9781863" y="0"/>
                </a:lnTo>
                <a:lnTo>
                  <a:pt x="9781863" y="6972793"/>
                </a:lnTo>
                <a:lnTo>
                  <a:pt x="0" y="69727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294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03241" y="1447800"/>
            <a:ext cx="6040949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코딩 설명</a:t>
            </a:r>
          </a:p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WithdrawProHandler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1245" y="4128378"/>
            <a:ext cx="7736443" cy="25616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로그인 세션을 확인한 후 인증된 회원의 ID를 가져와 탈퇴service를 호출하고, 탈퇴완료 후 세션을 무효화하여 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로그아웃 처리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057688" y="1600200"/>
            <a:ext cx="9692489" cy="6519873"/>
          </a:xfrm>
          <a:custGeom>
            <a:avLst/>
            <a:gdLst/>
            <a:ahLst/>
            <a:cxnLst/>
            <a:rect r="r" b="b" t="t" l="l"/>
            <a:pathLst>
              <a:path h="6519873" w="9692489">
                <a:moveTo>
                  <a:pt x="0" y="0"/>
                </a:moveTo>
                <a:lnTo>
                  <a:pt x="9692489" y="0"/>
                </a:lnTo>
                <a:lnTo>
                  <a:pt x="9692489" y="6519873"/>
                </a:lnTo>
                <a:lnTo>
                  <a:pt x="0" y="65198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6187" y="1447800"/>
            <a:ext cx="4319996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코딩 설명</a:t>
            </a:r>
          </a:p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WithdrawService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21245" y="4128378"/>
            <a:ext cx="7736443" cy="1917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회</a:t>
            </a: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원 상태 변경을 하나의 트랜잭션으로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처리하여 정상 처리시 COMMIT,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오류 발생시 ROLLBACK하도록 구성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52741" y="1075715"/>
            <a:ext cx="12817887" cy="4996280"/>
          </a:xfrm>
          <a:custGeom>
            <a:avLst/>
            <a:gdLst/>
            <a:ahLst/>
            <a:cxnLst/>
            <a:rect r="r" b="b" t="t" l="l"/>
            <a:pathLst>
              <a:path h="4996280" w="12817887">
                <a:moveTo>
                  <a:pt x="0" y="0"/>
                </a:moveTo>
                <a:lnTo>
                  <a:pt x="12817886" y="0"/>
                </a:lnTo>
                <a:lnTo>
                  <a:pt x="12817886" y="4996280"/>
                </a:lnTo>
                <a:lnTo>
                  <a:pt x="0" y="4996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14" t="0" r="-46775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6187" y="1447800"/>
            <a:ext cx="4319996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코딩 설명</a:t>
            </a:r>
          </a:p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MemberDAOImple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5592" y="7662070"/>
            <a:ext cx="7736443" cy="1917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회원 데이터를 실제로 삭제하지 않고 status = 0 으로 변경하여 탈퇴 상태를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관리하고 기존데이터를 보존.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23090" y="1231338"/>
            <a:ext cx="12010674" cy="4483662"/>
          </a:xfrm>
          <a:custGeom>
            <a:avLst/>
            <a:gdLst/>
            <a:ahLst/>
            <a:cxnLst/>
            <a:rect r="r" b="b" t="t" l="l"/>
            <a:pathLst>
              <a:path h="4483662" w="12010674">
                <a:moveTo>
                  <a:pt x="0" y="0"/>
                </a:moveTo>
                <a:lnTo>
                  <a:pt x="12010675" y="0"/>
                </a:lnTo>
                <a:lnTo>
                  <a:pt x="12010675" y="4483662"/>
                </a:lnTo>
                <a:lnTo>
                  <a:pt x="0" y="44836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3684" r="-39349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6187" y="1447800"/>
            <a:ext cx="4319996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코딩 설명</a:t>
            </a:r>
          </a:p>
          <a:p>
            <a:pPr algn="l" marL="0" indent="0" lvl="0">
              <a:lnSpc>
                <a:spcPts val="6395"/>
              </a:lnSpc>
            </a:pPr>
            <a:r>
              <a:rPr lang="en-US" sz="3997" spc="-87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CategoryHandler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5592" y="7662070"/>
            <a:ext cx="9296775" cy="1917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URL의 view 파라미터가 Only인지 판단하고,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Only 요청인 경우에만 OnlyService를</a:t>
            </a:r>
          </a:p>
          <a:p>
            <a:pPr algn="ctr">
              <a:lnSpc>
                <a:spcPts val="5112"/>
              </a:lnSpc>
            </a:pPr>
            <a:r>
              <a:rPr lang="en-US" sz="3651">
                <a:solidFill>
                  <a:srgbClr val="2282F3"/>
                </a:solidFill>
                <a:latin typeface="Noto Sans Kr"/>
                <a:ea typeface="Noto Sans Kr"/>
                <a:cs typeface="Noto Sans Kr"/>
                <a:sym typeface="Noto Sans Kr"/>
              </a:rPr>
              <a:t>호출하여 대분류 기준의 Only 상품을 조회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778618" y="700871"/>
            <a:ext cx="8541969" cy="9571302"/>
          </a:xfrm>
          <a:custGeom>
            <a:avLst/>
            <a:gdLst/>
            <a:ahLst/>
            <a:cxnLst/>
            <a:rect r="r" b="b" t="t" l="l"/>
            <a:pathLst>
              <a:path h="9571302" w="8541969">
                <a:moveTo>
                  <a:pt x="0" y="0"/>
                </a:moveTo>
                <a:lnTo>
                  <a:pt x="8541969" y="0"/>
                </a:lnTo>
                <a:lnTo>
                  <a:pt x="8541969" y="9571302"/>
                </a:lnTo>
                <a:lnTo>
                  <a:pt x="0" y="95713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418" t="-13421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26187" y="1447800"/>
            <a:ext cx="4319996" cy="23782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주요 코딩 설명</a:t>
            </a:r>
          </a:p>
          <a:p>
            <a:pPr algn="l">
              <a:lnSpc>
                <a:spcPts val="6395"/>
              </a:lnSpc>
            </a:pPr>
            <a:r>
              <a:rPr lang="en-US" sz="3997" spc="-87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Category.jsp 의 </a:t>
            </a:r>
          </a:p>
          <a:p>
            <a:pPr algn="l" marL="0" indent="0" lvl="0">
              <a:lnSpc>
                <a:spcPts val="6395"/>
              </a:lnSpc>
            </a:pPr>
            <a:r>
              <a:rPr lang="en-US" sz="3997" spc="-87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실제 Only 분기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320703" y="6612378"/>
            <a:ext cx="4355567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카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테고리 및 Only 상품 요청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URL 파라미터를 확인하고 Handler에서 요청 처리</a:t>
            </a:r>
          </a:p>
        </p:txBody>
      </p:sp>
      <p:sp>
        <p:nvSpPr>
          <p:cNvPr name="TextBox 22" id="22"/>
          <p:cNvSpPr txBox="true"/>
          <p:nvPr/>
        </p:nvSpPr>
        <p:spPr>
          <a:xfrm rot="7120">
            <a:off x="6726984" y="6612161"/>
            <a:ext cx="4565493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카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테고리 계층 및 상품 정보를 조회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DB 데이터를 조회하여 DTO로 전달</a:t>
            </a:r>
          </a:p>
        </p:txBody>
      </p:sp>
      <p:sp>
        <p:nvSpPr>
          <p:cNvPr name="TextBox 23" id="23"/>
          <p:cNvSpPr txBox="true"/>
          <p:nvPr/>
        </p:nvSpPr>
        <p:spPr>
          <a:xfrm rot="7120">
            <a:off x="12129991" y="6626040"/>
            <a:ext cx="4481511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조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회 결과를 Request에 담아 JSP로 전달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JSTL/EL 이용해 카테고리와 상품 화면 출력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 [카테고리 / Only]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3287681" y="8726950"/>
            <a:ext cx="13759679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카테고리 페이지 요청 → Category Handler → CategoryService → DAO → Oracle DB → DTO → JSP 출력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448945" y="860947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7120">
            <a:off x="1130340" y="9167772"/>
            <a:ext cx="13759679" cy="77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카테고리 대분류의 오늘의집ONLY 페이지 요청 → Category Handler → OnlyService → OnlyDAO → </a:t>
            </a:r>
          </a:p>
          <a:p>
            <a:pPr algn="l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                                                                                                                                 (단독상품)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320703" y="6612378"/>
            <a:ext cx="4355567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탈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퇴 페이지 요청 → WithdrawFormHandler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로그인 여부 확인 후 탈퇴 화면 제공</a:t>
            </a:r>
          </a:p>
        </p:txBody>
      </p:sp>
      <p:sp>
        <p:nvSpPr>
          <p:cNvPr name="TextBox 22" id="22"/>
          <p:cNvSpPr txBox="true"/>
          <p:nvPr/>
        </p:nvSpPr>
        <p:spPr>
          <a:xfrm rot="7120">
            <a:off x="6726293" y="6612160"/>
            <a:ext cx="4565493" cy="130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WithdrawService에서 탈퇴 처리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트랜잭션을 시작하고 회원 상태 변경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status = 0 으로 변경</a:t>
            </a:r>
          </a:p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      ( 1 : 정상 / 0 : 탈퇴 / -1 : 정지)</a:t>
            </a:r>
          </a:p>
        </p:txBody>
      </p:sp>
      <p:sp>
        <p:nvSpPr>
          <p:cNvPr name="TextBox 23" id="23"/>
          <p:cNvSpPr txBox="true"/>
          <p:nvPr/>
        </p:nvSpPr>
        <p:spPr>
          <a:xfrm rot="7120">
            <a:off x="12129991" y="6626040"/>
            <a:ext cx="4481511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탈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퇴 처리 완료 후 세션 무효화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메인 화면으로 Redirect하여 로그아웃 상태로 전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 [회원탈퇴]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4063317" y="8820124"/>
            <a:ext cx="10163208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탈퇴 페이지 요청 → WithdrawFormHandler → withdraw.jsp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448945" y="860947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7120">
            <a:off x="1282603" y="7427379"/>
            <a:ext cx="4355567" cy="6389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탈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퇴 요청 → WithdrawProHandler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세션의 회원 ID를 확인하여 탈퇴 처리 요청</a:t>
            </a:r>
          </a:p>
        </p:txBody>
      </p:sp>
      <p:sp>
        <p:nvSpPr>
          <p:cNvPr name="TextBox 31" id="31"/>
          <p:cNvSpPr txBox="true"/>
          <p:nvPr/>
        </p:nvSpPr>
        <p:spPr>
          <a:xfrm rot="7120">
            <a:off x="993906" y="9258930"/>
            <a:ext cx="16260418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탈퇴 요청 → WithdrawProHandler → withdrawService → MemberDAO → MEMBER.STATUS = 0 → Session invaldate → 메인 화면 Redirect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4518680"/>
            <a:ext cx="15590707" cy="1689453"/>
            <a:chOff x="0" y="0"/>
            <a:chExt cx="3207964" cy="3476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47624"/>
            </a:xfrm>
            <a:custGeom>
              <a:avLst/>
              <a:gdLst/>
              <a:ahLst/>
              <a:cxnLst/>
              <a:rect r="r" b="b" t="t" l="l"/>
              <a:pathLst>
                <a:path h="34762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37925"/>
                  </a:lnTo>
                  <a:cubicBezTo>
                    <a:pt x="3207964" y="340498"/>
                    <a:pt x="3206943" y="342965"/>
                    <a:pt x="3205124" y="344783"/>
                  </a:cubicBezTo>
                  <a:cubicBezTo>
                    <a:pt x="3203305" y="346602"/>
                    <a:pt x="3200838" y="347624"/>
                    <a:pt x="3198266" y="347624"/>
                  </a:cubicBezTo>
                  <a:lnTo>
                    <a:pt x="9699" y="347624"/>
                  </a:lnTo>
                  <a:cubicBezTo>
                    <a:pt x="4342" y="347624"/>
                    <a:pt x="0" y="343282"/>
                    <a:pt x="0" y="337925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047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8503658"/>
            <a:ext cx="15590707" cy="1819976"/>
            <a:chOff x="0" y="0"/>
            <a:chExt cx="3207964" cy="37448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374481"/>
            </a:xfrm>
            <a:custGeom>
              <a:avLst/>
              <a:gdLst/>
              <a:ahLst/>
              <a:cxnLst/>
              <a:rect r="r" b="b" t="t" l="l"/>
              <a:pathLst>
                <a:path h="374481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64782"/>
                  </a:lnTo>
                  <a:cubicBezTo>
                    <a:pt x="3207964" y="370138"/>
                    <a:pt x="3203622" y="374481"/>
                    <a:pt x="3198266" y="374481"/>
                  </a:cubicBezTo>
                  <a:lnTo>
                    <a:pt x="9699" y="374481"/>
                  </a:lnTo>
                  <a:cubicBezTo>
                    <a:pt x="7126" y="374481"/>
                    <a:pt x="4660" y="373459"/>
                    <a:pt x="2841" y="371640"/>
                  </a:cubicBezTo>
                  <a:cubicBezTo>
                    <a:pt x="1022" y="369821"/>
                    <a:pt x="0" y="367354"/>
                    <a:pt x="0" y="364782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4316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7108" y="5255730"/>
            <a:ext cx="383167" cy="38316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9222063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837351" y="4635885"/>
            <a:ext cx="1475852" cy="1320887"/>
          </a:xfrm>
          <a:custGeom>
            <a:avLst/>
            <a:gdLst/>
            <a:ahLst/>
            <a:cxnLst/>
            <a:rect r="r" b="b" t="t" l="l"/>
            <a:pathLst>
              <a:path h="1320887" w="1475852">
                <a:moveTo>
                  <a:pt x="0" y="0"/>
                </a:moveTo>
                <a:lnTo>
                  <a:pt x="1475851" y="0"/>
                </a:lnTo>
                <a:lnTo>
                  <a:pt x="1475851" y="1320887"/>
                </a:lnTo>
                <a:lnTo>
                  <a:pt x="0" y="13208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7120">
            <a:off x="7919769" y="5029574"/>
            <a:ext cx="7189845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카테고리별 상품 및 계층 구조를 화면에 동적으로 표현할 필요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대분류에 따른 카테고리 경로와 Only 상품 구분 필요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706755" y="5129155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상황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52245" y="2363564"/>
            <a:ext cx="3838129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카테고리 / Only</a:t>
            </a:r>
          </a:p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및 해결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48646" y="6697163"/>
            <a:ext cx="15590707" cy="1521639"/>
            <a:chOff x="0" y="0"/>
            <a:chExt cx="3207964" cy="31309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543509" y="7266399"/>
            <a:ext cx="383167" cy="383167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795203" y="6753067"/>
            <a:ext cx="1535806" cy="1381773"/>
          </a:xfrm>
          <a:custGeom>
            <a:avLst/>
            <a:gdLst/>
            <a:ahLst/>
            <a:cxnLst/>
            <a:rect r="r" b="b" t="t" l="l"/>
            <a:pathLst>
              <a:path h="1381773" w="1535806">
                <a:moveTo>
                  <a:pt x="0" y="0"/>
                </a:moveTo>
                <a:lnTo>
                  <a:pt x="1535806" y="0"/>
                </a:lnTo>
                <a:lnTo>
                  <a:pt x="1535806" y="1381773"/>
                </a:lnTo>
                <a:lnTo>
                  <a:pt x="0" y="13817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7120">
            <a:off x="7915922" y="6805780"/>
            <a:ext cx="6126779" cy="117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DB의 카테고리 계층 데이터를 활용한 동적 메뉴 구현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대분류 ID를 기준으로 카테고리 및 Only 상품 조회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JSTL/EL을 활용해 조회 결과를 화면에 동적 출력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3156" y="7139823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해결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4444096"/>
            <a:ext cx="15590707" cy="1764037"/>
            <a:chOff x="0" y="0"/>
            <a:chExt cx="3207964" cy="3629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62971"/>
            </a:xfrm>
            <a:custGeom>
              <a:avLst/>
              <a:gdLst/>
              <a:ahLst/>
              <a:cxnLst/>
              <a:rect r="r" b="b" t="t" l="l"/>
              <a:pathLst>
                <a:path h="362971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53272"/>
                  </a:lnTo>
                  <a:cubicBezTo>
                    <a:pt x="3207964" y="358628"/>
                    <a:pt x="3203622" y="362971"/>
                    <a:pt x="3198266" y="362971"/>
                  </a:cubicBezTo>
                  <a:lnTo>
                    <a:pt x="9699" y="362971"/>
                  </a:lnTo>
                  <a:cubicBezTo>
                    <a:pt x="7126" y="362971"/>
                    <a:pt x="4660" y="361949"/>
                    <a:pt x="2841" y="360130"/>
                  </a:cubicBezTo>
                  <a:cubicBezTo>
                    <a:pt x="1022" y="358311"/>
                    <a:pt x="0" y="355844"/>
                    <a:pt x="0" y="353272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2012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6527386"/>
            <a:ext cx="15590707" cy="1987790"/>
            <a:chOff x="0" y="0"/>
            <a:chExt cx="3207964" cy="40901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409010"/>
            </a:xfrm>
            <a:custGeom>
              <a:avLst/>
              <a:gdLst/>
              <a:ahLst/>
              <a:cxnLst/>
              <a:rect r="r" b="b" t="t" l="l"/>
              <a:pathLst>
                <a:path h="409010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99312"/>
                  </a:lnTo>
                  <a:cubicBezTo>
                    <a:pt x="3207964" y="404668"/>
                    <a:pt x="3203622" y="409010"/>
                    <a:pt x="3198266" y="409010"/>
                  </a:cubicBezTo>
                  <a:lnTo>
                    <a:pt x="9699" y="409010"/>
                  </a:lnTo>
                  <a:cubicBezTo>
                    <a:pt x="7126" y="409010"/>
                    <a:pt x="4660" y="407989"/>
                    <a:pt x="2841" y="406170"/>
                  </a:cubicBezTo>
                  <a:cubicBezTo>
                    <a:pt x="1022" y="404351"/>
                    <a:pt x="0" y="401884"/>
                    <a:pt x="0" y="399312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4661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547108" y="5255730"/>
            <a:ext cx="383167" cy="38316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7264436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798801" y="6751105"/>
            <a:ext cx="1535806" cy="1381773"/>
          </a:xfrm>
          <a:custGeom>
            <a:avLst/>
            <a:gdLst/>
            <a:ahLst/>
            <a:cxnLst/>
            <a:rect r="r" b="b" t="t" l="l"/>
            <a:pathLst>
              <a:path h="1381773" w="1535806">
                <a:moveTo>
                  <a:pt x="0" y="0"/>
                </a:moveTo>
                <a:lnTo>
                  <a:pt x="1535807" y="0"/>
                </a:lnTo>
                <a:lnTo>
                  <a:pt x="1535807" y="1381772"/>
                </a:lnTo>
                <a:lnTo>
                  <a:pt x="0" y="13817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837351" y="4635885"/>
            <a:ext cx="1475852" cy="1320887"/>
          </a:xfrm>
          <a:custGeom>
            <a:avLst/>
            <a:gdLst/>
            <a:ahLst/>
            <a:cxnLst/>
            <a:rect r="r" b="b" t="t" l="l"/>
            <a:pathLst>
              <a:path h="1320887" w="1475852">
                <a:moveTo>
                  <a:pt x="0" y="0"/>
                </a:moveTo>
                <a:lnTo>
                  <a:pt x="1475851" y="0"/>
                </a:lnTo>
                <a:lnTo>
                  <a:pt x="1475851" y="1320887"/>
                </a:lnTo>
                <a:lnTo>
                  <a:pt x="0" y="13208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352245" y="8705676"/>
            <a:ext cx="15590707" cy="1819976"/>
            <a:chOff x="0" y="0"/>
            <a:chExt cx="3207964" cy="37448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207964" cy="374481"/>
            </a:xfrm>
            <a:custGeom>
              <a:avLst/>
              <a:gdLst/>
              <a:ahLst/>
              <a:cxnLst/>
              <a:rect r="r" b="b" t="t" l="l"/>
              <a:pathLst>
                <a:path h="374481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64782"/>
                  </a:lnTo>
                  <a:cubicBezTo>
                    <a:pt x="3207964" y="370138"/>
                    <a:pt x="3203622" y="374481"/>
                    <a:pt x="3198266" y="374481"/>
                  </a:cubicBezTo>
                  <a:lnTo>
                    <a:pt x="9699" y="374481"/>
                  </a:lnTo>
                  <a:cubicBezTo>
                    <a:pt x="7126" y="374481"/>
                    <a:pt x="4660" y="373459"/>
                    <a:pt x="2841" y="371640"/>
                  </a:cubicBezTo>
                  <a:cubicBezTo>
                    <a:pt x="1022" y="369821"/>
                    <a:pt x="0" y="367354"/>
                    <a:pt x="0" y="364782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3207964" cy="4316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547108" y="9381951"/>
            <a:ext cx="383167" cy="383167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4382956" y="1235355"/>
            <a:ext cx="13064686" cy="2341966"/>
          </a:xfrm>
          <a:custGeom>
            <a:avLst/>
            <a:gdLst/>
            <a:ahLst/>
            <a:cxnLst/>
            <a:rect r="r" b="b" t="t" l="l"/>
            <a:pathLst>
              <a:path h="2341966" w="13064686">
                <a:moveTo>
                  <a:pt x="0" y="0"/>
                </a:moveTo>
                <a:lnTo>
                  <a:pt x="13064686" y="0"/>
                </a:lnTo>
                <a:lnTo>
                  <a:pt x="13064686" y="2341966"/>
                </a:lnTo>
                <a:lnTo>
                  <a:pt x="0" y="2341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919769" y="5029574"/>
            <a:ext cx="7189845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기</a:t>
            </a: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존 회원 탈퇴 시 회원 정보가 DB에서 완전히 삭제됨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탈퇴 회원의 이력 및 상태 관리가 어려움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5129155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상황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919107" y="6806920"/>
            <a:ext cx="6126779" cy="1574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MEMBER 테이블에 STATUS 칼럼 추가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정상(1) / 탈퇴(0) / 정지(-1) 상태로 회원 관리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탈퇴 시 DELETE 대신 STATUS = 0 으로 상태 변경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처리 후 세션 무효화 및 메인 화면으로 Redirect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7137860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해결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52245" y="2363564"/>
            <a:ext cx="3838129" cy="15685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95"/>
              </a:lnSpc>
            </a:pPr>
            <a:r>
              <a:rPr lang="en-US" sz="3997" spc="-87" b="true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회원 탈퇴</a:t>
            </a:r>
          </a:p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및 해결</a:t>
            </a:r>
          </a:p>
        </p:txBody>
      </p:sp>
      <p:sp>
        <p:nvSpPr>
          <p:cNvPr name="TextBox 28" id="28"/>
          <p:cNvSpPr txBox="true"/>
          <p:nvPr/>
        </p:nvSpPr>
        <p:spPr>
          <a:xfrm rot="7120">
            <a:off x="1800014" y="8828193"/>
            <a:ext cx="3833359" cy="117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기존 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DELETE FROM MEMBER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WHERE MEMBER_ID = ?</a:t>
            </a:r>
          </a:p>
        </p:txBody>
      </p:sp>
      <p:sp>
        <p:nvSpPr>
          <p:cNvPr name="TextBox 29" id="29"/>
          <p:cNvSpPr txBox="true"/>
          <p:nvPr/>
        </p:nvSpPr>
        <p:spPr>
          <a:xfrm rot="7120">
            <a:off x="8143922" y="8790093"/>
            <a:ext cx="3833359" cy="1574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현재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UPADATE MEMBER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SET STATUS = 0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WHERE MEMBER_ID = ?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892" y="4022006"/>
            <a:ext cx="7354788" cy="1916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 상세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892" y="3146667"/>
            <a:ext cx="8733639" cy="14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TEAM MEMBER</a:t>
            </a:r>
          </a:p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장미성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305322" y="3942282"/>
            <a:ext cx="9108032" cy="8424930"/>
          </a:xfrm>
          <a:custGeom>
            <a:avLst/>
            <a:gdLst/>
            <a:ahLst/>
            <a:cxnLst/>
            <a:rect r="r" b="b" t="t" l="l"/>
            <a:pathLst>
              <a:path h="8424930" w="9108032">
                <a:moveTo>
                  <a:pt x="0" y="0"/>
                </a:moveTo>
                <a:lnTo>
                  <a:pt x="9108032" y="0"/>
                </a:lnTo>
                <a:lnTo>
                  <a:pt x="9108032" y="8424930"/>
                </a:lnTo>
                <a:lnTo>
                  <a:pt x="0" y="842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7808934"/>
            <a:ext cx="15590707" cy="2020866"/>
            <a:chOff x="0" y="0"/>
            <a:chExt cx="3207964" cy="4158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415816"/>
            </a:xfrm>
            <a:custGeom>
              <a:avLst/>
              <a:gdLst/>
              <a:ahLst/>
              <a:cxnLst/>
              <a:rect r="r" b="b" t="t" l="l"/>
              <a:pathLst>
                <a:path h="415816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06117"/>
                  </a:lnTo>
                  <a:cubicBezTo>
                    <a:pt x="3207964" y="408690"/>
                    <a:pt x="3206943" y="411157"/>
                    <a:pt x="3205124" y="412975"/>
                  </a:cubicBezTo>
                  <a:cubicBezTo>
                    <a:pt x="3203305" y="414794"/>
                    <a:pt x="3200838" y="415816"/>
                    <a:pt x="3198266" y="415816"/>
                  </a:cubicBezTo>
                  <a:lnTo>
                    <a:pt x="9699" y="415816"/>
                  </a:lnTo>
                  <a:cubicBezTo>
                    <a:pt x="4342" y="415816"/>
                    <a:pt x="0" y="411474"/>
                    <a:pt x="0" y="406117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729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46516" y="8681214"/>
            <a:ext cx="383167" cy="383167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2119754" y="8289967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799"/>
                </a:lnTo>
                <a:lnTo>
                  <a:pt x="0" y="1058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352245" y="2901377"/>
            <a:ext cx="15590707" cy="4332537"/>
            <a:chOff x="0" y="0"/>
            <a:chExt cx="20787610" cy="5776717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0787610" cy="5776717"/>
              <a:chOff x="0" y="0"/>
              <a:chExt cx="3207964" cy="891469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207964" cy="891469"/>
              </a:xfrm>
              <a:custGeom>
                <a:avLst/>
                <a:gdLst/>
                <a:ahLst/>
                <a:cxnLst/>
                <a:rect r="r" b="b" t="t" l="l"/>
                <a:pathLst>
                  <a:path h="891469" w="3207964">
                    <a:moveTo>
                      <a:pt x="9699" y="0"/>
                    </a:moveTo>
                    <a:lnTo>
                      <a:pt x="3198266" y="0"/>
                    </a:lnTo>
                    <a:cubicBezTo>
                      <a:pt x="3203622" y="0"/>
                      <a:pt x="3207964" y="4342"/>
                      <a:pt x="3207964" y="9699"/>
                    </a:cubicBezTo>
                    <a:lnTo>
                      <a:pt x="3207964" y="881770"/>
                    </a:lnTo>
                    <a:cubicBezTo>
                      <a:pt x="3207964" y="887126"/>
                      <a:pt x="3203622" y="891469"/>
                      <a:pt x="3198266" y="891469"/>
                    </a:cubicBezTo>
                    <a:lnTo>
                      <a:pt x="9699" y="891469"/>
                    </a:lnTo>
                    <a:cubicBezTo>
                      <a:pt x="4342" y="891469"/>
                      <a:pt x="0" y="887126"/>
                      <a:pt x="0" y="881770"/>
                    </a:cubicBezTo>
                    <a:lnTo>
                      <a:pt x="0" y="9699"/>
                    </a:lnTo>
                    <a:cubicBezTo>
                      <a:pt x="0" y="4342"/>
                      <a:pt x="4342" y="0"/>
                      <a:pt x="9699" y="0"/>
                    </a:cubicBezTo>
                    <a:close/>
                  </a:path>
                </a:pathLst>
              </a:custGeom>
              <a:solidFill>
                <a:srgbClr val="157CEE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57150"/>
                <a:ext cx="3207964" cy="94861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7120">
              <a:off x="8757039" y="642143"/>
              <a:ext cx="10529240" cy="1149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5"/>
                </a:lnSpc>
              </a:pP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일</a:t>
              </a: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반 사용자</a:t>
              </a:r>
            </a:p>
            <a:p>
              <a:pPr algn="l" marL="0" indent="0" lvl="0">
                <a:lnSpc>
                  <a:spcPts val="3195"/>
                </a:lnSpc>
              </a:pPr>
              <a:r>
                <a:rPr lang="en-US" b="true" sz="1997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    - 회원가입, 로그인 / 로그아웃, 비밀번호 변경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7026501" y="2632914"/>
              <a:ext cx="510889" cy="510889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FAFAFA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905661" y="1964124"/>
              <a:ext cx="1672424" cy="1848468"/>
            </a:xfrm>
            <a:custGeom>
              <a:avLst/>
              <a:gdLst/>
              <a:ahLst/>
              <a:cxnLst/>
              <a:rect r="r" b="b" t="t" l="l"/>
              <a:pathLst>
                <a:path h="1848468" w="1672424">
                  <a:moveTo>
                    <a:pt x="0" y="0"/>
                  </a:moveTo>
                  <a:lnTo>
                    <a:pt x="1672424" y="0"/>
                  </a:lnTo>
                  <a:lnTo>
                    <a:pt x="1672424" y="1848469"/>
                  </a:lnTo>
                  <a:lnTo>
                    <a:pt x="0" y="18484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3239365" y="2530767"/>
              <a:ext cx="1803202" cy="6555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313"/>
                </a:lnSpc>
              </a:pPr>
              <a:r>
                <a:rPr lang="en-US" b="true" sz="2696" spc="-8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담당 기능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7120">
              <a:off x="8757039" y="2112169"/>
              <a:ext cx="10750826" cy="1149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5"/>
                </a:lnSpc>
              </a:pP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판</a:t>
              </a: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매자</a:t>
              </a:r>
            </a:p>
            <a:p>
              <a:pPr algn="l" marL="0" indent="0" lvl="0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   </a:t>
              </a:r>
              <a:r>
                <a:rPr lang="en-US" b="true" sz="1997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- 회원가입, 로그인 / 로그아웃, 비밀번호 변경, 가입 신청 대기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7120">
              <a:off x="8757591" y="3587344"/>
              <a:ext cx="10750826" cy="16829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95"/>
                </a:lnSpc>
              </a:pP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쇼</a:t>
              </a:r>
              <a:r>
                <a:rPr lang="en-US" sz="24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핑 페이지</a:t>
              </a:r>
            </a:p>
            <a:p>
              <a:pPr algn="l">
                <a:lnSpc>
                  <a:spcPts val="3195"/>
                </a:lnSpc>
              </a:pPr>
              <a:r>
                <a:rPr lang="en-US" sz="1997" b="true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    - 베스트 상품</a:t>
              </a:r>
            </a:p>
            <a:p>
              <a:pPr algn="l" marL="0" indent="0" lvl="0">
                <a:lnSpc>
                  <a:spcPts val="3195"/>
                </a:lnSpc>
              </a:pPr>
              <a:r>
                <a:rPr lang="en-US" b="true" sz="1997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    - 오늘의 집 단독 상품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7120">
            <a:off x="7787858" y="8378696"/>
            <a:ext cx="8607017" cy="902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75"/>
              </a:lnSpc>
            </a:pPr>
            <a:r>
              <a:rPr lang="en-US" b="true" sz="2297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클라이언트·서버</a:t>
            </a:r>
            <a:r>
              <a:rPr lang="en-US" b="true" sz="2297" strike="noStrike" u="non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이중 검증</a:t>
            </a:r>
          </a:p>
          <a:p>
            <a:pPr algn="l" marL="0" indent="0" lvl="0">
              <a:lnSpc>
                <a:spcPts val="3675"/>
              </a:lnSpc>
            </a:pPr>
            <a:r>
              <a:rPr lang="en-US" b="true" sz="2297" strike="noStrike" u="non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AJAX 비동기 처리를 적용하여 보안성과 사용자 편의성 향상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613705" y="8502087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목표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4686494"/>
            <a:ext cx="15590707" cy="1521639"/>
            <a:chOff x="0" y="0"/>
            <a:chExt cx="3207964" cy="31309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6405228"/>
            <a:ext cx="15590707" cy="1521639"/>
            <a:chOff x="0" y="0"/>
            <a:chExt cx="3207964" cy="31309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8126891"/>
            <a:ext cx="15590707" cy="1521639"/>
            <a:chOff x="0" y="0"/>
            <a:chExt cx="3207964" cy="31309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5255730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6974463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869612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798801" y="8182796"/>
            <a:ext cx="1535806" cy="1381773"/>
          </a:xfrm>
          <a:custGeom>
            <a:avLst/>
            <a:gdLst/>
            <a:ahLst/>
            <a:cxnLst/>
            <a:rect r="r" b="b" t="t" l="l"/>
            <a:pathLst>
              <a:path h="1381773" w="1535806">
                <a:moveTo>
                  <a:pt x="0" y="0"/>
                </a:moveTo>
                <a:lnTo>
                  <a:pt x="1535807" y="0"/>
                </a:lnTo>
                <a:lnTo>
                  <a:pt x="1535807" y="1381772"/>
                </a:lnTo>
                <a:lnTo>
                  <a:pt x="0" y="13817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12543" y="6611411"/>
            <a:ext cx="1224116" cy="1290851"/>
          </a:xfrm>
          <a:custGeom>
            <a:avLst/>
            <a:gdLst/>
            <a:ahLst/>
            <a:cxnLst/>
            <a:rect r="r" b="b" t="t" l="l"/>
            <a:pathLst>
              <a:path h="1290851" w="1224116">
                <a:moveTo>
                  <a:pt x="0" y="0"/>
                </a:moveTo>
                <a:lnTo>
                  <a:pt x="1224116" y="0"/>
                </a:lnTo>
                <a:lnTo>
                  <a:pt x="1224116" y="1290851"/>
                </a:lnTo>
                <a:lnTo>
                  <a:pt x="0" y="1290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837351" y="4635885"/>
            <a:ext cx="1475852" cy="1320887"/>
          </a:xfrm>
          <a:custGeom>
            <a:avLst/>
            <a:gdLst/>
            <a:ahLst/>
            <a:cxnLst/>
            <a:rect r="r" b="b" t="t" l="l"/>
            <a:pathLst>
              <a:path h="1320887" w="1475852">
                <a:moveTo>
                  <a:pt x="0" y="0"/>
                </a:moveTo>
                <a:lnTo>
                  <a:pt x="1475851" y="0"/>
                </a:lnTo>
                <a:lnTo>
                  <a:pt x="1475851" y="1320887"/>
                </a:lnTo>
                <a:lnTo>
                  <a:pt x="0" y="13208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920185" y="5218974"/>
            <a:ext cx="6126944" cy="37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발생한 문제와 오류 현상을 작성하세요.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5129155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상황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919935" y="6703970"/>
            <a:ext cx="6443763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문제의 원인과 확인 과정을 작성하세요.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원인을 파악하기 위해 시도한 방법을 서술하세요.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6847888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 분석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919936" y="8426008"/>
            <a:ext cx="6126779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적용한 해결 방법과 결과를 작성하세요.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해결 후 개선된 사항을 정리하세요.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569551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해결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2245" y="236356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및 해결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892" y="4022006"/>
            <a:ext cx="7354788" cy="4012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</a:t>
            </a:r>
          </a:p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33892" y="3146667"/>
            <a:ext cx="8733639" cy="14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TEAM MEMBER</a:t>
            </a:r>
          </a:p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문규리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305322" y="3942282"/>
            <a:ext cx="9108032" cy="8424930"/>
          </a:xfrm>
          <a:custGeom>
            <a:avLst/>
            <a:gdLst/>
            <a:ahLst/>
            <a:cxnLst/>
            <a:rect r="r" b="b" t="t" l="l"/>
            <a:pathLst>
              <a:path h="8424930" w="9108032">
                <a:moveTo>
                  <a:pt x="0" y="0"/>
                </a:moveTo>
                <a:lnTo>
                  <a:pt x="9108032" y="0"/>
                </a:lnTo>
                <a:lnTo>
                  <a:pt x="9108032" y="8424930"/>
                </a:lnTo>
                <a:lnTo>
                  <a:pt x="0" y="842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1114425"/>
            <a:ext cx="15590707" cy="2069401"/>
            <a:chOff x="0" y="0"/>
            <a:chExt cx="3207964" cy="4258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425803"/>
            </a:xfrm>
            <a:custGeom>
              <a:avLst/>
              <a:gdLst/>
              <a:ahLst/>
              <a:cxnLst/>
              <a:rect r="r" b="b" t="t" l="l"/>
              <a:pathLst>
                <a:path h="425803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16104"/>
                  </a:lnTo>
                  <a:cubicBezTo>
                    <a:pt x="3207964" y="421460"/>
                    <a:pt x="3203622" y="425803"/>
                    <a:pt x="3198266" y="425803"/>
                  </a:cubicBezTo>
                  <a:lnTo>
                    <a:pt x="9699" y="425803"/>
                  </a:lnTo>
                  <a:cubicBezTo>
                    <a:pt x="4342" y="425803"/>
                    <a:pt x="0" y="421460"/>
                    <a:pt x="0" y="416104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829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3478930"/>
            <a:ext cx="15590707" cy="2487993"/>
            <a:chOff x="0" y="0"/>
            <a:chExt cx="3207964" cy="5119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511933"/>
            </a:xfrm>
            <a:custGeom>
              <a:avLst/>
              <a:gdLst/>
              <a:ahLst/>
              <a:cxnLst/>
              <a:rect r="r" b="b" t="t" l="l"/>
              <a:pathLst>
                <a:path h="511933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502234"/>
                  </a:lnTo>
                  <a:cubicBezTo>
                    <a:pt x="3207964" y="507591"/>
                    <a:pt x="3203622" y="511933"/>
                    <a:pt x="3198266" y="511933"/>
                  </a:cubicBezTo>
                  <a:lnTo>
                    <a:pt x="9699" y="511933"/>
                  </a:lnTo>
                  <a:cubicBezTo>
                    <a:pt x="4342" y="511933"/>
                    <a:pt x="0" y="507591"/>
                    <a:pt x="0" y="502234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5690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6262799"/>
            <a:ext cx="15590707" cy="4211764"/>
            <a:chOff x="0" y="0"/>
            <a:chExt cx="3207964" cy="8666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866618"/>
            </a:xfrm>
            <a:custGeom>
              <a:avLst/>
              <a:gdLst/>
              <a:ahLst/>
              <a:cxnLst/>
              <a:rect r="r" b="b" t="t" l="l"/>
              <a:pathLst>
                <a:path h="866618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856919"/>
                  </a:lnTo>
                  <a:cubicBezTo>
                    <a:pt x="3207964" y="862276"/>
                    <a:pt x="3203622" y="866618"/>
                    <a:pt x="3198266" y="866618"/>
                  </a:cubicBezTo>
                  <a:lnTo>
                    <a:pt x="9699" y="866618"/>
                  </a:lnTo>
                  <a:cubicBezTo>
                    <a:pt x="4342" y="866618"/>
                    <a:pt x="0" y="862276"/>
                    <a:pt x="0" y="856919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9237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2090437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4608027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822621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2119754" y="7883801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799"/>
                </a:lnTo>
                <a:lnTo>
                  <a:pt x="0" y="10587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35090" y="4292393"/>
            <a:ext cx="1097094" cy="1048299"/>
          </a:xfrm>
          <a:custGeom>
            <a:avLst/>
            <a:gdLst/>
            <a:ahLst/>
            <a:cxnLst/>
            <a:rect r="r" b="b" t="t" l="l"/>
            <a:pathLst>
              <a:path h="1048299" w="1097094">
                <a:moveTo>
                  <a:pt x="0" y="0"/>
                </a:moveTo>
                <a:lnTo>
                  <a:pt x="1097093" y="0"/>
                </a:lnTo>
                <a:lnTo>
                  <a:pt x="1097093" y="1048299"/>
                </a:lnTo>
                <a:lnTo>
                  <a:pt x="0" y="10482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949245" y="1455950"/>
            <a:ext cx="1254318" cy="1386351"/>
          </a:xfrm>
          <a:custGeom>
            <a:avLst/>
            <a:gdLst/>
            <a:ahLst/>
            <a:cxnLst/>
            <a:rect r="r" b="b" t="t" l="l"/>
            <a:pathLst>
              <a:path h="1386351" w="1254318">
                <a:moveTo>
                  <a:pt x="0" y="0"/>
                </a:moveTo>
                <a:lnTo>
                  <a:pt x="1254318" y="0"/>
                </a:lnTo>
                <a:lnTo>
                  <a:pt x="1254318" y="1386351"/>
                </a:lnTo>
                <a:lnTo>
                  <a:pt x="0" y="13863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677710" y="1531384"/>
            <a:ext cx="9015997" cy="800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5"/>
              </a:lnSpc>
            </a:pPr>
            <a:r>
              <a:rPr lang="en-US" sz="2097" b="true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장바구니(Cart)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상품 상세 페이지를 통한 장바구니 담기, 수량 변경, 개별 및 선택 삭제, 주문서 연동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1856899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679341" y="3497040"/>
            <a:ext cx="8498992" cy="2375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b="true" sz="1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매끄러운</a:t>
            </a:r>
            <a:r>
              <a:rPr lang="en-US" b="true" sz="1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쇼핑 플로우 완성</a:t>
            </a: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: 탐색부터 장바구니 담기, 선택 주문까지 이어지는 끊김 없는 사용자 경험(UX) 제공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b="true" sz="1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안정적인 데이터 및 상태 관리</a:t>
            </a: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: 상품 옵션과 수량 변경에 따른 실시간 연산 처리와 유연한 데이터 관리 구조 구축</a:t>
            </a:r>
          </a:p>
          <a:p>
            <a:pPr algn="l" marL="0" indent="0" lvl="0">
              <a:lnSpc>
                <a:spcPts val="3195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4481451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목표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680582" y="6587504"/>
            <a:ext cx="9876287" cy="3575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 담기 및 옵션 관리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 상세 페이지 내 옵션 및 수량 선택 후 장바구니 담기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동일 상품/옵션 중복 담기 방지 또는 수량 누적 처리 로직</a:t>
            </a:r>
          </a:p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 목록 및 수량 제어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담긴 상품 목록 조회 및 실시간 총 결제 금액 계산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개별 상품 수량 변경 및 실시간 금액 반영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체크박스 기반의 선택 및 삭제 처리</a:t>
            </a:r>
          </a:p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주문 연동 플로우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체크박스로 선택한 항목만 모아 주문/결제 페이지로 데이터 전달 및 연동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099641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031773" y="6432276"/>
            <a:ext cx="5153662" cy="29725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b="true" sz="1672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담기 요청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: CartAddHandler (옵션/수량 파싱)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b="true" sz="1672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옵션/수량 변경 요쳥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: CartOptionEditHandler, CartQuanityEditHandler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b="true" sz="1672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삭제 요청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:CartDeleteHandler</a:t>
            </a:r>
          </a:p>
          <a:p>
            <a:pPr algn="l">
              <a:lnSpc>
                <a:spcPts val="2675"/>
              </a:lnSpc>
            </a:pP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목록 요청:CartListHandler</a:t>
            </a:r>
          </a:p>
          <a:p>
            <a:pPr algn="l">
              <a:lnSpc>
                <a:spcPts val="2675"/>
              </a:lnSpc>
            </a:pPr>
          </a:p>
          <a:p>
            <a:pPr algn="l">
              <a:lnSpc>
                <a:spcPts val="2675"/>
              </a:lnSpc>
            </a:pP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7120">
            <a:off x="6315094" y="6615378"/>
            <a:ext cx="5529257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CartService 비즈니스 로직 처리 (중복 체크 및 수량 산정)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Oracle DB 처리: 담기 시 INSERT/UPDATE, 관리 시 UPDATE/DELETE 수행</a:t>
            </a:r>
          </a:p>
          <a:p>
            <a:pPr algn="l">
              <a:lnSpc>
                <a:spcPts val="2675"/>
              </a:lnSpc>
            </a:pP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7120">
            <a:off x="11847617" y="6529237"/>
            <a:ext cx="5076763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처리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결과 데이터(총 주문 금액, 상품 목록)를 request에 바인딩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cart.jsp로 Forward하여 실시간 갱신된 장바구니 화면 렌더링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-711155" y="8628331"/>
            <a:ext cx="19705706" cy="1574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상품 상세 장바구니 담</a:t>
            </a: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기(Fetch) → CartAddHandler → CartService → CartDAO → CART 테이블 Insert→ JSON 응답 및 클라이언트 이동 처리</a:t>
            </a:r>
          </a:p>
          <a:p>
            <a:pPr algn="ctr" marL="0" indent="0" lvl="0">
              <a:lnSpc>
                <a:spcPts val="3195"/>
              </a:lnSpc>
            </a:pPr>
          </a:p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장바구니 페이지에서 목록 변경 요청 → CartOptionEditHandler → CartService → CartDAO → CART 테이블 Update/Delete → cart.jsp       </a:t>
            </a:r>
          </a:p>
          <a:p>
            <a:pPr algn="ctr" marL="0" indent="0" lvl="0">
              <a:lnSpc>
                <a:spcPts val="3195"/>
              </a:lnSpc>
            </a:pP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957294" y="1028333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10908" y="8126891"/>
            <a:ext cx="2322570" cy="1554189"/>
            <a:chOff x="0" y="0"/>
            <a:chExt cx="778898" cy="5212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8126891"/>
            <a:ext cx="2322570" cy="1554189"/>
            <a:chOff x="0" y="0"/>
            <a:chExt cx="778898" cy="5212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70036" y="8126891"/>
            <a:ext cx="2322570" cy="1554189"/>
            <a:chOff x="0" y="0"/>
            <a:chExt cx="778898" cy="52121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11756" y="2533164"/>
            <a:ext cx="6964501" cy="7147916"/>
            <a:chOff x="0" y="0"/>
            <a:chExt cx="1719870" cy="17651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19870" cy="1765164"/>
            </a:xfrm>
            <a:custGeom>
              <a:avLst/>
              <a:gdLst/>
              <a:ahLst/>
              <a:cxnLst/>
              <a:rect r="r" b="b" t="t" l="l"/>
              <a:pathLst>
                <a:path h="1765164" w="1719870">
                  <a:moveTo>
                    <a:pt x="32237" y="0"/>
                  </a:moveTo>
                  <a:lnTo>
                    <a:pt x="1687633" y="0"/>
                  </a:lnTo>
                  <a:cubicBezTo>
                    <a:pt x="1705437" y="0"/>
                    <a:pt x="1719870" y="14433"/>
                    <a:pt x="1719870" y="32237"/>
                  </a:cubicBezTo>
                  <a:lnTo>
                    <a:pt x="1719870" y="1732927"/>
                  </a:lnTo>
                  <a:cubicBezTo>
                    <a:pt x="1719870" y="1741477"/>
                    <a:pt x="1716474" y="1749677"/>
                    <a:pt x="1710428" y="1755722"/>
                  </a:cubicBezTo>
                  <a:cubicBezTo>
                    <a:pt x="1704382" y="1761768"/>
                    <a:pt x="1696183" y="1765164"/>
                    <a:pt x="1687633" y="1765164"/>
                  </a:cubicBezTo>
                  <a:lnTo>
                    <a:pt x="32237" y="1765164"/>
                  </a:lnTo>
                  <a:cubicBezTo>
                    <a:pt x="23687" y="1765164"/>
                    <a:pt x="15488" y="1761768"/>
                    <a:pt x="9442" y="1755722"/>
                  </a:cubicBezTo>
                  <a:cubicBezTo>
                    <a:pt x="3396" y="1749677"/>
                    <a:pt x="0" y="1741477"/>
                    <a:pt x="0" y="1732927"/>
                  </a:cubicBezTo>
                  <a:lnTo>
                    <a:pt x="0" y="32237"/>
                  </a:lnTo>
                  <a:cubicBezTo>
                    <a:pt x="0" y="23687"/>
                    <a:pt x="3396" y="15488"/>
                    <a:pt x="9442" y="9442"/>
                  </a:cubicBezTo>
                  <a:cubicBezTo>
                    <a:pt x="15488" y="3396"/>
                    <a:pt x="23687" y="0"/>
                    <a:pt x="32237" y="0"/>
                  </a:cubicBezTo>
                  <a:close/>
                </a:path>
              </a:pathLst>
            </a:custGeom>
            <a:blipFill>
              <a:blip r:embed="rId2"/>
              <a:stretch>
                <a:fillRect l="-482" t="0" r="-482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875092" y="8561086"/>
            <a:ext cx="1276876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304276" y="8561086"/>
            <a:ext cx="1535835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48103" y="8561086"/>
            <a:ext cx="1166437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2245" y="236585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3910908" y="2823327"/>
            <a:ext cx="4552795" cy="5852059"/>
          </a:xfrm>
          <a:custGeom>
            <a:avLst/>
            <a:gdLst/>
            <a:ahLst/>
            <a:cxnLst/>
            <a:rect r="r" b="b" t="t" l="l"/>
            <a:pathLst>
              <a:path h="5852059" w="4552795">
                <a:moveTo>
                  <a:pt x="0" y="0"/>
                </a:moveTo>
                <a:lnTo>
                  <a:pt x="4552795" y="0"/>
                </a:lnTo>
                <a:lnTo>
                  <a:pt x="4552795" y="5852059"/>
                </a:lnTo>
                <a:lnTo>
                  <a:pt x="0" y="58520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1114425"/>
            <a:ext cx="15590707" cy="2069401"/>
            <a:chOff x="0" y="0"/>
            <a:chExt cx="3207964" cy="4258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425803"/>
            </a:xfrm>
            <a:custGeom>
              <a:avLst/>
              <a:gdLst/>
              <a:ahLst/>
              <a:cxnLst/>
              <a:rect r="r" b="b" t="t" l="l"/>
              <a:pathLst>
                <a:path h="425803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416104"/>
                  </a:lnTo>
                  <a:cubicBezTo>
                    <a:pt x="3207964" y="421460"/>
                    <a:pt x="3203622" y="425803"/>
                    <a:pt x="3198266" y="425803"/>
                  </a:cubicBezTo>
                  <a:lnTo>
                    <a:pt x="9699" y="425803"/>
                  </a:lnTo>
                  <a:cubicBezTo>
                    <a:pt x="4342" y="425803"/>
                    <a:pt x="0" y="421460"/>
                    <a:pt x="0" y="416104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829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3478930"/>
            <a:ext cx="15590707" cy="2487993"/>
            <a:chOff x="0" y="0"/>
            <a:chExt cx="3207964" cy="5119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511933"/>
            </a:xfrm>
            <a:custGeom>
              <a:avLst/>
              <a:gdLst/>
              <a:ahLst/>
              <a:cxnLst/>
              <a:rect r="r" b="b" t="t" l="l"/>
              <a:pathLst>
                <a:path h="511933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502234"/>
                  </a:lnTo>
                  <a:cubicBezTo>
                    <a:pt x="3207964" y="507591"/>
                    <a:pt x="3203622" y="511933"/>
                    <a:pt x="3198266" y="511933"/>
                  </a:cubicBezTo>
                  <a:lnTo>
                    <a:pt x="9699" y="511933"/>
                  </a:lnTo>
                  <a:cubicBezTo>
                    <a:pt x="4342" y="511933"/>
                    <a:pt x="0" y="507591"/>
                    <a:pt x="0" y="502234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5690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6262799"/>
            <a:ext cx="15590707" cy="4211764"/>
            <a:chOff x="0" y="0"/>
            <a:chExt cx="3207964" cy="8666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866618"/>
            </a:xfrm>
            <a:custGeom>
              <a:avLst/>
              <a:gdLst/>
              <a:ahLst/>
              <a:cxnLst/>
              <a:rect r="r" b="b" t="t" l="l"/>
              <a:pathLst>
                <a:path h="866618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856919"/>
                  </a:lnTo>
                  <a:cubicBezTo>
                    <a:pt x="3207964" y="862276"/>
                    <a:pt x="3203622" y="866618"/>
                    <a:pt x="3198266" y="866618"/>
                  </a:cubicBezTo>
                  <a:lnTo>
                    <a:pt x="9699" y="866618"/>
                  </a:lnTo>
                  <a:cubicBezTo>
                    <a:pt x="4342" y="866618"/>
                    <a:pt x="0" y="862276"/>
                    <a:pt x="0" y="856919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9237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2090437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4608027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822621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2119754" y="7883801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799"/>
                </a:lnTo>
                <a:lnTo>
                  <a:pt x="0" y="10587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35090" y="4292393"/>
            <a:ext cx="1097094" cy="1048299"/>
          </a:xfrm>
          <a:custGeom>
            <a:avLst/>
            <a:gdLst/>
            <a:ahLst/>
            <a:cxnLst/>
            <a:rect r="r" b="b" t="t" l="l"/>
            <a:pathLst>
              <a:path h="1048299" w="1097094">
                <a:moveTo>
                  <a:pt x="0" y="0"/>
                </a:moveTo>
                <a:lnTo>
                  <a:pt x="1097093" y="0"/>
                </a:lnTo>
                <a:lnTo>
                  <a:pt x="1097093" y="1048299"/>
                </a:lnTo>
                <a:lnTo>
                  <a:pt x="0" y="10482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949245" y="1455950"/>
            <a:ext cx="1254318" cy="1386351"/>
          </a:xfrm>
          <a:custGeom>
            <a:avLst/>
            <a:gdLst/>
            <a:ahLst/>
            <a:cxnLst/>
            <a:rect r="r" b="b" t="t" l="l"/>
            <a:pathLst>
              <a:path h="1386351" w="1254318">
                <a:moveTo>
                  <a:pt x="0" y="0"/>
                </a:moveTo>
                <a:lnTo>
                  <a:pt x="1254318" y="0"/>
                </a:lnTo>
                <a:lnTo>
                  <a:pt x="1254318" y="1386351"/>
                </a:lnTo>
                <a:lnTo>
                  <a:pt x="0" y="13863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677297" y="1530852"/>
            <a:ext cx="8502273" cy="1200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5"/>
              </a:lnSpc>
            </a:pPr>
            <a:r>
              <a:rPr lang="en-US" sz="2097" b="true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리뷰(Review)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사용자: 리뷰 작성·수정·삭제, 도움돼요(좋아요) 토글, 마이페이지 목록 조회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관리자: 리뷰 공식 답변 등록/수정, 부적절한 리뷰 관리 및 강제 삭제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1856899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679341" y="3497040"/>
            <a:ext cx="8498992" cy="2375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b="true" sz="1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커뮤니티형 쇼핑 플랫폼 구축</a:t>
            </a: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: 오늘의집 스타일의 상세 리뷰 및 피드백 환경을 조성해 상품 신뢰도 및 정보 공유 활성화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b="true" sz="1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 정합성 및 안정성 확보</a:t>
            </a: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: DB 제약조건을 활용한 연관 데이터 자동 정리 및 회원·관리자 제어 상황에 유연하게 대응하는 구조 완성</a:t>
            </a:r>
          </a:p>
          <a:p>
            <a:pPr algn="l" marL="0" indent="0" lvl="0">
              <a:lnSpc>
                <a:spcPts val="3195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4481451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목표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680582" y="6383637"/>
            <a:ext cx="9876287" cy="4375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 정렬 및 필터링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베스트순, 최신순 정렬 기능 &amp; 평점별, 상품 옵션별 세부 리뷰 조회 기능</a:t>
            </a:r>
          </a:p>
          <a:p>
            <a:pPr algn="l">
              <a:lnSpc>
                <a:spcPts val="3195"/>
              </a:lnSpc>
            </a:pPr>
            <a:r>
              <a:rPr lang="en-US" sz="1997" b="tru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화면 및 마이페이지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모달 기반 리뷰 작성·수정 인터페이스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회원 상태(일반/탈퇴 등)에 따른 리뷰 노출(display) 예외 처리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마이페이지 내 내가 쓴 리뷰 모아보기 및 관리 기능</a:t>
            </a:r>
          </a:p>
          <a:p>
            <a:pPr algn="l">
              <a:lnSpc>
                <a:spcPts val="3195"/>
              </a:lnSpc>
            </a:pPr>
            <a:r>
              <a:rPr lang="en-US" b="true" sz="1997" strike="noStrike" u="none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관리자 기능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부적절한 리뷰 이미지 숨김 처리 (IS_HIDE_IMAGE 상태 관리)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운영 정책 위반 리뷰 삭제 </a:t>
            </a:r>
          </a:p>
          <a:p>
            <a:pPr algn="l" marL="431193" indent="-215597" lvl="1">
              <a:lnSpc>
                <a:spcPts val="3195"/>
              </a:lnSpc>
              <a:buFont typeface="Arial"/>
              <a:buChar char="•"/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리뷰에 대한 관리자 공식 댓글(답변) 등록 및 관리</a:t>
            </a:r>
          </a:p>
          <a:p>
            <a:pPr algn="l" marL="0" indent="0" lvl="0">
              <a:lnSpc>
                <a:spcPts val="3195"/>
              </a:lnSpc>
            </a:pP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099641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240383" y="6362264"/>
            <a:ext cx="4917543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작성/수정 페이지 요청 및 폼 제출 (비동기/모달) → WriteReviewHandler/EditReviewHandler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평점, 텍스트, 첨부 이미지 파라미터 파싱 및 세션 회원 정보 확인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7120">
            <a:off x="6443215" y="6362766"/>
            <a:ext cx="5402379" cy="19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Review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Service에서 리뷰 등록/수정 비즈니스 로직 처리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첨부 파일 유효성 검증 및 데이터 가공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Oracle DB 작업 수행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REVIEW 및 REVIEW_IMAGE 테이블 INSERT / UPDATE 쿼리 실행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7120">
            <a:off x="11989424" y="6362478"/>
            <a:ext cx="5124010" cy="972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처리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완료 후 상품 상세 페이지로 Redirect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갱신된 리뷰 데이터가 화면에 즉시 반영되도록 유도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4062902" y="8820124"/>
            <a:ext cx="10163208" cy="77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 작성/수정</a:t>
            </a: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요청 → ReviewProHandler → ReviewService → ReviewDAO → REVIEW/REVIEW_IMAGE DB 저장 → 상품 상세/마이페이지 Redirect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957294" y="1028333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037226" y="6242954"/>
            <a:ext cx="5194646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상세 또는 마이페이지 진입 → ReviewListHandler / MyPageReviewHandler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정렬(베스트/최신)·필터 파라미터 파싱 및 세션 회원 ID 확인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7120">
            <a:off x="6303942" y="6243457"/>
            <a:ext cx="5680498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Review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Service에서 조건별 데이터 조회 로직 수행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Oracle DB에서 조건부 SELECT 쿼리 실행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상품별 조회: WHERE product_id = ? (정렬 및 필터 적용)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멤버별 조회: WHERE member_id = ? (내가 쓴 리뷰 목록)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7120">
            <a:off x="11847271" y="6409642"/>
            <a:ext cx="5406038" cy="130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조회된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리스트를 request 객체에 바인딩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productDetail.jsp 또는 myPageReview.jsp로 Forward하여 렌더링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2226318" y="9036275"/>
            <a:ext cx="14454070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조회 요청(상품/회원 ID) → ReviewListHandler → ReviewService → ReviewDAO</a:t>
            </a: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→ 조건별 DB SELECT → JSP Page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957294" y="1028333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037571" y="6242955"/>
            <a:ext cx="5194646" cy="130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목록에서 '도움돼요' 버튼 클릭 (Fetch / 비동기) →HelpCountToggleHandler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ID 및 세션의 회원 ID 파싱하여 비동기 요청 수신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7120">
            <a:off x="6303942" y="6243457"/>
            <a:ext cx="5680498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Review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Service에서 도움돼요 토글 비즈니스 로직 수행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기존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추천 여부(SELECT) 사전 체크 후 분기 처리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미참여 시 좋아요 추가(INSERT), 이미 참여했을 시 취소(DELETE) 실행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7120">
            <a:off x="11846926" y="6409641"/>
            <a:ext cx="5406038" cy="1639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처리 결과(성공 여부, 총 추천 수,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활성화 상태)를 JSON 데이터로 응답 반환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return null 처리하여 페이지 새로고침 없이 클라이언트 측에서 아이콘 상태와 수치 실시간 갱신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669314" y="8804205"/>
            <a:ext cx="16662413" cy="774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도움돼요 클릭(Fetch) -&gt; HelpCountToggleHandler -&gt; ReviewService -&gt; ReviewDAO</a:t>
            </a: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-&gt; </a:t>
            </a:r>
          </a:p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DB 체크 후 Insert/Delete -&gt; JSON 응답 및 클라이언트 갱신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957294" y="1028333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036535" y="6242953"/>
            <a:ext cx="5194646" cy="2305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상품 상세 페이지의 리뷰 탭에서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 삭제 → DeleteReviewHandler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이미지 숨김 요청 (비동기 Fetch 또는 폼 제출) →  HideImageToggleHandler</a:t>
            </a:r>
          </a:p>
          <a:p>
            <a:pPr algn="l">
              <a:lnSpc>
                <a:spcPts val="2675"/>
              </a:lnSpc>
            </a:pP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관리자 세션 권한 검증 및 대상 리뷰/이미지 ID 파싱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7120">
            <a:off x="6303596" y="6243457"/>
            <a:ext cx="5680498" cy="19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Review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Service에서 관리자 권한 및 제재 비즈니스 로직 수행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Oracle DB 작업 실행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삭제: REVIEW 및 연관 테이블 DELETE 쿼리 실행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이미지</a:t>
            </a: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숨김: REVIEW 테이블의 이미지 노출 여부 컬럼 상태 변경 (IS_HIDE_IMAGE 0 → 1)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7120">
            <a:off x="11846235" y="6409641"/>
            <a:ext cx="5406038" cy="2305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리뷰 삭제: 처리 완료 후 목록 페이지로 Redirect 수행 (브라우저 새로고침 및 최신 갱신)</a:t>
            </a: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</a:p>
          <a:p>
            <a:pPr algn="l" marL="361007" indent="-180503" lvl="1">
              <a:lnSpc>
                <a:spcPts val="2675"/>
              </a:lnSpc>
              <a:buFont typeface="Arial"/>
              <a:buChar char="•"/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이미지 숨김: 처리 성공 여부 JSON 응답 반환 후 return null 처리, 클라이언트 측에서 해당 이미지 영역을 DOM에서 즉시 숨김 처리 또는 상태 갱신</a:t>
            </a:r>
          </a:p>
          <a:p>
            <a:pPr algn="l" marL="0" indent="0" lvl="0">
              <a:lnSpc>
                <a:spcPts val="2675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352245" y="2365854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1803999" y="8670200"/>
            <a:ext cx="15263330" cy="11748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이미지 숨김 클릭(Fetch) -&gt; HideImageToggleHandler -&gt; ReviewService -&gt; ReviewDAO</a:t>
            </a: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-&gt; 이미지 상태 DB UPDATE -&gt; JSON 응답 및 DOM 즉시 갱신</a:t>
            </a:r>
          </a:p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리뷰 삭제 요청 -&gt; DeleteReviewHandler -&gt; ReviewService -&gt; ReviewDAO -&gt; DB 데이터 DELETE -&gt; 상품 상세 페이지로 Redirect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2957294" y="1028333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10908" y="8126891"/>
            <a:ext cx="2322570" cy="1554189"/>
            <a:chOff x="0" y="0"/>
            <a:chExt cx="778898" cy="5212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8126891"/>
            <a:ext cx="2322570" cy="1554189"/>
            <a:chOff x="0" y="0"/>
            <a:chExt cx="778898" cy="5212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70036" y="8126891"/>
            <a:ext cx="2322570" cy="1554189"/>
            <a:chOff x="0" y="0"/>
            <a:chExt cx="778898" cy="52121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11756" y="2533164"/>
            <a:ext cx="6964501" cy="7147916"/>
            <a:chOff x="0" y="0"/>
            <a:chExt cx="1719870" cy="17651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19870" cy="1765164"/>
            </a:xfrm>
            <a:custGeom>
              <a:avLst/>
              <a:gdLst/>
              <a:ahLst/>
              <a:cxnLst/>
              <a:rect r="r" b="b" t="t" l="l"/>
              <a:pathLst>
                <a:path h="1765164" w="1719870">
                  <a:moveTo>
                    <a:pt x="32237" y="0"/>
                  </a:moveTo>
                  <a:lnTo>
                    <a:pt x="1687633" y="0"/>
                  </a:lnTo>
                  <a:cubicBezTo>
                    <a:pt x="1705437" y="0"/>
                    <a:pt x="1719870" y="14433"/>
                    <a:pt x="1719870" y="32237"/>
                  </a:cubicBezTo>
                  <a:lnTo>
                    <a:pt x="1719870" y="1732927"/>
                  </a:lnTo>
                  <a:cubicBezTo>
                    <a:pt x="1719870" y="1741477"/>
                    <a:pt x="1716474" y="1749677"/>
                    <a:pt x="1710428" y="1755722"/>
                  </a:cubicBezTo>
                  <a:cubicBezTo>
                    <a:pt x="1704382" y="1761768"/>
                    <a:pt x="1696183" y="1765164"/>
                    <a:pt x="1687633" y="1765164"/>
                  </a:cubicBezTo>
                  <a:lnTo>
                    <a:pt x="32237" y="1765164"/>
                  </a:lnTo>
                  <a:cubicBezTo>
                    <a:pt x="23687" y="1765164"/>
                    <a:pt x="15488" y="1761768"/>
                    <a:pt x="9442" y="1755722"/>
                  </a:cubicBezTo>
                  <a:cubicBezTo>
                    <a:pt x="3396" y="1749677"/>
                    <a:pt x="0" y="1741477"/>
                    <a:pt x="0" y="1732927"/>
                  </a:cubicBezTo>
                  <a:lnTo>
                    <a:pt x="0" y="32237"/>
                  </a:lnTo>
                  <a:cubicBezTo>
                    <a:pt x="0" y="23687"/>
                    <a:pt x="3396" y="15488"/>
                    <a:pt x="9442" y="9442"/>
                  </a:cubicBezTo>
                  <a:cubicBezTo>
                    <a:pt x="15488" y="3396"/>
                    <a:pt x="23687" y="0"/>
                    <a:pt x="32237" y="0"/>
                  </a:cubicBezTo>
                  <a:close/>
                </a:path>
              </a:pathLst>
            </a:custGeom>
            <a:blipFill>
              <a:blip r:embed="rId2"/>
              <a:stretch>
                <a:fillRect l="-482" t="0" r="-482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875092" y="8561086"/>
            <a:ext cx="1276876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304276" y="8561086"/>
            <a:ext cx="1535835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48103" y="8561086"/>
            <a:ext cx="1166437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2245" y="236585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4686494"/>
            <a:ext cx="15590707" cy="1521639"/>
            <a:chOff x="0" y="0"/>
            <a:chExt cx="3207964" cy="31309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6405228"/>
            <a:ext cx="15590707" cy="1521639"/>
            <a:chOff x="0" y="0"/>
            <a:chExt cx="3207964" cy="31309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8126891"/>
            <a:ext cx="15590707" cy="1521639"/>
            <a:chOff x="0" y="0"/>
            <a:chExt cx="3207964" cy="31309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5255730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6974463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869612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798801" y="8182796"/>
            <a:ext cx="1535806" cy="1381773"/>
          </a:xfrm>
          <a:custGeom>
            <a:avLst/>
            <a:gdLst/>
            <a:ahLst/>
            <a:cxnLst/>
            <a:rect r="r" b="b" t="t" l="l"/>
            <a:pathLst>
              <a:path h="1381773" w="1535806">
                <a:moveTo>
                  <a:pt x="0" y="0"/>
                </a:moveTo>
                <a:lnTo>
                  <a:pt x="1535807" y="0"/>
                </a:lnTo>
                <a:lnTo>
                  <a:pt x="1535807" y="1381772"/>
                </a:lnTo>
                <a:lnTo>
                  <a:pt x="0" y="13817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12543" y="6611411"/>
            <a:ext cx="1224116" cy="1290851"/>
          </a:xfrm>
          <a:custGeom>
            <a:avLst/>
            <a:gdLst/>
            <a:ahLst/>
            <a:cxnLst/>
            <a:rect r="r" b="b" t="t" l="l"/>
            <a:pathLst>
              <a:path h="1290851" w="1224116">
                <a:moveTo>
                  <a:pt x="0" y="0"/>
                </a:moveTo>
                <a:lnTo>
                  <a:pt x="1224116" y="0"/>
                </a:lnTo>
                <a:lnTo>
                  <a:pt x="1224116" y="1290851"/>
                </a:lnTo>
                <a:lnTo>
                  <a:pt x="0" y="1290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837351" y="4635885"/>
            <a:ext cx="1475852" cy="1320887"/>
          </a:xfrm>
          <a:custGeom>
            <a:avLst/>
            <a:gdLst/>
            <a:ahLst/>
            <a:cxnLst/>
            <a:rect r="r" b="b" t="t" l="l"/>
            <a:pathLst>
              <a:path h="1320887" w="1475852">
                <a:moveTo>
                  <a:pt x="0" y="0"/>
                </a:moveTo>
                <a:lnTo>
                  <a:pt x="1475851" y="0"/>
                </a:lnTo>
                <a:lnTo>
                  <a:pt x="1475851" y="1320887"/>
                </a:lnTo>
                <a:lnTo>
                  <a:pt x="0" y="13208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717452" y="5013351"/>
            <a:ext cx="8722726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상품 목록에서 페이지 번호를 이동하거나 정렬 기준(베스트·최신순)을</a:t>
            </a: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 변경할 때 기존 필터 조건이 초기화되어 첫 화면으로 리셋되는 현상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5129155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상황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264624" y="6591928"/>
            <a:ext cx="9662930" cy="117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브라우저 개발자 도구</a:t>
            </a: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의 Network 탭과 URL 쿼리스트링을 분석한 결과, 사용자가 정렬 기준이나 필터를 적용한 상태에서 페이징 번호를 클릭했을 때, 요청 URL에 페이징 번호(pageNum)만 전송되고 기존에 선택했던 필터 파라미터가 통째로 누락되는 현상을 포착함.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6847888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 분석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303371" y="8115533"/>
            <a:ext cx="9412911" cy="1574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JavaScript를 활</a:t>
            </a: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용해 사용자가 선택한 정렬 조건과 필터 값들을 변수로 상시 저장하고, 페이지 번호를 누를 때 상태값들이 함께 요청에 포함되도록 비동기 또는 폼 전송 로직 수정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서버 핸들러와 DAO에서도 페이징 쿼리가 실행될 때 현재 적용된 필터 조건이 누락되지 않고 유지되도록 동적 쿼리 조건식 보완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569551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해결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52245" y="236356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및 해결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892" y="3146667"/>
            <a:ext cx="8733639" cy="14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TEAM MEMBER</a:t>
            </a:r>
          </a:p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류호훈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305322" y="3942282"/>
            <a:ext cx="9108032" cy="8424930"/>
          </a:xfrm>
          <a:custGeom>
            <a:avLst/>
            <a:gdLst/>
            <a:ahLst/>
            <a:cxnLst/>
            <a:rect r="r" b="b" t="t" l="l"/>
            <a:pathLst>
              <a:path h="8424930" w="9108032">
                <a:moveTo>
                  <a:pt x="0" y="0"/>
                </a:moveTo>
                <a:lnTo>
                  <a:pt x="9108032" y="0"/>
                </a:lnTo>
                <a:lnTo>
                  <a:pt x="9108032" y="8424930"/>
                </a:lnTo>
                <a:lnTo>
                  <a:pt x="0" y="842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33892" y="4079156"/>
            <a:ext cx="12294182" cy="5964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93"/>
              </a:lnSpc>
            </a:pPr>
            <a:r>
              <a:rPr lang="en-US" sz="8094">
                <a:solidFill>
                  <a:srgbClr val="222222"/>
                </a:solidFill>
                <a:latin typeface="210 네버랜드"/>
                <a:ea typeface="210 네버랜드"/>
                <a:cs typeface="210 네버랜드"/>
                <a:sym typeface="210 네버랜드"/>
              </a:rPr>
              <a:t>상</a:t>
            </a:r>
            <a:r>
              <a:rPr lang="en-US" sz="8094">
                <a:solidFill>
                  <a:srgbClr val="222222"/>
                </a:solidFill>
                <a:latin typeface="210 네버랜드"/>
                <a:ea typeface="210 네버랜드"/>
                <a:cs typeface="210 네버랜드"/>
                <a:sym typeface="210 네버랜드"/>
              </a:rPr>
              <a:t>품 Detail</a:t>
            </a:r>
          </a:p>
          <a:p>
            <a:pPr algn="l">
              <a:lnSpc>
                <a:spcPts val="16916"/>
              </a:lnSpc>
            </a:pPr>
            <a:r>
              <a:rPr lang="en-US" sz="9193">
                <a:solidFill>
                  <a:srgbClr val="222222"/>
                </a:solidFill>
                <a:latin typeface="210 네버랜드"/>
                <a:ea typeface="210 네버랜드"/>
                <a:cs typeface="210 네버랜드"/>
                <a:sym typeface="210 네버랜드"/>
              </a:rPr>
              <a:t>구매/결제</a:t>
            </a:r>
          </a:p>
          <a:p>
            <a:pPr algn="l" marL="0" indent="0" lvl="0">
              <a:lnSpc>
                <a:spcPts val="16916"/>
              </a:lnSpc>
              <a:spcBef>
                <a:spcPct val="0"/>
              </a:spcBef>
            </a:pPr>
            <a:r>
              <a:rPr lang="en-US" sz="9193">
                <a:solidFill>
                  <a:srgbClr val="222222"/>
                </a:solidFill>
                <a:latin typeface="210 네버랜드"/>
                <a:ea typeface="210 네버랜드"/>
                <a:cs typeface="210 네버랜드"/>
                <a:sym typeface="210 네버랜드"/>
              </a:rPr>
              <a:t>주문 목록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8126891"/>
            <a:ext cx="15590707" cy="1928283"/>
            <a:chOff x="0" y="0"/>
            <a:chExt cx="3207964" cy="3967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96766"/>
            </a:xfrm>
            <a:custGeom>
              <a:avLst/>
              <a:gdLst/>
              <a:ahLst/>
              <a:cxnLst/>
              <a:rect r="r" b="b" t="t" l="l"/>
              <a:pathLst>
                <a:path h="396766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87067"/>
                  </a:lnTo>
                  <a:cubicBezTo>
                    <a:pt x="3207964" y="392424"/>
                    <a:pt x="3203622" y="396766"/>
                    <a:pt x="3198266" y="396766"/>
                  </a:cubicBezTo>
                  <a:lnTo>
                    <a:pt x="9699" y="396766"/>
                  </a:lnTo>
                  <a:cubicBezTo>
                    <a:pt x="4342" y="396766"/>
                    <a:pt x="0" y="392424"/>
                    <a:pt x="0" y="387067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539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233501" y="9029344"/>
            <a:ext cx="383167" cy="383167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2135483" y="8566777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799"/>
                </a:lnTo>
                <a:lnTo>
                  <a:pt x="0" y="1058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348646" y="1411104"/>
            <a:ext cx="15590707" cy="3784448"/>
            <a:chOff x="0" y="0"/>
            <a:chExt cx="20787610" cy="5045931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0787610" cy="5045931"/>
              <a:chOff x="0" y="0"/>
              <a:chExt cx="3207964" cy="778693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207964" cy="778693"/>
              </a:xfrm>
              <a:custGeom>
                <a:avLst/>
                <a:gdLst/>
                <a:ahLst/>
                <a:cxnLst/>
                <a:rect r="r" b="b" t="t" l="l"/>
                <a:pathLst>
                  <a:path h="778693" w="3207964">
                    <a:moveTo>
                      <a:pt x="9699" y="0"/>
                    </a:moveTo>
                    <a:lnTo>
                      <a:pt x="3198266" y="0"/>
                    </a:lnTo>
                    <a:cubicBezTo>
                      <a:pt x="3203622" y="0"/>
                      <a:pt x="3207964" y="4342"/>
                      <a:pt x="3207964" y="9699"/>
                    </a:cubicBezTo>
                    <a:lnTo>
                      <a:pt x="3207964" y="768994"/>
                    </a:lnTo>
                    <a:cubicBezTo>
                      <a:pt x="3207964" y="774351"/>
                      <a:pt x="3203622" y="778693"/>
                      <a:pt x="3198266" y="778693"/>
                    </a:cubicBezTo>
                    <a:lnTo>
                      <a:pt x="9699" y="778693"/>
                    </a:lnTo>
                    <a:cubicBezTo>
                      <a:pt x="7126" y="778693"/>
                      <a:pt x="4660" y="777671"/>
                      <a:pt x="2841" y="775852"/>
                    </a:cubicBezTo>
                    <a:cubicBezTo>
                      <a:pt x="1022" y="774033"/>
                      <a:pt x="0" y="771567"/>
                      <a:pt x="0" y="768994"/>
                    </a:cubicBezTo>
                    <a:lnTo>
                      <a:pt x="0" y="9699"/>
                    </a:lnTo>
                    <a:cubicBezTo>
                      <a:pt x="0" y="4342"/>
                      <a:pt x="4342" y="0"/>
                      <a:pt x="9699" y="0"/>
                    </a:cubicBezTo>
                    <a:close/>
                  </a:path>
                </a:pathLst>
              </a:custGeom>
              <a:solidFill>
                <a:srgbClr val="157CEE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57150"/>
                <a:ext cx="3207964" cy="8358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6234386" y="1981687"/>
              <a:ext cx="510889" cy="510889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FAFAFA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772850" y="1598731"/>
              <a:ext cx="1672424" cy="1848468"/>
            </a:xfrm>
            <a:custGeom>
              <a:avLst/>
              <a:gdLst/>
              <a:ahLst/>
              <a:cxnLst/>
              <a:rect r="r" b="b" t="t" l="l"/>
              <a:pathLst>
                <a:path h="1848468" w="1672424">
                  <a:moveTo>
                    <a:pt x="0" y="0"/>
                  </a:moveTo>
                  <a:lnTo>
                    <a:pt x="1672424" y="0"/>
                  </a:lnTo>
                  <a:lnTo>
                    <a:pt x="1672424" y="1848469"/>
                  </a:lnTo>
                  <a:lnTo>
                    <a:pt x="0" y="18484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7120">
              <a:off x="7485667" y="617115"/>
              <a:ext cx="12675235" cy="36747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431193" indent="-215597" lvl="1">
                <a:lnSpc>
                  <a:spcPts val="3195"/>
                </a:lnSpc>
                <a:buAutoNum type="arabicPeriod" startAt="1"/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상품의 id값에 따라 상품의 브랜드, 이름, 사진, 옵션 및 옵션 조합, 가격을 보여주는 기능 구현</a:t>
              </a:r>
            </a:p>
            <a:p>
              <a:pPr algn="l" marL="431193" indent="-215597" lvl="1">
                <a:lnSpc>
                  <a:spcPts val="3195"/>
                </a:lnSpc>
                <a:buAutoNum type="arabicPeriod" startAt="1"/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상품에 대한 상세 옵션을 선택한 뒤 장바구니 or 상품 구매 페이지로 이동</a:t>
              </a:r>
            </a:p>
            <a:p>
              <a:pPr algn="l" marL="431193" indent="-215597" lvl="1">
                <a:lnSpc>
                  <a:spcPts val="3195"/>
                </a:lnSpc>
                <a:buAutoNum type="arabicPeriod" startAt="1"/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구매 목록에 담겨져 있는 상품에 대한 수량, 옵션 변경 가능. 구매 의사 결정되면 결제 ( 결제는 토스페이먼츠 api 사용 )</a:t>
              </a:r>
            </a:p>
            <a:p>
              <a:pPr algn="l" marL="431193" indent="-215597" lvl="1">
                <a:lnSpc>
                  <a:spcPts val="3195"/>
                </a:lnSpc>
                <a:buAutoNum type="arabicPeriod" startAt="1"/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결제가 성공하면 주문 목록 생성</a:t>
              </a:r>
            </a:p>
            <a:p>
              <a:pPr algn="l" marL="431193" indent="-215597" lvl="1">
                <a:lnSpc>
                  <a:spcPts val="3195"/>
                </a:lnSpc>
                <a:buAutoNum type="arabicPeriod" startAt="1"/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주문 목록에서 상태에 따라 취소, 반품, 구매확정 기능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3181292" y="1867387"/>
              <a:ext cx="1803202" cy="6555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313"/>
                </a:lnSpc>
              </a:pPr>
              <a:r>
                <a:rPr lang="en-US" b="true" sz="2696" spc="-8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담당 기능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52245" y="5435252"/>
            <a:ext cx="15590707" cy="2202915"/>
            <a:chOff x="0" y="0"/>
            <a:chExt cx="20787610" cy="2937220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20787610" cy="2937220"/>
              <a:chOff x="0" y="0"/>
              <a:chExt cx="3207964" cy="453275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3207964" cy="453275"/>
              </a:xfrm>
              <a:custGeom>
                <a:avLst/>
                <a:gdLst/>
                <a:ahLst/>
                <a:cxnLst/>
                <a:rect r="r" b="b" t="t" l="l"/>
                <a:pathLst>
                  <a:path h="453275" w="3207964">
                    <a:moveTo>
                      <a:pt x="9699" y="0"/>
                    </a:moveTo>
                    <a:lnTo>
                      <a:pt x="3198266" y="0"/>
                    </a:lnTo>
                    <a:cubicBezTo>
                      <a:pt x="3203622" y="0"/>
                      <a:pt x="3207964" y="4342"/>
                      <a:pt x="3207964" y="9699"/>
                    </a:cubicBezTo>
                    <a:lnTo>
                      <a:pt x="3207964" y="443576"/>
                    </a:lnTo>
                    <a:cubicBezTo>
                      <a:pt x="3207964" y="448932"/>
                      <a:pt x="3203622" y="453275"/>
                      <a:pt x="3198266" y="453275"/>
                    </a:cubicBezTo>
                    <a:lnTo>
                      <a:pt x="9699" y="453275"/>
                    </a:lnTo>
                    <a:cubicBezTo>
                      <a:pt x="7126" y="453275"/>
                      <a:pt x="4660" y="452253"/>
                      <a:pt x="2841" y="450434"/>
                    </a:cubicBezTo>
                    <a:cubicBezTo>
                      <a:pt x="1022" y="448615"/>
                      <a:pt x="0" y="446148"/>
                      <a:pt x="0" y="443576"/>
                    </a:cubicBezTo>
                    <a:lnTo>
                      <a:pt x="0" y="9699"/>
                    </a:lnTo>
                    <a:cubicBezTo>
                      <a:pt x="0" y="4342"/>
                      <a:pt x="4342" y="0"/>
                      <a:pt x="9699" y="0"/>
                    </a:cubicBezTo>
                    <a:close/>
                  </a:path>
                </a:pathLst>
              </a:custGeom>
              <a:solidFill>
                <a:srgbClr val="35D19C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57150"/>
                <a:ext cx="3207964" cy="5104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6757045" y="1144062"/>
              <a:ext cx="510889" cy="510889"/>
              <a:chOff x="0" y="0"/>
              <a:chExt cx="812800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812800" y="406400"/>
                    </a:moveTo>
                    <a:lnTo>
                      <a:pt x="406400" y="0"/>
                    </a:lnTo>
                    <a:lnTo>
                      <a:pt x="406400" y="203200"/>
                    </a:lnTo>
                    <a:lnTo>
                      <a:pt x="0" y="203200"/>
                    </a:lnTo>
                    <a:lnTo>
                      <a:pt x="0" y="609600"/>
                    </a:lnTo>
                    <a:lnTo>
                      <a:pt x="406400" y="609600"/>
                    </a:lnTo>
                    <a:lnTo>
                      <a:pt x="406400" y="812800"/>
                    </a:lnTo>
                    <a:lnTo>
                      <a:pt x="812800" y="406400"/>
                    </a:lnTo>
                    <a:close/>
                  </a:path>
                </a:pathLst>
              </a:custGeom>
              <a:solidFill>
                <a:srgbClr val="FAFAFA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146050"/>
                <a:ext cx="711200" cy="46355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60"/>
                  </a:lnSpc>
                </a:pPr>
              </a:p>
            </p:txBody>
          </p:sp>
        </p:grpSp>
        <p:sp>
          <p:nvSpPr>
            <p:cNvPr name="Freeform 26" id="26"/>
            <p:cNvSpPr/>
            <p:nvPr/>
          </p:nvSpPr>
          <p:spPr>
            <a:xfrm flipH="false" flipV="false" rot="0">
              <a:off x="763651" y="769744"/>
              <a:ext cx="1462792" cy="1397732"/>
            </a:xfrm>
            <a:custGeom>
              <a:avLst/>
              <a:gdLst/>
              <a:ahLst/>
              <a:cxnLst/>
              <a:rect r="r" b="b" t="t" l="l"/>
              <a:pathLst>
                <a:path h="1397732" w="1462792">
                  <a:moveTo>
                    <a:pt x="0" y="0"/>
                  </a:moveTo>
                  <a:lnTo>
                    <a:pt x="1462791" y="0"/>
                  </a:lnTo>
                  <a:lnTo>
                    <a:pt x="1462791" y="1397732"/>
                  </a:lnTo>
                  <a:lnTo>
                    <a:pt x="0" y="1397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 rot="7120">
              <a:off x="7738865" y="72639"/>
              <a:ext cx="11989640" cy="26079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최대한 실제 서비스와 유사하게 구현하여 실제 서비스를 할 수 있을 정도로</a:t>
              </a:r>
            </a:p>
            <a:p>
              <a:pPr algn="l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 단순 기본 기능만이 아닌 모든 디테일을 분석하여 제작하려는 목표.</a:t>
              </a:r>
            </a:p>
            <a:p>
              <a:pPr algn="l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기본 개념 반복 숙달과 프로젝트로 인한 실제 예제 구현으로</a:t>
              </a:r>
            </a:p>
            <a:p>
              <a:pPr algn="l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MVC 패턴의 이해도 상승 목표. 이후 Spring으로 전환 시 꼬이는 부분 없이</a:t>
              </a:r>
            </a:p>
            <a:p>
              <a:pPr algn="l">
                <a:lnSpc>
                  <a:spcPts val="3195"/>
                </a:lnSpc>
              </a:pPr>
              <a:r>
                <a:rPr lang="en-US" sz="1997">
                  <a:solidFill>
                    <a:srgbClr val="FFFFFF"/>
                  </a:solidFill>
                  <a:latin typeface="JASO Sans"/>
                  <a:ea typeface="JASO Sans"/>
                  <a:cs typeface="JASO Sans"/>
                  <a:sym typeface="JASO Sans"/>
                </a:rPr>
                <a:t>꼼꼼하게 개념과 구조 체크.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974896" y="1029762"/>
              <a:ext cx="3313906" cy="6555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313"/>
                </a:lnSpc>
              </a:pPr>
              <a:r>
                <a:rPr lang="en-US" b="true" sz="2696" spc="-8">
                  <a:solidFill>
                    <a:srgbClr val="FFFFFF"/>
                  </a:solidFill>
                  <a:latin typeface="JASO Sans Bold"/>
                  <a:ea typeface="JASO Sans Bold"/>
                  <a:cs typeface="JASO Sans Bold"/>
                  <a:sym typeface="JASO Sans Bold"/>
                </a:rPr>
                <a:t>구현 목표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7120">
            <a:off x="7069296" y="8070580"/>
            <a:ext cx="9273030" cy="1974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현재 구현 범위 → 쇼핑 분야 ( 상품 , 리뷰 , 장바구니 , 주문, 회원 CRUD )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실제 서비스 → 쇼핑 뿐만이 아닌 상품에 대한 커뮤니케이션(회원 피드) 기능 활성화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현재 기본 기능 집중으로 인해 자잘한 디테일들이 남아있음. 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프로젝트가 종료된 이후에도 디테일을 모두 잡아 실제 오늘의 집 서비스와 동일하게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기능하는 것이 목표.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709673" y="8892252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52245" y="586131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 담당 영역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910908" y="8126891"/>
            <a:ext cx="2322570" cy="1554189"/>
            <a:chOff x="0" y="0"/>
            <a:chExt cx="778898" cy="52121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8126891"/>
            <a:ext cx="2322570" cy="1554189"/>
            <a:chOff x="0" y="0"/>
            <a:chExt cx="778898" cy="5212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70036" y="8126891"/>
            <a:ext cx="2322570" cy="1554189"/>
            <a:chOff x="0" y="0"/>
            <a:chExt cx="778898" cy="52121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8898" cy="521213"/>
            </a:xfrm>
            <a:custGeom>
              <a:avLst/>
              <a:gdLst/>
              <a:ahLst/>
              <a:cxnLst/>
              <a:rect r="r" b="b" t="t" l="l"/>
              <a:pathLst>
                <a:path h="521213" w="778898">
                  <a:moveTo>
                    <a:pt x="100000" y="0"/>
                  </a:moveTo>
                  <a:lnTo>
                    <a:pt x="678897" y="0"/>
                  </a:lnTo>
                  <a:cubicBezTo>
                    <a:pt x="734126" y="0"/>
                    <a:pt x="778898" y="44772"/>
                    <a:pt x="778898" y="100000"/>
                  </a:cubicBezTo>
                  <a:lnTo>
                    <a:pt x="778898" y="421213"/>
                  </a:lnTo>
                  <a:cubicBezTo>
                    <a:pt x="778898" y="447735"/>
                    <a:pt x="768362" y="473170"/>
                    <a:pt x="749608" y="491924"/>
                  </a:cubicBezTo>
                  <a:cubicBezTo>
                    <a:pt x="730855" y="510678"/>
                    <a:pt x="705419" y="521213"/>
                    <a:pt x="678897" y="521213"/>
                  </a:cubicBezTo>
                  <a:lnTo>
                    <a:pt x="100000" y="521213"/>
                  </a:lnTo>
                  <a:cubicBezTo>
                    <a:pt x="44772" y="521213"/>
                    <a:pt x="0" y="476442"/>
                    <a:pt x="0" y="421213"/>
                  </a:cubicBezTo>
                  <a:lnTo>
                    <a:pt x="0" y="100000"/>
                  </a:lnTo>
                  <a:cubicBezTo>
                    <a:pt x="0" y="44772"/>
                    <a:pt x="44772" y="0"/>
                    <a:pt x="100000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778898" cy="5783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11756" y="2533164"/>
            <a:ext cx="6964501" cy="7147916"/>
            <a:chOff x="0" y="0"/>
            <a:chExt cx="1719870" cy="17651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19870" cy="1765164"/>
            </a:xfrm>
            <a:custGeom>
              <a:avLst/>
              <a:gdLst/>
              <a:ahLst/>
              <a:cxnLst/>
              <a:rect r="r" b="b" t="t" l="l"/>
              <a:pathLst>
                <a:path h="1765164" w="1719870">
                  <a:moveTo>
                    <a:pt x="32237" y="0"/>
                  </a:moveTo>
                  <a:lnTo>
                    <a:pt x="1687633" y="0"/>
                  </a:lnTo>
                  <a:cubicBezTo>
                    <a:pt x="1705437" y="0"/>
                    <a:pt x="1719870" y="14433"/>
                    <a:pt x="1719870" y="32237"/>
                  </a:cubicBezTo>
                  <a:lnTo>
                    <a:pt x="1719870" y="1732927"/>
                  </a:lnTo>
                  <a:cubicBezTo>
                    <a:pt x="1719870" y="1741477"/>
                    <a:pt x="1716474" y="1749677"/>
                    <a:pt x="1710428" y="1755722"/>
                  </a:cubicBezTo>
                  <a:cubicBezTo>
                    <a:pt x="1704382" y="1761768"/>
                    <a:pt x="1696183" y="1765164"/>
                    <a:pt x="1687633" y="1765164"/>
                  </a:cubicBezTo>
                  <a:lnTo>
                    <a:pt x="32237" y="1765164"/>
                  </a:lnTo>
                  <a:cubicBezTo>
                    <a:pt x="23687" y="1765164"/>
                    <a:pt x="15488" y="1761768"/>
                    <a:pt x="9442" y="1755722"/>
                  </a:cubicBezTo>
                  <a:cubicBezTo>
                    <a:pt x="3396" y="1749677"/>
                    <a:pt x="0" y="1741477"/>
                    <a:pt x="0" y="1732927"/>
                  </a:cubicBezTo>
                  <a:lnTo>
                    <a:pt x="0" y="32237"/>
                  </a:lnTo>
                  <a:cubicBezTo>
                    <a:pt x="0" y="23687"/>
                    <a:pt x="3396" y="15488"/>
                    <a:pt x="9442" y="9442"/>
                  </a:cubicBezTo>
                  <a:cubicBezTo>
                    <a:pt x="15488" y="3396"/>
                    <a:pt x="23687" y="0"/>
                    <a:pt x="32237" y="0"/>
                  </a:cubicBezTo>
                  <a:close/>
                </a:path>
              </a:pathLst>
            </a:custGeom>
            <a:blipFill>
              <a:blip r:embed="rId2"/>
              <a:stretch>
                <a:fillRect l="-482" t="0" r="-482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875092" y="8561086"/>
            <a:ext cx="1276876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304276" y="8561086"/>
            <a:ext cx="1535835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48103" y="8561086"/>
            <a:ext cx="1166437" cy="562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96"/>
              </a:lnSpc>
            </a:pPr>
            <a:r>
              <a:rPr lang="en-US" b="true" sz="2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화면 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2245" y="236585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구현 화면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3818518"/>
            <a:ext cx="7362096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Noto Sans Kr"/>
                <a:ea typeface="Noto Sans Kr"/>
                <a:cs typeface="Noto Sans Kr"/>
                <a:sym typeface="Noto Sans Kr"/>
              </a:rPr>
              <a:t>앙 기모링 뭐해야 될지 모르겠다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3346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1725453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>
            <a:off x="6440488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>
            <a:off x="11847513" y="4876347"/>
            <a:ext cx="0" cy="3274379"/>
          </a:xfrm>
          <a:prstGeom prst="line">
            <a:avLst/>
          </a:prstGeom>
          <a:ln cap="flat" w="9525">
            <a:solidFill>
              <a:srgbClr val="D1D1D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028700" y="5539094"/>
            <a:ext cx="5411788" cy="744973"/>
            <a:chOff x="0" y="0"/>
            <a:chExt cx="1425327" cy="19620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435725" y="5540831"/>
            <a:ext cx="5411788" cy="744973"/>
            <a:chOff x="0" y="0"/>
            <a:chExt cx="1425327" cy="19620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319213" y="4912784"/>
            <a:ext cx="1813466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01.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26238" y="4921747"/>
            <a:ext cx="1888629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02.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1774" y="4921747"/>
            <a:ext cx="1810643" cy="421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15"/>
              </a:lnSpc>
            </a:pPr>
            <a:r>
              <a:rPr lang="en-US" b="true" sz="2196" spc="-6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Step 03.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19213" y="5629155"/>
            <a:ext cx="3162300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사용자 요청 &amp; Handler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847513" y="5540831"/>
            <a:ext cx="5411788" cy="744973"/>
            <a:chOff x="0" y="0"/>
            <a:chExt cx="1425327" cy="1962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5327" cy="196207"/>
            </a:xfrm>
            <a:custGeom>
              <a:avLst/>
              <a:gdLst/>
              <a:ahLst/>
              <a:cxnLst/>
              <a:rect r="r" b="b" t="t" l="l"/>
              <a:pathLst>
                <a:path h="196207" w="1425327">
                  <a:moveTo>
                    <a:pt x="0" y="0"/>
                  </a:moveTo>
                  <a:lnTo>
                    <a:pt x="1425327" y="0"/>
                  </a:lnTo>
                  <a:lnTo>
                    <a:pt x="1425327" y="196207"/>
                  </a:lnTo>
                  <a:lnTo>
                    <a:pt x="0" y="196207"/>
                  </a:lnTo>
                  <a:close/>
                </a:path>
              </a:pathLst>
            </a:custGeom>
            <a:solidFill>
              <a:srgbClr val="D1D1D1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425327" cy="25335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726238" y="5629155"/>
            <a:ext cx="241789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Service &amp; DAO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31774" y="5629155"/>
            <a:ext cx="3267224" cy="473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97"/>
              </a:lnSpc>
            </a:pPr>
            <a:r>
              <a:rPr lang="en-US" b="true" sz="249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JSP &amp; 응답 반환</a:t>
            </a:r>
          </a:p>
        </p:txBody>
      </p:sp>
      <p:sp>
        <p:nvSpPr>
          <p:cNvPr name="TextBox 21" id="21"/>
          <p:cNvSpPr txBox="true"/>
          <p:nvPr/>
        </p:nvSpPr>
        <p:spPr>
          <a:xfrm rot="7120">
            <a:off x="1320358" y="6612378"/>
            <a:ext cx="4355567" cy="972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사용자가 브라우저에서 URL 요청을 전송합니다.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Handler(Servlet)가 요청을 받아 파라미터를 파싱하고 Service를 호출합니다.</a:t>
            </a:r>
          </a:p>
        </p:txBody>
      </p:sp>
      <p:sp>
        <p:nvSpPr>
          <p:cNvPr name="TextBox 22" id="22"/>
          <p:cNvSpPr txBox="true"/>
          <p:nvPr/>
        </p:nvSpPr>
        <p:spPr>
          <a:xfrm rot="7120">
            <a:off x="6726639" y="6612160"/>
            <a:ext cx="4565493" cy="9723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Service 계층에서 비즈니스 로직을 처리합니다.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DAO를 통해 Oracle DB에 SQL 쿼리를 실행하고 DTO로 결과를 반환합니다.</a:t>
            </a:r>
          </a:p>
        </p:txBody>
      </p:sp>
      <p:sp>
        <p:nvSpPr>
          <p:cNvPr name="TextBox 23" id="23"/>
          <p:cNvSpPr txBox="true"/>
          <p:nvPr/>
        </p:nvSpPr>
        <p:spPr>
          <a:xfrm rot="7120">
            <a:off x="12129300" y="6626039"/>
            <a:ext cx="4481511" cy="1305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Handler가 결과 데이터를 request에 담아 JSP로 포워딩합니다.</a:t>
            </a:r>
          </a:p>
          <a:p>
            <a:pPr algn="l" marL="0" indent="0" lvl="0">
              <a:lnSpc>
                <a:spcPts val="2675"/>
              </a:lnSpc>
            </a:pPr>
            <a:r>
              <a:rPr lang="en-US" sz="1672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JSP(JSTL·EL)가 HTML을 렌더링하여 사용자에게 응답합니다.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49808" y="993179"/>
            <a:ext cx="6626263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03 처리 흐름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7120">
            <a:off x="4063317" y="8820124"/>
            <a:ext cx="10163208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기능 처리 흐름 이미지를 넣으세요.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11847513" y="1361708"/>
            <a:ext cx="4883409" cy="3314614"/>
          </a:xfrm>
          <a:custGeom>
            <a:avLst/>
            <a:gdLst/>
            <a:ahLst/>
            <a:cxnLst/>
            <a:rect r="r" b="b" t="t" l="l"/>
            <a:pathLst>
              <a:path h="3314614" w="4883409">
                <a:moveTo>
                  <a:pt x="0" y="0"/>
                </a:moveTo>
                <a:lnTo>
                  <a:pt x="4883409" y="0"/>
                </a:lnTo>
                <a:lnTo>
                  <a:pt x="4883409" y="3314614"/>
                </a:lnTo>
                <a:lnTo>
                  <a:pt x="0" y="3314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3892" y="4843379"/>
            <a:ext cx="7354788" cy="1916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검색/키워드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43124" y="2813848"/>
            <a:ext cx="8733639" cy="1437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TEAM MEMBER</a:t>
            </a:r>
          </a:p>
          <a:p>
            <a:pPr algn="l" marL="0" indent="0" lvl="0">
              <a:lnSpc>
                <a:spcPts val="5797"/>
              </a:lnSpc>
              <a:spcBef>
                <a:spcPct val="0"/>
              </a:spcBef>
            </a:pPr>
            <a:r>
              <a:rPr lang="en-US" sz="4141">
                <a:solidFill>
                  <a:srgbClr val="2282F3"/>
                </a:solidFill>
                <a:latin typeface="JASO Sans"/>
                <a:ea typeface="JASO Sans"/>
                <a:cs typeface="JASO Sans"/>
                <a:sym typeface="JASO Sans"/>
              </a:rPr>
              <a:t>안정빈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305322" y="3942282"/>
            <a:ext cx="9108032" cy="8424930"/>
          </a:xfrm>
          <a:custGeom>
            <a:avLst/>
            <a:gdLst/>
            <a:ahLst/>
            <a:cxnLst/>
            <a:rect r="r" b="b" t="t" l="l"/>
            <a:pathLst>
              <a:path h="8424930" w="9108032">
                <a:moveTo>
                  <a:pt x="0" y="0"/>
                </a:moveTo>
                <a:lnTo>
                  <a:pt x="9108032" y="0"/>
                </a:lnTo>
                <a:lnTo>
                  <a:pt x="9108032" y="8424930"/>
                </a:lnTo>
                <a:lnTo>
                  <a:pt x="0" y="84249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933892" y="6811153"/>
            <a:ext cx="7354788" cy="1916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48"/>
              </a:lnSpc>
              <a:spcBef>
                <a:spcPct val="0"/>
              </a:spcBef>
            </a:pPr>
            <a:r>
              <a:rPr lang="en-US" b="true" sz="8993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관리자/판매자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48646" y="2397411"/>
            <a:ext cx="15590707" cy="1975482"/>
            <a:chOff x="0" y="0"/>
            <a:chExt cx="3207964" cy="40647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406478"/>
            </a:xfrm>
            <a:custGeom>
              <a:avLst/>
              <a:gdLst/>
              <a:ahLst/>
              <a:cxnLst/>
              <a:rect r="r" b="b" t="t" l="l"/>
              <a:pathLst>
                <a:path h="406478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96779"/>
                  </a:lnTo>
                  <a:cubicBezTo>
                    <a:pt x="3207964" y="402136"/>
                    <a:pt x="3203622" y="406478"/>
                    <a:pt x="3198266" y="406478"/>
                  </a:cubicBezTo>
                  <a:lnTo>
                    <a:pt x="9699" y="406478"/>
                  </a:lnTo>
                  <a:cubicBezTo>
                    <a:pt x="4342" y="406478"/>
                    <a:pt x="0" y="402136"/>
                    <a:pt x="0" y="396779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463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5015416"/>
            <a:ext cx="15590707" cy="1960354"/>
            <a:chOff x="0" y="0"/>
            <a:chExt cx="3207964" cy="40336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403365"/>
            </a:xfrm>
            <a:custGeom>
              <a:avLst/>
              <a:gdLst/>
              <a:ahLst/>
              <a:cxnLst/>
              <a:rect r="r" b="b" t="t" l="l"/>
              <a:pathLst>
                <a:path h="403365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93666"/>
                  </a:lnTo>
                  <a:cubicBezTo>
                    <a:pt x="3207964" y="399023"/>
                    <a:pt x="3203622" y="403365"/>
                    <a:pt x="3198266" y="403365"/>
                  </a:cubicBezTo>
                  <a:lnTo>
                    <a:pt x="9699" y="403365"/>
                  </a:lnTo>
                  <a:cubicBezTo>
                    <a:pt x="7126" y="403365"/>
                    <a:pt x="4660" y="402343"/>
                    <a:pt x="2841" y="400524"/>
                  </a:cubicBezTo>
                  <a:cubicBezTo>
                    <a:pt x="1022" y="398706"/>
                    <a:pt x="0" y="396239"/>
                    <a:pt x="0" y="39366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4605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7463218"/>
            <a:ext cx="15590707" cy="2699668"/>
            <a:chOff x="0" y="0"/>
            <a:chExt cx="3207964" cy="5554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555487"/>
            </a:xfrm>
            <a:custGeom>
              <a:avLst/>
              <a:gdLst/>
              <a:ahLst/>
              <a:cxnLst/>
              <a:rect r="r" b="b" t="t" l="l"/>
              <a:pathLst>
                <a:path h="555487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545789"/>
                  </a:lnTo>
                  <a:cubicBezTo>
                    <a:pt x="3207964" y="548361"/>
                    <a:pt x="3206943" y="550828"/>
                    <a:pt x="3205124" y="552647"/>
                  </a:cubicBezTo>
                  <a:cubicBezTo>
                    <a:pt x="3203305" y="554465"/>
                    <a:pt x="3200838" y="555487"/>
                    <a:pt x="3198266" y="555487"/>
                  </a:cubicBezTo>
                  <a:lnTo>
                    <a:pt x="9699" y="555487"/>
                  </a:lnTo>
                  <a:cubicBezTo>
                    <a:pt x="4342" y="555487"/>
                    <a:pt x="0" y="551145"/>
                    <a:pt x="0" y="545789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6126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985473" y="3236843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985473" y="5804010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809018" y="8526967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2117103" y="8177755"/>
            <a:ext cx="933067" cy="1058799"/>
          </a:xfrm>
          <a:custGeom>
            <a:avLst/>
            <a:gdLst/>
            <a:ahLst/>
            <a:cxnLst/>
            <a:rect r="r" b="b" t="t" l="l"/>
            <a:pathLst>
              <a:path h="1058799" w="933067">
                <a:moveTo>
                  <a:pt x="0" y="0"/>
                </a:moveTo>
                <a:lnTo>
                  <a:pt x="933067" y="0"/>
                </a:lnTo>
                <a:lnTo>
                  <a:pt x="933067" y="1058800"/>
                </a:lnTo>
                <a:lnTo>
                  <a:pt x="0" y="10588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934117" y="5392068"/>
            <a:ext cx="1097094" cy="1048299"/>
          </a:xfrm>
          <a:custGeom>
            <a:avLst/>
            <a:gdLst/>
            <a:ahLst/>
            <a:cxnLst/>
            <a:rect r="r" b="b" t="t" l="l"/>
            <a:pathLst>
              <a:path h="1048299" w="1097094">
                <a:moveTo>
                  <a:pt x="0" y="0"/>
                </a:moveTo>
                <a:lnTo>
                  <a:pt x="1097094" y="0"/>
                </a:lnTo>
                <a:lnTo>
                  <a:pt x="1097094" y="1048299"/>
                </a:lnTo>
                <a:lnTo>
                  <a:pt x="0" y="10482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934117" y="2614633"/>
            <a:ext cx="1254318" cy="1386351"/>
          </a:xfrm>
          <a:custGeom>
            <a:avLst/>
            <a:gdLst/>
            <a:ahLst/>
            <a:cxnLst/>
            <a:rect r="r" b="b" t="t" l="l"/>
            <a:pathLst>
              <a:path h="1386351" w="1254318">
                <a:moveTo>
                  <a:pt x="0" y="0"/>
                </a:moveTo>
                <a:lnTo>
                  <a:pt x="1254318" y="0"/>
                </a:lnTo>
                <a:lnTo>
                  <a:pt x="1254318" y="1386351"/>
                </a:lnTo>
                <a:lnTo>
                  <a:pt x="0" y="13863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904226" y="2808298"/>
            <a:ext cx="7654912" cy="1174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쇼핑몰</a:t>
            </a: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 통합 검색 및 실시간 키워드 시스템 구축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판매자(Seller) 전용 백오피스(상품/배송/정산) 시스템 개발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관리자(Admin) 통합 제어(회원/판매자/상품/정산) 시스템 개발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691627" y="3122543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담당 기능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903813" y="5492534"/>
            <a:ext cx="6443763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JSP·Servlet </a:t>
            </a: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기반 MVC2 아키텍처 적용 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예외 변수를 고려한 견고한 비즈니스 로직 구현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605782" y="5678314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목표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6738824" y="7823055"/>
            <a:ext cx="9960201" cy="19748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[검색/키워드 시스템] 상품 검색 페이지 구현 및 검색 빈도 기반 인기 검색어 랭킹 산출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[일반 회원 기능] 배송지 등록 및 관리 모듈 구현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[판매자 시스템] 상품 CRUD, 주문 CS 처리 및 판매 정산액 확인</a:t>
            </a:r>
          </a:p>
          <a:p>
            <a:pPr algn="l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[관리자 시스템] 신규 판매자 가입 승인, 전체 회원(일반/판매자) 계정 관리, 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                         플랫폼 전체 상품 제어 및 정산 승인, 쿠폰 생성 및 배포 기능 구현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389876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범위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12146" y="1000268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01   담당 영역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6834" y="1835592"/>
            <a:ext cx="8910586" cy="3624967"/>
          </a:xfrm>
          <a:custGeom>
            <a:avLst/>
            <a:gdLst/>
            <a:ahLst/>
            <a:cxnLst/>
            <a:rect r="r" b="b" t="t" l="l"/>
            <a:pathLst>
              <a:path h="3624967" w="8910586">
                <a:moveTo>
                  <a:pt x="0" y="0"/>
                </a:moveTo>
                <a:lnTo>
                  <a:pt x="8910586" y="0"/>
                </a:lnTo>
                <a:lnTo>
                  <a:pt x="8910586" y="3624966"/>
                </a:lnTo>
                <a:lnTo>
                  <a:pt x="0" y="36249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75829" y="5608166"/>
            <a:ext cx="7592597" cy="5096109"/>
          </a:xfrm>
          <a:custGeom>
            <a:avLst/>
            <a:gdLst/>
            <a:ahLst/>
            <a:cxnLst/>
            <a:rect r="r" b="b" t="t" l="l"/>
            <a:pathLst>
              <a:path h="5096109" w="7592597">
                <a:moveTo>
                  <a:pt x="0" y="0"/>
                </a:moveTo>
                <a:lnTo>
                  <a:pt x="7592597" y="0"/>
                </a:lnTo>
                <a:lnTo>
                  <a:pt x="7592597" y="5096108"/>
                </a:lnTo>
                <a:lnTo>
                  <a:pt x="0" y="50961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105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00022" y="841232"/>
            <a:ext cx="4382741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  주요 코드 설명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68301" y="2903816"/>
            <a:ext cx="7090999" cy="977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MERGE INTO 문을 활용하여 검색어 존재 여부 확인과 </a:t>
            </a:r>
          </a:p>
          <a:p>
            <a:pPr algn="ctr">
              <a:lnSpc>
                <a:spcPts val="39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INSERT/UPDATE 작업을 </a:t>
            </a: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단일 쿼리로 처리했습니다.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654844" y="7354478"/>
            <a:ext cx="8117913" cy="977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setInterval 함수를 이용해 2초 단위로 검색어 순위가 교체되는 </a:t>
            </a:r>
          </a:p>
          <a:p>
            <a:pPr algn="ctr">
              <a:lnSpc>
                <a:spcPts val="39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롤링 애니메이션을 구현했습니다.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1804" y="2085959"/>
            <a:ext cx="9205457" cy="7743841"/>
          </a:xfrm>
          <a:custGeom>
            <a:avLst/>
            <a:gdLst/>
            <a:ahLst/>
            <a:cxnLst/>
            <a:rect r="r" b="b" t="t" l="l"/>
            <a:pathLst>
              <a:path h="7743841" w="9205457">
                <a:moveTo>
                  <a:pt x="0" y="0"/>
                </a:moveTo>
                <a:lnTo>
                  <a:pt x="9205458" y="0"/>
                </a:lnTo>
                <a:lnTo>
                  <a:pt x="9205458" y="7743841"/>
                </a:lnTo>
                <a:lnTo>
                  <a:pt x="0" y="77438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00022" y="841232"/>
            <a:ext cx="4382741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02   주요 코드 설명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314542" y="3050790"/>
            <a:ext cx="6655264" cy="6026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화</a:t>
            </a: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면에 입력된 모든 옵션값들을 수집하여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쉼표 기준값으로 split 하고, trim 과 filter 를 이용해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실수로 들어간 공백과 빈 값들을 정제하였습니다</a:t>
            </a:r>
          </a:p>
          <a:p>
            <a:pPr algn="ctr">
              <a:lnSpc>
                <a:spcPts val="3999"/>
              </a:lnSpc>
            </a:pP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reduce 와 flatMap 메서드를 사용하여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모든 옵션 조합의 경우의 수를 구하였습니다</a:t>
            </a:r>
          </a:p>
          <a:p>
            <a:pPr algn="ctr">
              <a:lnSpc>
                <a:spcPts val="3999"/>
              </a:lnSpc>
            </a:pP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산출된 조합의 배열을 / 기호를 통해 결합하여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createElement 과 appendChild 를 통해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 옵션 조합별 가격·재고 입력 테이블의 행을 </a:t>
            </a:r>
          </a:p>
          <a:p>
            <a:pPr algn="ctr">
              <a:lnSpc>
                <a:spcPts val="3999"/>
              </a:lnSpc>
            </a:pPr>
            <a:r>
              <a:rPr lang="en-US" sz="2499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동적으로 생성 하였습니다 </a:t>
            </a:r>
          </a:p>
          <a:p>
            <a:pPr algn="ctr">
              <a:lnSpc>
                <a:spcPts val="39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2245" y="2432701"/>
            <a:ext cx="15590707" cy="1521639"/>
            <a:chOff x="0" y="0"/>
            <a:chExt cx="3207964" cy="31309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157CE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2245" y="4954181"/>
            <a:ext cx="15590707" cy="1521639"/>
            <a:chOff x="0" y="0"/>
            <a:chExt cx="3207964" cy="31309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35D19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352245" y="7627663"/>
            <a:ext cx="15590707" cy="1521639"/>
            <a:chOff x="0" y="0"/>
            <a:chExt cx="3207964" cy="31309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07964" cy="313094"/>
            </a:xfrm>
            <a:custGeom>
              <a:avLst/>
              <a:gdLst/>
              <a:ahLst/>
              <a:cxnLst/>
              <a:rect r="r" b="b" t="t" l="l"/>
              <a:pathLst>
                <a:path h="313094" w="3207964">
                  <a:moveTo>
                    <a:pt x="9699" y="0"/>
                  </a:moveTo>
                  <a:lnTo>
                    <a:pt x="3198266" y="0"/>
                  </a:lnTo>
                  <a:cubicBezTo>
                    <a:pt x="3203622" y="0"/>
                    <a:pt x="3207964" y="4342"/>
                    <a:pt x="3207964" y="9699"/>
                  </a:cubicBezTo>
                  <a:lnTo>
                    <a:pt x="3207964" y="303396"/>
                  </a:lnTo>
                  <a:cubicBezTo>
                    <a:pt x="3207964" y="305968"/>
                    <a:pt x="3206943" y="308435"/>
                    <a:pt x="3205124" y="310254"/>
                  </a:cubicBezTo>
                  <a:cubicBezTo>
                    <a:pt x="3203305" y="312073"/>
                    <a:pt x="3200838" y="313094"/>
                    <a:pt x="3198266" y="313094"/>
                  </a:cubicBezTo>
                  <a:lnTo>
                    <a:pt x="9699" y="313094"/>
                  </a:lnTo>
                  <a:cubicBezTo>
                    <a:pt x="4342" y="313094"/>
                    <a:pt x="0" y="308752"/>
                    <a:pt x="0" y="303396"/>
                  </a:cubicBezTo>
                  <a:lnTo>
                    <a:pt x="0" y="9699"/>
                  </a:lnTo>
                  <a:cubicBezTo>
                    <a:pt x="0" y="4342"/>
                    <a:pt x="4342" y="0"/>
                    <a:pt x="9699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3207964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547108" y="3137794"/>
            <a:ext cx="383167" cy="383167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547108" y="5523417"/>
            <a:ext cx="383167" cy="383167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547108" y="8196899"/>
            <a:ext cx="383167" cy="383167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46050"/>
              <a:ext cx="711200" cy="463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798801" y="7683568"/>
            <a:ext cx="1535806" cy="1381773"/>
          </a:xfrm>
          <a:custGeom>
            <a:avLst/>
            <a:gdLst/>
            <a:ahLst/>
            <a:cxnLst/>
            <a:rect r="r" b="b" t="t" l="l"/>
            <a:pathLst>
              <a:path h="1381773" w="1535806">
                <a:moveTo>
                  <a:pt x="0" y="0"/>
                </a:moveTo>
                <a:lnTo>
                  <a:pt x="1535807" y="0"/>
                </a:lnTo>
                <a:lnTo>
                  <a:pt x="1535807" y="1381772"/>
                </a:lnTo>
                <a:lnTo>
                  <a:pt x="0" y="13817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012543" y="5160364"/>
            <a:ext cx="1224116" cy="1290851"/>
          </a:xfrm>
          <a:custGeom>
            <a:avLst/>
            <a:gdLst/>
            <a:ahLst/>
            <a:cxnLst/>
            <a:rect r="r" b="b" t="t" l="l"/>
            <a:pathLst>
              <a:path h="1290851" w="1224116">
                <a:moveTo>
                  <a:pt x="0" y="0"/>
                </a:moveTo>
                <a:lnTo>
                  <a:pt x="1224116" y="0"/>
                </a:lnTo>
                <a:lnTo>
                  <a:pt x="1224116" y="1290851"/>
                </a:lnTo>
                <a:lnTo>
                  <a:pt x="0" y="12908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837351" y="2533077"/>
            <a:ext cx="1475852" cy="1320887"/>
          </a:xfrm>
          <a:custGeom>
            <a:avLst/>
            <a:gdLst/>
            <a:ahLst/>
            <a:cxnLst/>
            <a:rect r="r" b="b" t="t" l="l"/>
            <a:pathLst>
              <a:path h="1320887" w="1475852">
                <a:moveTo>
                  <a:pt x="0" y="0"/>
                </a:moveTo>
                <a:lnTo>
                  <a:pt x="1475851" y="0"/>
                </a:lnTo>
                <a:lnTo>
                  <a:pt x="1475851" y="1320887"/>
                </a:lnTo>
                <a:lnTo>
                  <a:pt x="0" y="13208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7120">
            <a:off x="7920185" y="3116166"/>
            <a:ext cx="6126944" cy="374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발생한 문제와 오류 현상을 작성하세요.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06755" y="3011218"/>
            <a:ext cx="1352401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상황</a:t>
            </a:r>
          </a:p>
        </p:txBody>
      </p:sp>
      <p:sp>
        <p:nvSpPr>
          <p:cNvPr name="TextBox 25" id="25"/>
          <p:cNvSpPr txBox="true"/>
          <p:nvPr/>
        </p:nvSpPr>
        <p:spPr>
          <a:xfrm rot="7120">
            <a:off x="7919935" y="5252923"/>
            <a:ext cx="6443763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문제의 원인과 확인 과정을 작성하세요.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FFFFFF"/>
                </a:solidFill>
                <a:latin typeface="JASO Sans"/>
                <a:ea typeface="JASO Sans"/>
                <a:cs typeface="JASO Sans"/>
                <a:sym typeface="JASO Sans"/>
              </a:rPr>
              <a:t>원인을 파악하기 위해 시도한 방법을 서술하세요.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06755" y="5396841"/>
            <a:ext cx="2485430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 분석</a:t>
            </a:r>
          </a:p>
        </p:txBody>
      </p:sp>
      <p:sp>
        <p:nvSpPr>
          <p:cNvPr name="TextBox 27" id="27"/>
          <p:cNvSpPr txBox="true"/>
          <p:nvPr/>
        </p:nvSpPr>
        <p:spPr>
          <a:xfrm rot="7120">
            <a:off x="7919936" y="7926781"/>
            <a:ext cx="6126779" cy="774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적용한 해결 방법과 결과를 작성하세요.</a:t>
            </a:r>
          </a:p>
          <a:p>
            <a:pPr algn="l" marL="0" indent="0" lvl="0">
              <a:lnSpc>
                <a:spcPts val="3195"/>
              </a:lnSpc>
            </a:pPr>
            <a:r>
              <a:rPr lang="en-US" sz="1997" strike="noStrike" u="none">
                <a:solidFill>
                  <a:srgbClr val="000000"/>
                </a:solidFill>
                <a:latin typeface="JASO Sans"/>
                <a:ea typeface="JASO Sans"/>
                <a:cs typeface="JASO Sans"/>
                <a:sym typeface="JASO Sans"/>
              </a:rPr>
              <a:t>해결 후 개선된 사항을 정리하세요.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706755" y="8070323"/>
            <a:ext cx="2076152" cy="520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13"/>
              </a:lnSpc>
            </a:pPr>
            <a:r>
              <a:rPr lang="en-US" b="true" sz="2696" spc="-8">
                <a:solidFill>
                  <a:srgbClr val="000000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해결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28700" y="1002034"/>
            <a:ext cx="3838129" cy="758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395"/>
              </a:lnSpc>
            </a:pPr>
            <a:r>
              <a:rPr lang="en-US" b="true" sz="3997" spc="-8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문제 및 해결</a:t>
            </a:r>
          </a:p>
        </p:txBody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723214" y="2686179"/>
            <a:ext cx="13128441" cy="1090104"/>
            <a:chOff x="0" y="0"/>
            <a:chExt cx="3457696" cy="2871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457696" cy="287106"/>
            </a:xfrm>
            <a:custGeom>
              <a:avLst/>
              <a:gdLst/>
              <a:ahLst/>
              <a:cxnLst/>
              <a:rect r="r" b="b" t="t" l="l"/>
              <a:pathLst>
                <a:path h="287106" w="3457696">
                  <a:moveTo>
                    <a:pt x="14743" y="0"/>
                  </a:moveTo>
                  <a:lnTo>
                    <a:pt x="3442954" y="0"/>
                  </a:lnTo>
                  <a:cubicBezTo>
                    <a:pt x="3446864" y="0"/>
                    <a:pt x="3450613" y="1553"/>
                    <a:pt x="3453378" y="4318"/>
                  </a:cubicBezTo>
                  <a:cubicBezTo>
                    <a:pt x="3456143" y="7083"/>
                    <a:pt x="3457696" y="10833"/>
                    <a:pt x="3457696" y="14743"/>
                  </a:cubicBezTo>
                  <a:lnTo>
                    <a:pt x="3457696" y="272363"/>
                  </a:lnTo>
                  <a:cubicBezTo>
                    <a:pt x="3457696" y="276273"/>
                    <a:pt x="3456143" y="280023"/>
                    <a:pt x="3453378" y="282788"/>
                  </a:cubicBezTo>
                  <a:cubicBezTo>
                    <a:pt x="3450613" y="285552"/>
                    <a:pt x="3446864" y="287106"/>
                    <a:pt x="3442954" y="287106"/>
                  </a:cubicBezTo>
                  <a:lnTo>
                    <a:pt x="14743" y="287106"/>
                  </a:lnTo>
                  <a:cubicBezTo>
                    <a:pt x="10833" y="287106"/>
                    <a:pt x="7083" y="285552"/>
                    <a:pt x="4318" y="282788"/>
                  </a:cubicBezTo>
                  <a:cubicBezTo>
                    <a:pt x="1553" y="280023"/>
                    <a:pt x="0" y="276273"/>
                    <a:pt x="0" y="272363"/>
                  </a:cubicBezTo>
                  <a:lnTo>
                    <a:pt x="0" y="14743"/>
                  </a:lnTo>
                  <a:cubicBezTo>
                    <a:pt x="0" y="10833"/>
                    <a:pt x="1553" y="7083"/>
                    <a:pt x="4318" y="4318"/>
                  </a:cubicBezTo>
                  <a:cubicBezTo>
                    <a:pt x="7083" y="1553"/>
                    <a:pt x="10833" y="0"/>
                    <a:pt x="14743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3457696" cy="3728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720"/>
                </a:lnSpc>
              </a:pPr>
              <a:r>
                <a:rPr lang="en-US" sz="1700">
                  <a:solidFill>
                    <a:srgbClr val="000000"/>
                  </a:solidFill>
                  <a:latin typeface="210 네버랜드"/>
                  <a:ea typeface="210 네버랜드"/>
                  <a:cs typeface="210 네버랜드"/>
                  <a:sym typeface="210 네버랜드"/>
                </a:rPr>
                <a:t>시간 내에 본인이 어디까지 할 수 있는지, 500/404 오류 등에 어떻게 대처하는지, 컨디션&amp;일정 관리 등등 여러 주제로 시험받는 느낌이 들었습니다. 작업하다보니 예상치 못한 오류나 요구 분석 등에서 빠뜨린 부분이 나왔지만, 팀원들이 옆에서 열심히 하는 분위기를 조성해주셔서 제가 생각한 것보다 더 해낼 수 있었고 많은 의지가 되었습니다. 이번 프로젝트를 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64804" y="2686179"/>
            <a:ext cx="3158410" cy="1023583"/>
            <a:chOff x="0" y="0"/>
            <a:chExt cx="831845" cy="26958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31845" cy="269586"/>
            </a:xfrm>
            <a:custGeom>
              <a:avLst/>
              <a:gdLst/>
              <a:ahLst/>
              <a:cxnLst/>
              <a:rect r="r" b="b" t="t" l="l"/>
              <a:pathLst>
                <a:path h="269586" w="831845">
                  <a:moveTo>
                    <a:pt x="61280" y="0"/>
                  </a:moveTo>
                  <a:lnTo>
                    <a:pt x="770564" y="0"/>
                  </a:lnTo>
                  <a:cubicBezTo>
                    <a:pt x="804409" y="0"/>
                    <a:pt x="831845" y="27436"/>
                    <a:pt x="831845" y="61280"/>
                  </a:cubicBezTo>
                  <a:lnTo>
                    <a:pt x="831845" y="208305"/>
                  </a:lnTo>
                  <a:cubicBezTo>
                    <a:pt x="831845" y="224558"/>
                    <a:pt x="825388" y="240145"/>
                    <a:pt x="813896" y="251637"/>
                  </a:cubicBezTo>
                  <a:cubicBezTo>
                    <a:pt x="802404" y="263129"/>
                    <a:pt x="786817" y="269586"/>
                    <a:pt x="770564" y="269586"/>
                  </a:cubicBezTo>
                  <a:lnTo>
                    <a:pt x="61280" y="269586"/>
                  </a:lnTo>
                  <a:cubicBezTo>
                    <a:pt x="45028" y="269586"/>
                    <a:pt x="29441" y="263129"/>
                    <a:pt x="17949" y="251637"/>
                  </a:cubicBezTo>
                  <a:cubicBezTo>
                    <a:pt x="6456" y="240145"/>
                    <a:pt x="0" y="224558"/>
                    <a:pt x="0" y="208305"/>
                  </a:cubicBezTo>
                  <a:lnTo>
                    <a:pt x="0" y="61280"/>
                  </a:lnTo>
                  <a:cubicBezTo>
                    <a:pt x="0" y="45028"/>
                    <a:pt x="6456" y="29441"/>
                    <a:pt x="17949" y="17949"/>
                  </a:cubicBezTo>
                  <a:cubicBezTo>
                    <a:pt x="29441" y="6456"/>
                    <a:pt x="45028" y="0"/>
                    <a:pt x="61280" y="0"/>
                  </a:cubicBezTo>
                  <a:close/>
                </a:path>
              </a:pathLst>
            </a:custGeom>
            <a:solidFill>
              <a:srgbClr val="157CEE"/>
            </a:solidFill>
            <a:ln w="9525" cap="rnd">
              <a:solidFill>
                <a:srgbClr val="157CEE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85725"/>
              <a:ext cx="831845" cy="355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  <a:r>
                <a:rPr lang="en-US" sz="2199">
                  <a:solidFill>
                    <a:srgbClr val="000000"/>
                  </a:solidFill>
                  <a:latin typeface="둥근펜"/>
                  <a:ea typeface="둥근펜"/>
                  <a:cs typeface="둥근펜"/>
                  <a:sym typeface="둥근펜"/>
                </a:rPr>
                <a:t>문규리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959380" y="4550857"/>
            <a:ext cx="1528535" cy="45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834"/>
              </a:lnSpc>
            </a:pPr>
            <a:r>
              <a:rPr lang="en-US" b="true" sz="239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구현 결과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723214" y="3804537"/>
            <a:ext cx="13128441" cy="1023583"/>
            <a:chOff x="0" y="0"/>
            <a:chExt cx="3457696" cy="26958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57696" cy="269586"/>
            </a:xfrm>
            <a:custGeom>
              <a:avLst/>
              <a:gdLst/>
              <a:ahLst/>
              <a:cxnLst/>
              <a:rect r="r" b="b" t="t" l="l"/>
              <a:pathLst>
                <a:path h="269586" w="3457696">
                  <a:moveTo>
                    <a:pt x="14743" y="0"/>
                  </a:moveTo>
                  <a:lnTo>
                    <a:pt x="3442954" y="0"/>
                  </a:lnTo>
                  <a:cubicBezTo>
                    <a:pt x="3446864" y="0"/>
                    <a:pt x="3450613" y="1553"/>
                    <a:pt x="3453378" y="4318"/>
                  </a:cubicBezTo>
                  <a:cubicBezTo>
                    <a:pt x="3456143" y="7083"/>
                    <a:pt x="3457696" y="10833"/>
                    <a:pt x="3457696" y="14743"/>
                  </a:cubicBezTo>
                  <a:lnTo>
                    <a:pt x="3457696" y="254843"/>
                  </a:lnTo>
                  <a:cubicBezTo>
                    <a:pt x="3457696" y="258753"/>
                    <a:pt x="3456143" y="262503"/>
                    <a:pt x="3453378" y="265268"/>
                  </a:cubicBezTo>
                  <a:cubicBezTo>
                    <a:pt x="3450613" y="268032"/>
                    <a:pt x="3446864" y="269586"/>
                    <a:pt x="3442954" y="269586"/>
                  </a:cubicBezTo>
                  <a:lnTo>
                    <a:pt x="14743" y="269586"/>
                  </a:lnTo>
                  <a:cubicBezTo>
                    <a:pt x="10833" y="269586"/>
                    <a:pt x="7083" y="268032"/>
                    <a:pt x="4318" y="265268"/>
                  </a:cubicBezTo>
                  <a:cubicBezTo>
                    <a:pt x="1553" y="262503"/>
                    <a:pt x="0" y="258753"/>
                    <a:pt x="0" y="254843"/>
                  </a:cubicBezTo>
                  <a:lnTo>
                    <a:pt x="0" y="14743"/>
                  </a:lnTo>
                  <a:cubicBezTo>
                    <a:pt x="0" y="10833"/>
                    <a:pt x="1553" y="7083"/>
                    <a:pt x="4318" y="4318"/>
                  </a:cubicBezTo>
                  <a:cubicBezTo>
                    <a:pt x="7083" y="1553"/>
                    <a:pt x="10833" y="0"/>
                    <a:pt x="14743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35D19C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0"/>
              <a:ext cx="3457696" cy="3648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64804" y="3804537"/>
            <a:ext cx="3158410" cy="1023583"/>
            <a:chOff x="0" y="0"/>
            <a:chExt cx="831845" cy="26958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31845" cy="269586"/>
            </a:xfrm>
            <a:custGeom>
              <a:avLst/>
              <a:gdLst/>
              <a:ahLst/>
              <a:cxnLst/>
              <a:rect r="r" b="b" t="t" l="l"/>
              <a:pathLst>
                <a:path h="269586" w="831845">
                  <a:moveTo>
                    <a:pt x="61280" y="0"/>
                  </a:moveTo>
                  <a:lnTo>
                    <a:pt x="770564" y="0"/>
                  </a:lnTo>
                  <a:cubicBezTo>
                    <a:pt x="804409" y="0"/>
                    <a:pt x="831845" y="27436"/>
                    <a:pt x="831845" y="61280"/>
                  </a:cubicBezTo>
                  <a:lnTo>
                    <a:pt x="831845" y="208305"/>
                  </a:lnTo>
                  <a:cubicBezTo>
                    <a:pt x="831845" y="224558"/>
                    <a:pt x="825388" y="240145"/>
                    <a:pt x="813896" y="251637"/>
                  </a:cubicBezTo>
                  <a:cubicBezTo>
                    <a:pt x="802404" y="263129"/>
                    <a:pt x="786817" y="269586"/>
                    <a:pt x="770564" y="269586"/>
                  </a:cubicBezTo>
                  <a:lnTo>
                    <a:pt x="61280" y="269586"/>
                  </a:lnTo>
                  <a:cubicBezTo>
                    <a:pt x="45028" y="269586"/>
                    <a:pt x="29441" y="263129"/>
                    <a:pt x="17949" y="251637"/>
                  </a:cubicBezTo>
                  <a:cubicBezTo>
                    <a:pt x="6456" y="240145"/>
                    <a:pt x="0" y="224558"/>
                    <a:pt x="0" y="208305"/>
                  </a:cubicBezTo>
                  <a:lnTo>
                    <a:pt x="0" y="61280"/>
                  </a:lnTo>
                  <a:cubicBezTo>
                    <a:pt x="0" y="45028"/>
                    <a:pt x="6456" y="29441"/>
                    <a:pt x="17949" y="17949"/>
                  </a:cubicBezTo>
                  <a:cubicBezTo>
                    <a:pt x="29441" y="6456"/>
                    <a:pt x="45028" y="0"/>
                    <a:pt x="61280" y="0"/>
                  </a:cubicBezTo>
                  <a:close/>
                </a:path>
              </a:pathLst>
            </a:custGeom>
            <a:solidFill>
              <a:srgbClr val="35D19C"/>
            </a:solidFill>
            <a:ln w="9525" cap="rnd">
              <a:solidFill>
                <a:srgbClr val="35D19C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85725"/>
              <a:ext cx="831845" cy="355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  <a:r>
                <a:rPr lang="en-US" sz="2199">
                  <a:solidFill>
                    <a:srgbClr val="000000"/>
                  </a:solidFill>
                  <a:latin typeface="둥근펜"/>
                  <a:ea typeface="둥근펜"/>
                  <a:cs typeface="둥근펜"/>
                  <a:sym typeface="둥근펜"/>
                </a:rPr>
                <a:t>조지훈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560539" y="4939099"/>
            <a:ext cx="16275387" cy="1023583"/>
            <a:chOff x="0" y="0"/>
            <a:chExt cx="21700516" cy="1364777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4243635" y="0"/>
              <a:ext cx="17456881" cy="1364777"/>
              <a:chOff x="0" y="0"/>
              <a:chExt cx="3448273" cy="269586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3448273" cy="269586"/>
              </a:xfrm>
              <a:custGeom>
                <a:avLst/>
                <a:gdLst/>
                <a:ahLst/>
                <a:cxnLst/>
                <a:rect r="r" b="b" t="t" l="l"/>
                <a:pathLst>
                  <a:path h="269586" w="3448273">
                    <a:moveTo>
                      <a:pt x="14783" y="0"/>
                    </a:moveTo>
                    <a:lnTo>
                      <a:pt x="3433490" y="0"/>
                    </a:lnTo>
                    <a:cubicBezTo>
                      <a:pt x="3437411" y="0"/>
                      <a:pt x="3441171" y="1557"/>
                      <a:pt x="3443943" y="4330"/>
                    </a:cubicBezTo>
                    <a:cubicBezTo>
                      <a:pt x="3446715" y="7102"/>
                      <a:pt x="3448273" y="10862"/>
                      <a:pt x="3448273" y="14783"/>
                    </a:cubicBezTo>
                    <a:lnTo>
                      <a:pt x="3448273" y="254803"/>
                    </a:lnTo>
                    <a:cubicBezTo>
                      <a:pt x="3448273" y="262967"/>
                      <a:pt x="3441654" y="269586"/>
                      <a:pt x="3433490" y="269586"/>
                    </a:cubicBezTo>
                    <a:lnTo>
                      <a:pt x="14783" y="269586"/>
                    </a:lnTo>
                    <a:cubicBezTo>
                      <a:pt x="10862" y="269586"/>
                      <a:pt x="7102" y="268028"/>
                      <a:pt x="4330" y="265256"/>
                    </a:cubicBezTo>
                    <a:cubicBezTo>
                      <a:pt x="1557" y="262483"/>
                      <a:pt x="0" y="258723"/>
                      <a:pt x="0" y="254803"/>
                    </a:cubicBezTo>
                    <a:lnTo>
                      <a:pt x="0" y="14783"/>
                    </a:lnTo>
                    <a:cubicBezTo>
                      <a:pt x="0" y="6619"/>
                      <a:pt x="6619" y="0"/>
                      <a:pt x="14783" y="0"/>
                    </a:cubicBezTo>
                    <a:close/>
                  </a:path>
                </a:pathLst>
              </a:custGeom>
              <a:solidFill>
                <a:srgbClr val="FAFAFA"/>
              </a:solidFill>
              <a:ln w="19050" cap="rnd">
                <a:solidFill>
                  <a:srgbClr val="D1D1D1"/>
                </a:solidFill>
                <a:prstDash val="solid"/>
                <a:round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142875"/>
                <a:ext cx="3448273" cy="41246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47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0">
              <a:off x="0" y="0"/>
              <a:ext cx="4243635" cy="1364777"/>
              <a:chOff x="0" y="0"/>
              <a:chExt cx="838249" cy="269586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38249" cy="269586"/>
              </a:xfrm>
              <a:custGeom>
                <a:avLst/>
                <a:gdLst/>
                <a:ahLst/>
                <a:cxnLst/>
                <a:rect r="r" b="b" t="t" l="l"/>
                <a:pathLst>
                  <a:path h="269586" w="838249">
                    <a:moveTo>
                      <a:pt x="60812" y="0"/>
                    </a:moveTo>
                    <a:lnTo>
                      <a:pt x="777437" y="0"/>
                    </a:lnTo>
                    <a:cubicBezTo>
                      <a:pt x="793565" y="0"/>
                      <a:pt x="809033" y="6407"/>
                      <a:pt x="820438" y="17811"/>
                    </a:cubicBezTo>
                    <a:cubicBezTo>
                      <a:pt x="831842" y="29216"/>
                      <a:pt x="838249" y="44684"/>
                      <a:pt x="838249" y="60812"/>
                    </a:cubicBezTo>
                    <a:lnTo>
                      <a:pt x="838249" y="208774"/>
                    </a:lnTo>
                    <a:cubicBezTo>
                      <a:pt x="838249" y="224902"/>
                      <a:pt x="831842" y="240370"/>
                      <a:pt x="820438" y="251774"/>
                    </a:cubicBezTo>
                    <a:cubicBezTo>
                      <a:pt x="809033" y="263179"/>
                      <a:pt x="793565" y="269586"/>
                      <a:pt x="777437" y="269586"/>
                    </a:cubicBezTo>
                    <a:lnTo>
                      <a:pt x="60812" y="269586"/>
                    </a:lnTo>
                    <a:cubicBezTo>
                      <a:pt x="44684" y="269586"/>
                      <a:pt x="29216" y="263179"/>
                      <a:pt x="17811" y="251774"/>
                    </a:cubicBezTo>
                    <a:cubicBezTo>
                      <a:pt x="6407" y="240370"/>
                      <a:pt x="0" y="224902"/>
                      <a:pt x="0" y="208774"/>
                    </a:cubicBezTo>
                    <a:lnTo>
                      <a:pt x="0" y="60812"/>
                    </a:lnTo>
                    <a:cubicBezTo>
                      <a:pt x="0" y="44684"/>
                      <a:pt x="6407" y="29216"/>
                      <a:pt x="17811" y="17811"/>
                    </a:cubicBezTo>
                    <a:cubicBezTo>
                      <a:pt x="29216" y="6407"/>
                      <a:pt x="44684" y="0"/>
                      <a:pt x="60812" y="0"/>
                    </a:cubicBezTo>
                    <a:close/>
                  </a:path>
                </a:pathLst>
              </a:custGeom>
              <a:solidFill>
                <a:srgbClr val="D1D1D1"/>
              </a:solidFill>
              <a:ln w="19050" cap="rnd">
                <a:solidFill>
                  <a:srgbClr val="D1D1D1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133350"/>
                <a:ext cx="838249" cy="4029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4047"/>
                  </a:lnSpc>
                </a:pPr>
                <a:r>
                  <a:rPr lang="en-US" sz="2199">
                    <a:solidFill>
                      <a:srgbClr val="000000"/>
                    </a:solidFill>
                    <a:latin typeface="둥근펜"/>
                    <a:ea typeface="둥근펜"/>
                    <a:cs typeface="둥근펜"/>
                    <a:sym typeface="둥근펜"/>
                  </a:rPr>
                  <a:t>안정빈</a:t>
                </a:r>
              </a:p>
            </p:txBody>
          </p:sp>
        </p:grpSp>
      </p:grpSp>
      <p:sp>
        <p:nvSpPr>
          <p:cNvPr name="TextBox 22" id="22"/>
          <p:cNvSpPr txBox="true"/>
          <p:nvPr/>
        </p:nvSpPr>
        <p:spPr>
          <a:xfrm rot="0">
            <a:off x="600077" y="2262635"/>
            <a:ext cx="9286014" cy="299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60"/>
              </a:lnSpc>
            </a:pPr>
            <a:r>
              <a:rPr lang="en-US" sz="1600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프로젝트를 마무리하며 구현 결과와 배운 점, 그리고 앞으로의 개선 방향을 정리하였습니다.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55646" y="8468903"/>
            <a:ext cx="16376707" cy="1521639"/>
            <a:chOff x="0" y="0"/>
            <a:chExt cx="3369693" cy="31309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369693" cy="313094"/>
            </a:xfrm>
            <a:custGeom>
              <a:avLst/>
              <a:gdLst/>
              <a:ahLst/>
              <a:cxnLst/>
              <a:rect r="r" b="b" t="t" l="l"/>
              <a:pathLst>
                <a:path h="313094" w="3369693">
                  <a:moveTo>
                    <a:pt x="9233" y="0"/>
                  </a:moveTo>
                  <a:lnTo>
                    <a:pt x="3360460" y="0"/>
                  </a:lnTo>
                  <a:cubicBezTo>
                    <a:pt x="3365559" y="0"/>
                    <a:pt x="3369693" y="4134"/>
                    <a:pt x="3369693" y="9233"/>
                  </a:cubicBezTo>
                  <a:lnTo>
                    <a:pt x="3369693" y="303861"/>
                  </a:lnTo>
                  <a:cubicBezTo>
                    <a:pt x="3369693" y="308961"/>
                    <a:pt x="3365559" y="313094"/>
                    <a:pt x="3360460" y="313094"/>
                  </a:cubicBezTo>
                  <a:lnTo>
                    <a:pt x="9233" y="313094"/>
                  </a:lnTo>
                  <a:cubicBezTo>
                    <a:pt x="4134" y="313094"/>
                    <a:pt x="0" y="308961"/>
                    <a:pt x="0" y="303861"/>
                  </a:cubicBezTo>
                  <a:lnTo>
                    <a:pt x="0" y="9233"/>
                  </a:lnTo>
                  <a:cubicBezTo>
                    <a:pt x="0" y="4134"/>
                    <a:pt x="4134" y="0"/>
                    <a:pt x="9233" y="0"/>
                  </a:cubicBezTo>
                  <a:close/>
                </a:path>
              </a:pathLst>
            </a:custGeom>
            <a:solidFill>
              <a:srgbClr val="EDEDED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3369693" cy="3702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60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7120">
            <a:off x="4063317" y="8820124"/>
            <a:ext cx="10163208" cy="374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95"/>
              </a:lnSpc>
            </a:pPr>
            <a:r>
              <a:rPr lang="en-US" b="true" sz="199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© 2026 오늘의집 클론 프로젝트 팀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55646" y="1264189"/>
            <a:ext cx="3318564" cy="9326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824"/>
              </a:lnSpc>
            </a:pPr>
            <a:r>
              <a:rPr lang="en-US" b="true" sz="4890" spc="-107">
                <a:solidFill>
                  <a:srgbClr val="2282F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08 개발 후기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564804" y="6070778"/>
            <a:ext cx="3158410" cy="1023583"/>
            <a:chOff x="0" y="0"/>
            <a:chExt cx="831845" cy="26958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31845" cy="269586"/>
            </a:xfrm>
            <a:custGeom>
              <a:avLst/>
              <a:gdLst/>
              <a:ahLst/>
              <a:cxnLst/>
              <a:rect r="r" b="b" t="t" l="l"/>
              <a:pathLst>
                <a:path h="269586" w="831845">
                  <a:moveTo>
                    <a:pt x="61280" y="0"/>
                  </a:moveTo>
                  <a:lnTo>
                    <a:pt x="770564" y="0"/>
                  </a:lnTo>
                  <a:cubicBezTo>
                    <a:pt x="804409" y="0"/>
                    <a:pt x="831845" y="27436"/>
                    <a:pt x="831845" y="61280"/>
                  </a:cubicBezTo>
                  <a:lnTo>
                    <a:pt x="831845" y="208305"/>
                  </a:lnTo>
                  <a:cubicBezTo>
                    <a:pt x="831845" y="224558"/>
                    <a:pt x="825388" y="240145"/>
                    <a:pt x="813896" y="251637"/>
                  </a:cubicBezTo>
                  <a:cubicBezTo>
                    <a:pt x="802404" y="263129"/>
                    <a:pt x="786817" y="269586"/>
                    <a:pt x="770564" y="269586"/>
                  </a:cubicBezTo>
                  <a:lnTo>
                    <a:pt x="61280" y="269586"/>
                  </a:lnTo>
                  <a:cubicBezTo>
                    <a:pt x="45028" y="269586"/>
                    <a:pt x="29441" y="263129"/>
                    <a:pt x="17949" y="251637"/>
                  </a:cubicBezTo>
                  <a:cubicBezTo>
                    <a:pt x="6456" y="240145"/>
                    <a:pt x="0" y="224558"/>
                    <a:pt x="0" y="208305"/>
                  </a:cubicBezTo>
                  <a:lnTo>
                    <a:pt x="0" y="61280"/>
                  </a:lnTo>
                  <a:cubicBezTo>
                    <a:pt x="0" y="45028"/>
                    <a:pt x="6456" y="29441"/>
                    <a:pt x="17949" y="17949"/>
                  </a:cubicBezTo>
                  <a:cubicBezTo>
                    <a:pt x="29441" y="6456"/>
                    <a:pt x="45028" y="0"/>
                    <a:pt x="61280" y="0"/>
                  </a:cubicBezTo>
                  <a:close/>
                </a:path>
              </a:pathLst>
            </a:custGeom>
            <a:solidFill>
              <a:srgbClr val="C1FF72"/>
            </a:solidFill>
            <a:ln w="9525" cap="rnd">
              <a:solidFill>
                <a:srgbClr val="35D19C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85725"/>
              <a:ext cx="831845" cy="355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  <a:r>
                <a:rPr lang="en-US" sz="2199">
                  <a:solidFill>
                    <a:srgbClr val="000000"/>
                  </a:solidFill>
                  <a:latin typeface="둥근펜"/>
                  <a:ea typeface="둥근펜"/>
                  <a:cs typeface="둥근펜"/>
                  <a:sym typeface="둥근펜"/>
                </a:rPr>
                <a:t>장미성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564804" y="7189611"/>
            <a:ext cx="3158410" cy="1023583"/>
            <a:chOff x="0" y="0"/>
            <a:chExt cx="831845" cy="26958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31845" cy="269586"/>
            </a:xfrm>
            <a:custGeom>
              <a:avLst/>
              <a:gdLst/>
              <a:ahLst/>
              <a:cxnLst/>
              <a:rect r="r" b="b" t="t" l="l"/>
              <a:pathLst>
                <a:path h="269586" w="831845">
                  <a:moveTo>
                    <a:pt x="61280" y="0"/>
                  </a:moveTo>
                  <a:lnTo>
                    <a:pt x="770564" y="0"/>
                  </a:lnTo>
                  <a:cubicBezTo>
                    <a:pt x="804409" y="0"/>
                    <a:pt x="831845" y="27436"/>
                    <a:pt x="831845" y="61280"/>
                  </a:cubicBezTo>
                  <a:lnTo>
                    <a:pt x="831845" y="208305"/>
                  </a:lnTo>
                  <a:cubicBezTo>
                    <a:pt x="831845" y="224558"/>
                    <a:pt x="825388" y="240145"/>
                    <a:pt x="813896" y="251637"/>
                  </a:cubicBezTo>
                  <a:cubicBezTo>
                    <a:pt x="802404" y="263129"/>
                    <a:pt x="786817" y="269586"/>
                    <a:pt x="770564" y="269586"/>
                  </a:cubicBezTo>
                  <a:lnTo>
                    <a:pt x="61280" y="269586"/>
                  </a:lnTo>
                  <a:cubicBezTo>
                    <a:pt x="45028" y="269586"/>
                    <a:pt x="29441" y="263129"/>
                    <a:pt x="17949" y="251637"/>
                  </a:cubicBezTo>
                  <a:cubicBezTo>
                    <a:pt x="6456" y="240145"/>
                    <a:pt x="0" y="224558"/>
                    <a:pt x="0" y="208305"/>
                  </a:cubicBezTo>
                  <a:lnTo>
                    <a:pt x="0" y="61280"/>
                  </a:lnTo>
                  <a:cubicBezTo>
                    <a:pt x="0" y="45028"/>
                    <a:pt x="6456" y="29441"/>
                    <a:pt x="17949" y="17949"/>
                  </a:cubicBezTo>
                  <a:cubicBezTo>
                    <a:pt x="29441" y="6456"/>
                    <a:pt x="45028" y="0"/>
                    <a:pt x="61280" y="0"/>
                  </a:cubicBezTo>
                  <a:close/>
                </a:path>
              </a:pathLst>
            </a:custGeom>
            <a:solidFill>
              <a:srgbClr val="00BF63"/>
            </a:solidFill>
            <a:ln w="9525" cap="rnd">
              <a:solidFill>
                <a:srgbClr val="35D19C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85725"/>
              <a:ext cx="831845" cy="3553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  <a:r>
                <a:rPr lang="en-US" sz="2199">
                  <a:solidFill>
                    <a:srgbClr val="000000"/>
                  </a:solidFill>
                  <a:latin typeface="둥근펜"/>
                  <a:ea typeface="둥근펜"/>
                  <a:cs typeface="둥근펜"/>
                  <a:sym typeface="둥근펜"/>
                </a:rPr>
                <a:t>류호훈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723214" y="6070778"/>
            <a:ext cx="13128441" cy="1023583"/>
            <a:chOff x="0" y="0"/>
            <a:chExt cx="3457696" cy="2695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457696" cy="269586"/>
            </a:xfrm>
            <a:custGeom>
              <a:avLst/>
              <a:gdLst/>
              <a:ahLst/>
              <a:cxnLst/>
              <a:rect r="r" b="b" t="t" l="l"/>
              <a:pathLst>
                <a:path h="269586" w="3457696">
                  <a:moveTo>
                    <a:pt x="14743" y="0"/>
                  </a:moveTo>
                  <a:lnTo>
                    <a:pt x="3442954" y="0"/>
                  </a:lnTo>
                  <a:cubicBezTo>
                    <a:pt x="3446864" y="0"/>
                    <a:pt x="3450613" y="1553"/>
                    <a:pt x="3453378" y="4318"/>
                  </a:cubicBezTo>
                  <a:cubicBezTo>
                    <a:pt x="3456143" y="7083"/>
                    <a:pt x="3457696" y="10833"/>
                    <a:pt x="3457696" y="14743"/>
                  </a:cubicBezTo>
                  <a:lnTo>
                    <a:pt x="3457696" y="254843"/>
                  </a:lnTo>
                  <a:cubicBezTo>
                    <a:pt x="3457696" y="258753"/>
                    <a:pt x="3456143" y="262503"/>
                    <a:pt x="3453378" y="265268"/>
                  </a:cubicBezTo>
                  <a:cubicBezTo>
                    <a:pt x="3450613" y="268032"/>
                    <a:pt x="3446864" y="269586"/>
                    <a:pt x="3442954" y="269586"/>
                  </a:cubicBezTo>
                  <a:lnTo>
                    <a:pt x="14743" y="269586"/>
                  </a:lnTo>
                  <a:cubicBezTo>
                    <a:pt x="10833" y="269586"/>
                    <a:pt x="7083" y="268032"/>
                    <a:pt x="4318" y="265268"/>
                  </a:cubicBezTo>
                  <a:cubicBezTo>
                    <a:pt x="1553" y="262503"/>
                    <a:pt x="0" y="258753"/>
                    <a:pt x="0" y="254843"/>
                  </a:cubicBezTo>
                  <a:lnTo>
                    <a:pt x="0" y="14743"/>
                  </a:lnTo>
                  <a:cubicBezTo>
                    <a:pt x="0" y="10833"/>
                    <a:pt x="1553" y="7083"/>
                    <a:pt x="4318" y="4318"/>
                  </a:cubicBezTo>
                  <a:cubicBezTo>
                    <a:pt x="7083" y="1553"/>
                    <a:pt x="10833" y="0"/>
                    <a:pt x="14743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C1FF72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95250"/>
              <a:ext cx="3457696" cy="3648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4723214" y="7189611"/>
            <a:ext cx="13128441" cy="1023583"/>
            <a:chOff x="0" y="0"/>
            <a:chExt cx="3457696" cy="26958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457696" cy="269586"/>
            </a:xfrm>
            <a:custGeom>
              <a:avLst/>
              <a:gdLst/>
              <a:ahLst/>
              <a:cxnLst/>
              <a:rect r="r" b="b" t="t" l="l"/>
              <a:pathLst>
                <a:path h="269586" w="3457696">
                  <a:moveTo>
                    <a:pt x="14743" y="0"/>
                  </a:moveTo>
                  <a:lnTo>
                    <a:pt x="3442954" y="0"/>
                  </a:lnTo>
                  <a:cubicBezTo>
                    <a:pt x="3446864" y="0"/>
                    <a:pt x="3450613" y="1553"/>
                    <a:pt x="3453378" y="4318"/>
                  </a:cubicBezTo>
                  <a:cubicBezTo>
                    <a:pt x="3456143" y="7083"/>
                    <a:pt x="3457696" y="10833"/>
                    <a:pt x="3457696" y="14743"/>
                  </a:cubicBezTo>
                  <a:lnTo>
                    <a:pt x="3457696" y="254843"/>
                  </a:lnTo>
                  <a:cubicBezTo>
                    <a:pt x="3457696" y="258753"/>
                    <a:pt x="3456143" y="262503"/>
                    <a:pt x="3453378" y="265268"/>
                  </a:cubicBezTo>
                  <a:cubicBezTo>
                    <a:pt x="3450613" y="268032"/>
                    <a:pt x="3446864" y="269586"/>
                    <a:pt x="3442954" y="269586"/>
                  </a:cubicBezTo>
                  <a:lnTo>
                    <a:pt x="14743" y="269586"/>
                  </a:lnTo>
                  <a:cubicBezTo>
                    <a:pt x="10833" y="269586"/>
                    <a:pt x="7083" y="268032"/>
                    <a:pt x="4318" y="265268"/>
                  </a:cubicBezTo>
                  <a:cubicBezTo>
                    <a:pt x="1553" y="262503"/>
                    <a:pt x="0" y="258753"/>
                    <a:pt x="0" y="254843"/>
                  </a:cubicBezTo>
                  <a:lnTo>
                    <a:pt x="0" y="14743"/>
                  </a:lnTo>
                  <a:cubicBezTo>
                    <a:pt x="0" y="10833"/>
                    <a:pt x="1553" y="7083"/>
                    <a:pt x="4318" y="4318"/>
                  </a:cubicBezTo>
                  <a:cubicBezTo>
                    <a:pt x="7083" y="1553"/>
                    <a:pt x="10833" y="0"/>
                    <a:pt x="14743" y="0"/>
                  </a:cubicBezTo>
                  <a:close/>
                </a:path>
              </a:pathLst>
            </a:custGeom>
            <a:solidFill>
              <a:srgbClr val="FAFAFA"/>
            </a:solidFill>
            <a:ln w="19050" cap="rnd">
              <a:solidFill>
                <a:srgbClr val="00BF63"/>
              </a:solidFill>
              <a:prstDash val="solid"/>
              <a:round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0"/>
              <a:ext cx="3457696" cy="3648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19"/>
                </a:lnSpc>
              </a:pP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4862842" y="845642"/>
            <a:ext cx="9559825" cy="117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28"/>
              </a:lnSpc>
            </a:pPr>
            <a:r>
              <a:rPr lang="en-US" sz="3377">
                <a:solidFill>
                  <a:srgbClr val="000000"/>
                </a:solidFill>
                <a:latin typeface="Noto Sans Kr"/>
                <a:ea typeface="Noto Sans Kr"/>
                <a:cs typeface="Noto Sans Kr"/>
                <a:sym typeface="Noto Sans Kr"/>
              </a:rPr>
              <a:t>작성하고 싶으신 만큼 작성 하시고 규격 넘으면</a:t>
            </a:r>
          </a:p>
          <a:p>
            <a:pPr algn="ctr">
              <a:lnSpc>
                <a:spcPts val="4728"/>
              </a:lnSpc>
            </a:pPr>
            <a:r>
              <a:rPr lang="en-US" sz="3377">
                <a:solidFill>
                  <a:srgbClr val="000000"/>
                </a:solidFill>
                <a:latin typeface="Noto Sans Kr"/>
                <a:ea typeface="Noto Sans Kr"/>
                <a:cs typeface="Noto Sans Kr"/>
                <a:sym typeface="Noto Sans Kr"/>
              </a:rPr>
              <a:t>밑에 있는 사람꺼 담페이지에 복붙 부탁드립니다.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DAHUHGkPnmc</dc:identifier>
  <dcterms:modified xsi:type="dcterms:W3CDTF">2011-08-01T06:04:30Z</dcterms:modified>
  <cp:revision>1</cp:revision>
  <dc:title>오늘의집 클론 프로젝트 프레젠테이션</dc:title>
</cp:coreProperties>
</file>