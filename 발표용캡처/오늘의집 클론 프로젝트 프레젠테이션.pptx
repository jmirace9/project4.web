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18288000" cy="11430000"/>
  <p:notesSz cx="6858000" cy="9144000"/>
  <p:embeddedFontLst>
    <p:embeddedFont>
      <p:font typeface="JASO Sans Bold" charset="1" panose="020E0002060000000900"/>
      <p:regular r:id="rId44"/>
    </p:embeddedFont>
    <p:embeddedFont>
      <p:font typeface="JASO Sans" charset="1" panose="020E0002060000000900"/>
      <p:regular r:id="rId45"/>
    </p:embeddedFont>
    <p:embeddedFont>
      <p:font typeface="Noto Sans Kr Bold" charset="1" panose="020B0200000000000000"/>
      <p:regular r:id="rId46"/>
    </p:embeddedFont>
    <p:embeddedFont>
      <p:font typeface="210 네버랜드" charset="1" panose="02020503020101020101"/>
      <p:regular r:id="rId51"/>
    </p:embeddedFont>
    <p:embeddedFont>
      <p:font typeface="Noto Sans Kr" charset="1" panose="020B0200000000000000"/>
      <p:regular r:id="rId52"/>
    </p:embeddedFont>
    <p:embeddedFont>
      <p:font typeface="둥근펜" charset="1" panose="020B0500000000000000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notesMasters/notesMaster1.xml" Type="http://schemas.openxmlformats.org/officeDocument/2006/relationships/notesMaster"/><Relationship Id="rId48" Target="theme/theme2.xml" Type="http://schemas.openxmlformats.org/officeDocument/2006/relationships/theme"/><Relationship Id="rId49" Target="notesSlides/notesSlide1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2.xml" Type="http://schemas.openxmlformats.org/officeDocument/2006/relationships/notesSlide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장바구니(Cart)</a:t>
            </a:r>
          </a:p>
          <a:p>
            <a:r>
              <a:rPr lang="en-US"/>
              <a:t>사용자: 상품 옵션·수량 담기, 장바구니 목록 및 총 결제금액 조회, 수량 변경 및 선택/개별 삭제, 체크박스 기반 주문서 연동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장바구니(Cart)</a:t>
            </a:r>
          </a:p>
          <a:p>
            <a:r>
              <a:rPr lang="en-US"/>
              <a:t>사용자: 상품 옵션·수량 담기, 장바구니 목록 및 총 결제금액 조회, 수량 변경 및 선택/개별 삭제, 체크박스 기반 주문서 연동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6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3892" y="8840965"/>
            <a:ext cx="5765074" cy="639984"/>
            <a:chOff x="0" y="0"/>
            <a:chExt cx="1518373" cy="168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8373" cy="168556"/>
            </a:xfrm>
            <a:custGeom>
              <a:avLst/>
              <a:gdLst/>
              <a:ahLst/>
              <a:cxnLst/>
              <a:rect r="r" b="b" t="t" l="l"/>
              <a:pathLst>
                <a:path h="168556" w="1518373">
                  <a:moveTo>
                    <a:pt x="13429" y="0"/>
                  </a:moveTo>
                  <a:lnTo>
                    <a:pt x="1504944" y="0"/>
                  </a:lnTo>
                  <a:cubicBezTo>
                    <a:pt x="1508506" y="0"/>
                    <a:pt x="1511922" y="1415"/>
                    <a:pt x="1514440" y="3933"/>
                  </a:cubicBezTo>
                  <a:cubicBezTo>
                    <a:pt x="1516959" y="6452"/>
                    <a:pt x="1518373" y="9867"/>
                    <a:pt x="1518373" y="13429"/>
                  </a:cubicBezTo>
                  <a:lnTo>
                    <a:pt x="1518373" y="155127"/>
                  </a:lnTo>
                  <a:cubicBezTo>
                    <a:pt x="1518373" y="158688"/>
                    <a:pt x="1516959" y="162104"/>
                    <a:pt x="1514440" y="164622"/>
                  </a:cubicBezTo>
                  <a:cubicBezTo>
                    <a:pt x="1511922" y="167141"/>
                    <a:pt x="1508506" y="168556"/>
                    <a:pt x="1504944" y="168556"/>
                  </a:cubicBezTo>
                  <a:lnTo>
                    <a:pt x="13429" y="168556"/>
                  </a:lnTo>
                  <a:cubicBezTo>
                    <a:pt x="9867" y="168556"/>
                    <a:pt x="6452" y="167141"/>
                    <a:pt x="3933" y="164622"/>
                  </a:cubicBezTo>
                  <a:cubicBezTo>
                    <a:pt x="1415" y="162104"/>
                    <a:pt x="0" y="158688"/>
                    <a:pt x="0" y="155127"/>
                  </a:cubicBezTo>
                  <a:lnTo>
                    <a:pt x="0" y="13429"/>
                  </a:lnTo>
                  <a:cubicBezTo>
                    <a:pt x="0" y="9867"/>
                    <a:pt x="1415" y="6452"/>
                    <a:pt x="3933" y="3933"/>
                  </a:cubicBezTo>
                  <a:cubicBezTo>
                    <a:pt x="6452" y="1415"/>
                    <a:pt x="9867" y="0"/>
                    <a:pt x="13429" y="0"/>
                  </a:cubicBezTo>
                  <a:close/>
                </a:path>
              </a:pathLst>
            </a:custGeom>
            <a:solidFill>
              <a:srgbClr val="157C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518373" cy="263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33892" y="4622084"/>
            <a:ext cx="7354788" cy="1561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93"/>
              </a:lnSpc>
              <a:spcBef>
                <a:spcPct val="0"/>
              </a:spcBef>
            </a:pPr>
            <a:r>
              <a:rPr lang="en-US" b="true" sz="3528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JSP·Servlet 기반 </a:t>
            </a:r>
          </a:p>
          <a:p>
            <a:pPr algn="l" marL="0" indent="0" lvl="0">
              <a:lnSpc>
                <a:spcPts val="6493"/>
              </a:lnSpc>
              <a:spcBef>
                <a:spcPct val="0"/>
              </a:spcBef>
            </a:pPr>
            <a:r>
              <a:rPr lang="en-US" b="true" sz="3528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쇼핑 플랫폼 구현 프로젝트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3892" y="8129876"/>
            <a:ext cx="6946027" cy="405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</a:pPr>
            <a:r>
              <a:rPr lang="en-US" b="true" sz="2398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1조 | </a:t>
            </a:r>
            <a:r>
              <a:rPr lang="en-US" b="true" sz="2398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문규리</a:t>
            </a:r>
            <a:r>
              <a:rPr lang="en-US" sz="2398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· 조지훈 · 류호훈 · 안정빈 · 장미성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67413" y="9014590"/>
            <a:ext cx="4831553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프로젝트 기간: 2026.08.03 ~ 2026.09.07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3892" y="3079992"/>
            <a:ext cx="8733639" cy="1227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18"/>
              </a:lnSpc>
              <a:spcBef>
                <a:spcPct val="0"/>
              </a:spcBef>
            </a:pPr>
            <a:r>
              <a:rPr lang="en-US" sz="7156">
                <a:solidFill>
                  <a:srgbClr val="2282F3"/>
                </a:solidFill>
                <a:latin typeface="JASO Sans"/>
                <a:ea typeface="JASO Sans"/>
                <a:cs typeface="JASO Sans"/>
                <a:sym typeface="JASO Sans"/>
              </a:rPr>
              <a:t>오늘의집 프로젝트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3892" y="1146810"/>
            <a:ext cx="2198787" cy="239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8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TEAM PROJECT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325187" y="3671545"/>
            <a:ext cx="9016494" cy="8712187"/>
          </a:xfrm>
          <a:custGeom>
            <a:avLst/>
            <a:gdLst/>
            <a:ahLst/>
            <a:cxnLst/>
            <a:rect r="r" b="b" t="t" l="l"/>
            <a:pathLst>
              <a:path h="8712187" w="9016494">
                <a:moveTo>
                  <a:pt x="0" y="0"/>
                </a:moveTo>
                <a:lnTo>
                  <a:pt x="9016494" y="0"/>
                </a:lnTo>
                <a:lnTo>
                  <a:pt x="9016494" y="8712187"/>
                </a:lnTo>
                <a:lnTo>
                  <a:pt x="0" y="8712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20483" y="3102850"/>
            <a:ext cx="6496191" cy="6705745"/>
          </a:xfrm>
          <a:custGeom>
            <a:avLst/>
            <a:gdLst/>
            <a:ahLst/>
            <a:cxnLst/>
            <a:rect r="r" b="b" t="t" l="l"/>
            <a:pathLst>
              <a:path h="6705745" w="6496191">
                <a:moveTo>
                  <a:pt x="0" y="0"/>
                </a:moveTo>
                <a:lnTo>
                  <a:pt x="6496190" y="0"/>
                </a:lnTo>
                <a:lnTo>
                  <a:pt x="6496190" y="6705745"/>
                </a:lnTo>
                <a:lnTo>
                  <a:pt x="0" y="6705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501786" y="2947857"/>
            <a:ext cx="109492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8"/>
              </a:lnSpc>
            </a:pPr>
            <a:r>
              <a:rPr lang="en-US" b="true" sz="2181" spc="-4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목차</a:t>
            </a:r>
          </a:p>
        </p:txBody>
      </p:sp>
      <p:sp>
        <p:nvSpPr>
          <p:cNvPr name="AutoShape 4" id="4"/>
          <p:cNvSpPr/>
          <p:nvPr/>
        </p:nvSpPr>
        <p:spPr>
          <a:xfrm>
            <a:off x="13902298" y="4967185"/>
            <a:ext cx="4861809" cy="4762"/>
          </a:xfrm>
          <a:prstGeom prst="line">
            <a:avLst/>
          </a:prstGeom>
          <a:ln cap="flat" w="9525">
            <a:solidFill>
              <a:srgbClr val="D1D1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3596719" y="6051398"/>
            <a:ext cx="5129309" cy="5453"/>
          </a:xfrm>
          <a:prstGeom prst="line">
            <a:avLst/>
          </a:prstGeom>
          <a:ln cap="flat" w="9525">
            <a:solidFill>
              <a:srgbClr val="D1D1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4773463" y="4286595"/>
            <a:ext cx="2712031" cy="28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7"/>
              </a:lnSpc>
            </a:pPr>
            <a:r>
              <a:rPr lang="en-US" b="true" sz="1669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데이터베이스 모델링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44107" y="4293221"/>
            <a:ext cx="463427" cy="28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7"/>
              </a:lnSpc>
            </a:pPr>
            <a:r>
              <a:rPr lang="en-US" b="true" sz="1669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5</a:t>
            </a:r>
          </a:p>
        </p:txBody>
      </p:sp>
      <p:sp>
        <p:nvSpPr>
          <p:cNvPr name="AutoShape 8" id="8"/>
          <p:cNvSpPr/>
          <p:nvPr/>
        </p:nvSpPr>
        <p:spPr>
          <a:xfrm>
            <a:off x="9356143" y="4971948"/>
            <a:ext cx="3532293" cy="0"/>
          </a:xfrm>
          <a:prstGeom prst="line">
            <a:avLst/>
          </a:prstGeom>
          <a:ln cap="flat" w="9525">
            <a:solidFill>
              <a:srgbClr val="D1D1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356143" y="6058298"/>
            <a:ext cx="3532293" cy="0"/>
          </a:xfrm>
          <a:prstGeom prst="line">
            <a:avLst/>
          </a:prstGeom>
          <a:ln cap="flat" w="9525">
            <a:solidFill>
              <a:srgbClr val="D1D1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356143" y="7146114"/>
            <a:ext cx="3532293" cy="0"/>
          </a:xfrm>
          <a:prstGeom prst="line">
            <a:avLst/>
          </a:prstGeom>
          <a:ln cap="flat" w="9525">
            <a:solidFill>
              <a:srgbClr val="D1D1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953257" y="4279969"/>
            <a:ext cx="1680816" cy="28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7"/>
              </a:lnSpc>
            </a:pPr>
            <a:r>
              <a:rPr lang="en-US" b="true" sz="1669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프로젝트 개요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53257" y="5341456"/>
            <a:ext cx="3463462" cy="28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7"/>
              </a:lnSpc>
            </a:pPr>
            <a:r>
              <a:rPr lang="en-US" b="true" sz="1669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개발 환경 및 기술 구조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53257" y="6430190"/>
            <a:ext cx="3144554" cy="28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7"/>
              </a:lnSpc>
            </a:pPr>
            <a:r>
              <a:rPr lang="en-US" b="true" sz="1669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요구사항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56143" y="4286595"/>
            <a:ext cx="509539" cy="28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7"/>
              </a:lnSpc>
            </a:pPr>
            <a:r>
              <a:rPr lang="en-US" b="true" sz="1669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56143" y="5348082"/>
            <a:ext cx="509539" cy="28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7"/>
              </a:lnSpc>
            </a:pPr>
            <a:r>
              <a:rPr lang="en-US" b="true" sz="1669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56143" y="6436816"/>
            <a:ext cx="509539" cy="28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7"/>
              </a:lnSpc>
            </a:pPr>
            <a:r>
              <a:rPr lang="en-US" b="true" sz="1669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773463" y="5335748"/>
            <a:ext cx="6323498" cy="28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7"/>
              </a:lnSpc>
            </a:pPr>
            <a:r>
              <a:rPr lang="en-US" b="true" sz="1669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주요 기능 구현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773463" y="6423564"/>
            <a:ext cx="3161749" cy="28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7"/>
              </a:lnSpc>
            </a:pPr>
            <a:r>
              <a:rPr lang="en-US" b="true" sz="1669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Q &amp; 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036839" y="5342373"/>
            <a:ext cx="629455" cy="28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7"/>
              </a:lnSpc>
            </a:pPr>
            <a:r>
              <a:rPr lang="en-US" b="true" sz="1669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36839" y="6430190"/>
            <a:ext cx="629455" cy="28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7"/>
              </a:lnSpc>
            </a:pPr>
            <a:r>
              <a:rPr lang="en-US" b="true" sz="1669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99221" y="7506201"/>
            <a:ext cx="2712031" cy="28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7"/>
              </a:lnSpc>
            </a:pPr>
            <a:r>
              <a:rPr lang="en-US" b="true" sz="1669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객체 속성 &amp;</a:t>
            </a:r>
            <a:r>
              <a:rPr lang="en-US" b="true" sz="1669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관계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56143" y="7512827"/>
            <a:ext cx="463427" cy="28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7"/>
              </a:lnSpc>
            </a:pPr>
            <a:r>
              <a:rPr lang="en-US" b="true" sz="1669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4</a:t>
            </a:r>
          </a:p>
        </p:txBody>
      </p:sp>
      <p:sp>
        <p:nvSpPr>
          <p:cNvPr name="AutoShape 23" id="23"/>
          <p:cNvSpPr/>
          <p:nvPr/>
        </p:nvSpPr>
        <p:spPr>
          <a:xfrm flipV="true">
            <a:off x="13726636" y="7135496"/>
            <a:ext cx="4863779" cy="0"/>
          </a:xfrm>
          <a:prstGeom prst="line">
            <a:avLst/>
          </a:prstGeom>
          <a:ln cap="flat" w="9525">
            <a:solidFill>
              <a:srgbClr val="D1D1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4773463" y="7512827"/>
            <a:ext cx="3161749" cy="28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7"/>
              </a:lnSpc>
            </a:pPr>
            <a:r>
              <a:rPr lang="en-US" b="true" sz="1669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개발 후기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036839" y="7519452"/>
            <a:ext cx="629455" cy="28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7"/>
              </a:lnSpc>
            </a:pPr>
            <a:r>
              <a:rPr lang="en-US" b="true" sz="1669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8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2245" y="4686494"/>
            <a:ext cx="15590707" cy="2172148"/>
            <a:chOff x="0" y="0"/>
            <a:chExt cx="3207964" cy="446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07964" cy="446944"/>
            </a:xfrm>
            <a:custGeom>
              <a:avLst/>
              <a:gdLst/>
              <a:ahLst/>
              <a:cxnLst/>
              <a:rect r="r" b="b" t="t" l="l"/>
              <a:pathLst>
                <a:path h="446944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437245"/>
                  </a:lnTo>
                  <a:cubicBezTo>
                    <a:pt x="3207964" y="439817"/>
                    <a:pt x="3206943" y="442284"/>
                    <a:pt x="3205124" y="444103"/>
                  </a:cubicBezTo>
                  <a:cubicBezTo>
                    <a:pt x="3203305" y="445922"/>
                    <a:pt x="3200838" y="446944"/>
                    <a:pt x="3198266" y="446944"/>
                  </a:cubicBezTo>
                  <a:lnTo>
                    <a:pt x="9699" y="446944"/>
                  </a:lnTo>
                  <a:cubicBezTo>
                    <a:pt x="4342" y="446944"/>
                    <a:pt x="0" y="442602"/>
                    <a:pt x="0" y="437245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157C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207964" cy="504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2245" y="7491510"/>
            <a:ext cx="15590707" cy="2157020"/>
            <a:chOff x="0" y="0"/>
            <a:chExt cx="3207964" cy="4438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7964" cy="443831"/>
            </a:xfrm>
            <a:custGeom>
              <a:avLst/>
              <a:gdLst/>
              <a:ahLst/>
              <a:cxnLst/>
              <a:rect r="r" b="b" t="t" l="l"/>
              <a:pathLst>
                <a:path h="443831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434133"/>
                  </a:lnTo>
                  <a:cubicBezTo>
                    <a:pt x="3207964" y="439489"/>
                    <a:pt x="3203622" y="443831"/>
                    <a:pt x="3198266" y="443831"/>
                  </a:cubicBezTo>
                  <a:lnTo>
                    <a:pt x="9699" y="443831"/>
                  </a:lnTo>
                  <a:cubicBezTo>
                    <a:pt x="4342" y="443831"/>
                    <a:pt x="0" y="439489"/>
                    <a:pt x="0" y="434133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207964" cy="500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47108" y="5649124"/>
            <a:ext cx="383167" cy="38316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47108" y="8378437"/>
            <a:ext cx="383167" cy="38316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931961" y="7961832"/>
            <a:ext cx="1188487" cy="1173677"/>
          </a:xfrm>
          <a:custGeom>
            <a:avLst/>
            <a:gdLst/>
            <a:ahLst/>
            <a:cxnLst/>
            <a:rect r="r" b="b" t="t" l="l"/>
            <a:pathLst>
              <a:path h="1173677" w="1188487">
                <a:moveTo>
                  <a:pt x="0" y="0"/>
                </a:moveTo>
                <a:lnTo>
                  <a:pt x="1188487" y="0"/>
                </a:lnTo>
                <a:lnTo>
                  <a:pt x="1188487" y="1173677"/>
                </a:lnTo>
                <a:lnTo>
                  <a:pt x="0" y="11736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931961" y="5060897"/>
            <a:ext cx="1289734" cy="1308207"/>
          </a:xfrm>
          <a:custGeom>
            <a:avLst/>
            <a:gdLst/>
            <a:ahLst/>
            <a:cxnLst/>
            <a:rect r="r" b="b" t="t" l="l"/>
            <a:pathLst>
              <a:path h="1308207" w="1289734">
                <a:moveTo>
                  <a:pt x="0" y="0"/>
                </a:moveTo>
                <a:lnTo>
                  <a:pt x="1289734" y="0"/>
                </a:lnTo>
                <a:lnTo>
                  <a:pt x="1289734" y="1308206"/>
                </a:lnTo>
                <a:lnTo>
                  <a:pt x="0" y="1308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7120">
            <a:off x="7417139" y="5276799"/>
            <a:ext cx="9031567" cy="1061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8"/>
              </a:lnSpc>
            </a:pPr>
            <a:r>
              <a:rPr lang="en-US" sz="1798" strike="noStrike" u="none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오늘의집 프로젝트 — JSP·Servlet 기반 쇼핑 플랫폼 구현 </a:t>
            </a:r>
          </a:p>
          <a:p>
            <a:pPr algn="l" marL="0" indent="0" lvl="0">
              <a:lnSpc>
                <a:spcPts val="2878"/>
              </a:lnSpc>
            </a:pPr>
          </a:p>
          <a:p>
            <a:pPr algn="l" marL="0" indent="0" lvl="0">
              <a:lnSpc>
                <a:spcPts val="2878"/>
              </a:lnSpc>
            </a:pPr>
            <a:r>
              <a:rPr lang="en-US" sz="1798" strike="noStrike" u="none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오늘의집 선택 사유: 다양한 기능(상품·장바구니·결제·판매자)을 포함한 실무형 쇼핑 플랫폼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706755" y="5644780"/>
            <a:ext cx="1352401" cy="33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8"/>
              </a:lnSpc>
            </a:pPr>
            <a:r>
              <a:rPr lang="en-US" b="true" sz="1848" spc="-5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프로젝트 주제</a:t>
            </a:r>
          </a:p>
        </p:txBody>
      </p:sp>
      <p:sp>
        <p:nvSpPr>
          <p:cNvPr name="TextBox 18" id="18"/>
          <p:cNvSpPr txBox="true"/>
          <p:nvPr/>
        </p:nvSpPr>
        <p:spPr>
          <a:xfrm rot="7120">
            <a:off x="7417138" y="7984762"/>
            <a:ext cx="9636024" cy="1061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8"/>
              </a:lnSpc>
            </a:pPr>
            <a:r>
              <a:rPr lang="en-US" sz="1798" strike="noStrike" u="none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상품 조회 · 상품 판매 · 장바구니 · 주문 및 결제 · 판매자 관리</a:t>
            </a:r>
          </a:p>
          <a:p>
            <a:pPr algn="l" marL="0" indent="0" lvl="0">
              <a:lnSpc>
                <a:spcPts val="2878"/>
              </a:lnSpc>
            </a:pPr>
          </a:p>
          <a:p>
            <a:pPr algn="l" marL="0" indent="0" lvl="0">
              <a:lnSpc>
                <a:spcPts val="2878"/>
              </a:lnSpc>
            </a:pPr>
            <a:r>
              <a:rPr lang="en-US" sz="1798" strike="noStrike" u="none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오늘의집의 쇼핑 기능을 중심으로 구현했으며, 커뮤니티 기능은 구현 범위에서 제외했습니다.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06755" y="8352743"/>
            <a:ext cx="2076152" cy="33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8"/>
              </a:lnSpc>
            </a:pPr>
            <a:r>
              <a:rPr lang="en-US" b="true" sz="1848" spc="-5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구현 범위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2245" y="2277839"/>
            <a:ext cx="6165582" cy="121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73"/>
              </a:lnSpc>
            </a:pPr>
            <a:r>
              <a:rPr lang="en-US" b="true" sz="6421" spc="-141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01 프로젝트 개요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00"/>
            <a:ext cx="18288000" cy="10711543"/>
          </a:xfrm>
          <a:custGeom>
            <a:avLst/>
            <a:gdLst/>
            <a:ahLst/>
            <a:cxnLst/>
            <a:rect r="r" b="b" t="t" l="l"/>
            <a:pathLst>
              <a:path h="10711543" w="18288000">
                <a:moveTo>
                  <a:pt x="0" y="0"/>
                </a:moveTo>
                <a:lnTo>
                  <a:pt x="18288000" y="0"/>
                </a:lnTo>
                <a:lnTo>
                  <a:pt x="18288000" y="10711543"/>
                </a:lnTo>
                <a:lnTo>
                  <a:pt x="0" y="10711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16874" y="1978438"/>
            <a:ext cx="5839417" cy="529449"/>
            <a:chOff x="0" y="0"/>
            <a:chExt cx="1537953" cy="1394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37953" cy="139443"/>
            </a:xfrm>
            <a:custGeom>
              <a:avLst/>
              <a:gdLst/>
              <a:ahLst/>
              <a:cxnLst/>
              <a:rect r="r" b="b" t="t" l="l"/>
              <a:pathLst>
                <a:path h="139443" w="1537953">
                  <a:moveTo>
                    <a:pt x="0" y="0"/>
                  </a:moveTo>
                  <a:lnTo>
                    <a:pt x="1537953" y="0"/>
                  </a:lnTo>
                  <a:lnTo>
                    <a:pt x="1537953" y="139443"/>
                  </a:lnTo>
                  <a:lnTo>
                    <a:pt x="0" y="13944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1537953" cy="225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8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824505" y="1046164"/>
            <a:ext cx="8024780" cy="93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21"/>
              </a:lnSpc>
            </a:pPr>
            <a:r>
              <a:rPr lang="en-US" b="true" sz="4888" spc="-10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02 개발 환경 및 기술 구조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7923" y="571500"/>
            <a:ext cx="18463846" cy="10287000"/>
          </a:xfrm>
          <a:custGeom>
            <a:avLst/>
            <a:gdLst/>
            <a:ahLst/>
            <a:cxnLst/>
            <a:rect r="r" b="b" t="t" l="l"/>
            <a:pathLst>
              <a:path h="10287000" w="18463846">
                <a:moveTo>
                  <a:pt x="0" y="0"/>
                </a:moveTo>
                <a:lnTo>
                  <a:pt x="18463846" y="0"/>
                </a:lnTo>
                <a:lnTo>
                  <a:pt x="184638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6629" y="1971087"/>
            <a:ext cx="6686591" cy="529449"/>
            <a:chOff x="0" y="0"/>
            <a:chExt cx="1761078" cy="1394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61078" cy="139443"/>
            </a:xfrm>
            <a:custGeom>
              <a:avLst/>
              <a:gdLst/>
              <a:ahLst/>
              <a:cxnLst/>
              <a:rect r="r" b="b" t="t" l="l"/>
              <a:pathLst>
                <a:path h="139443" w="1761078">
                  <a:moveTo>
                    <a:pt x="0" y="0"/>
                  </a:moveTo>
                  <a:lnTo>
                    <a:pt x="1761078" y="0"/>
                  </a:lnTo>
                  <a:lnTo>
                    <a:pt x="1761078" y="139443"/>
                  </a:lnTo>
                  <a:lnTo>
                    <a:pt x="0" y="13944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1761078" cy="225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8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824505" y="1046164"/>
            <a:ext cx="8024780" cy="93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21"/>
              </a:lnSpc>
            </a:pPr>
            <a:r>
              <a:rPr lang="en-US" b="true" sz="4888" spc="-10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02 개발 환경 및 기술 구조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0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153" y="2249815"/>
            <a:ext cx="6626263" cy="58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2"/>
              </a:lnSpc>
            </a:pPr>
            <a:r>
              <a:rPr lang="en-US" b="true" sz="3001" spc="-66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일반 사용자 요구사항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686847" y="1069890"/>
            <a:ext cx="8024780" cy="93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21"/>
              </a:lnSpc>
            </a:pPr>
            <a:r>
              <a:rPr lang="en-US" b="true" sz="4888" spc="-10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03 요구사항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897595" y="3206462"/>
            <a:ext cx="13760186" cy="1234547"/>
            <a:chOff x="0" y="0"/>
            <a:chExt cx="3004784" cy="2695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04784" cy="269586"/>
            </a:xfrm>
            <a:custGeom>
              <a:avLst/>
              <a:gdLst/>
              <a:ahLst/>
              <a:cxnLst/>
              <a:rect r="r" b="b" t="t" l="l"/>
              <a:pathLst>
                <a:path h="269586" w="3004784">
                  <a:moveTo>
                    <a:pt x="14066" y="0"/>
                  </a:moveTo>
                  <a:lnTo>
                    <a:pt x="2990719" y="0"/>
                  </a:lnTo>
                  <a:cubicBezTo>
                    <a:pt x="2994449" y="0"/>
                    <a:pt x="2998027" y="1482"/>
                    <a:pt x="3000665" y="4120"/>
                  </a:cubicBezTo>
                  <a:cubicBezTo>
                    <a:pt x="3003303" y="6758"/>
                    <a:pt x="3004784" y="10335"/>
                    <a:pt x="3004784" y="14066"/>
                  </a:cubicBezTo>
                  <a:lnTo>
                    <a:pt x="3004784" y="255520"/>
                  </a:lnTo>
                  <a:cubicBezTo>
                    <a:pt x="3004784" y="263288"/>
                    <a:pt x="2998487" y="269586"/>
                    <a:pt x="2990719" y="269586"/>
                  </a:cubicBezTo>
                  <a:lnTo>
                    <a:pt x="14066" y="269586"/>
                  </a:lnTo>
                  <a:cubicBezTo>
                    <a:pt x="10335" y="269586"/>
                    <a:pt x="6758" y="268104"/>
                    <a:pt x="4120" y="265466"/>
                  </a:cubicBezTo>
                  <a:cubicBezTo>
                    <a:pt x="1482" y="262828"/>
                    <a:pt x="0" y="259250"/>
                    <a:pt x="0" y="255520"/>
                  </a:cubicBezTo>
                  <a:lnTo>
                    <a:pt x="0" y="14066"/>
                  </a:lnTo>
                  <a:cubicBezTo>
                    <a:pt x="0" y="10335"/>
                    <a:pt x="1482" y="6758"/>
                    <a:pt x="4120" y="4120"/>
                  </a:cubicBezTo>
                  <a:cubicBezTo>
                    <a:pt x="6758" y="1482"/>
                    <a:pt x="10335" y="0"/>
                    <a:pt x="14066" y="0"/>
                  </a:cubicBezTo>
                  <a:close/>
                </a:path>
              </a:pathLst>
            </a:custGeom>
            <a:solidFill>
              <a:srgbClr val="FAFAFA"/>
            </a:solidFill>
            <a:ln w="19050" cap="rnd">
              <a:solidFill>
                <a:srgbClr val="157CE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3004784" cy="364836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ctr" marL="0" indent="0" lvl="0">
                <a:lnSpc>
                  <a:spcPts val="35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65588" y="3211763"/>
            <a:ext cx="5410839" cy="1234547"/>
            <a:chOff x="0" y="0"/>
            <a:chExt cx="1181554" cy="2695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1554" cy="269586"/>
            </a:xfrm>
            <a:custGeom>
              <a:avLst/>
              <a:gdLst/>
              <a:ahLst/>
              <a:cxnLst/>
              <a:rect r="r" b="b" t="t" l="l"/>
              <a:pathLst>
                <a:path h="269586" w="1181554">
                  <a:moveTo>
                    <a:pt x="35770" y="0"/>
                  </a:moveTo>
                  <a:lnTo>
                    <a:pt x="1145784" y="0"/>
                  </a:lnTo>
                  <a:cubicBezTo>
                    <a:pt x="1165539" y="0"/>
                    <a:pt x="1181554" y="16015"/>
                    <a:pt x="1181554" y="35770"/>
                  </a:cubicBezTo>
                  <a:lnTo>
                    <a:pt x="1181554" y="233815"/>
                  </a:lnTo>
                  <a:cubicBezTo>
                    <a:pt x="1181554" y="253571"/>
                    <a:pt x="1165539" y="269586"/>
                    <a:pt x="1145784" y="269586"/>
                  </a:cubicBezTo>
                  <a:lnTo>
                    <a:pt x="35770" y="269586"/>
                  </a:lnTo>
                  <a:cubicBezTo>
                    <a:pt x="16015" y="269586"/>
                    <a:pt x="0" y="253571"/>
                    <a:pt x="0" y="233815"/>
                  </a:cubicBezTo>
                  <a:lnTo>
                    <a:pt x="0" y="35770"/>
                  </a:lnTo>
                  <a:cubicBezTo>
                    <a:pt x="0" y="16015"/>
                    <a:pt x="16015" y="0"/>
                    <a:pt x="35770" y="0"/>
                  </a:cubicBezTo>
                  <a:close/>
                </a:path>
              </a:pathLst>
            </a:custGeom>
            <a:solidFill>
              <a:srgbClr val="157CEE"/>
            </a:solidFill>
            <a:ln w="9525" cap="rnd">
              <a:solidFill>
                <a:srgbClr val="157CE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181554" cy="355311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l" marL="0" indent="0" lvl="0">
                <a:lnSpc>
                  <a:spcPts val="3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161700" y="3583271"/>
            <a:ext cx="2618614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b="true" sz="2136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회원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33779" y="3636499"/>
            <a:ext cx="8791034" cy="359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5"/>
              </a:lnSpc>
            </a:pPr>
            <a:r>
              <a:rPr lang="en-US" sz="1928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회원가입, 로그인/로그아웃, 회원 정보 수정, 비밀번호 변경, 회원 탈퇴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897595" y="4707710"/>
            <a:ext cx="13760186" cy="1234547"/>
            <a:chOff x="0" y="0"/>
            <a:chExt cx="3004784" cy="2695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04784" cy="269586"/>
            </a:xfrm>
            <a:custGeom>
              <a:avLst/>
              <a:gdLst/>
              <a:ahLst/>
              <a:cxnLst/>
              <a:rect r="r" b="b" t="t" l="l"/>
              <a:pathLst>
                <a:path h="269586" w="3004784">
                  <a:moveTo>
                    <a:pt x="14066" y="0"/>
                  </a:moveTo>
                  <a:lnTo>
                    <a:pt x="2990719" y="0"/>
                  </a:lnTo>
                  <a:cubicBezTo>
                    <a:pt x="2994449" y="0"/>
                    <a:pt x="2998027" y="1482"/>
                    <a:pt x="3000665" y="4120"/>
                  </a:cubicBezTo>
                  <a:cubicBezTo>
                    <a:pt x="3003303" y="6758"/>
                    <a:pt x="3004784" y="10335"/>
                    <a:pt x="3004784" y="14066"/>
                  </a:cubicBezTo>
                  <a:lnTo>
                    <a:pt x="3004784" y="255520"/>
                  </a:lnTo>
                  <a:cubicBezTo>
                    <a:pt x="3004784" y="263288"/>
                    <a:pt x="2998487" y="269586"/>
                    <a:pt x="2990719" y="269586"/>
                  </a:cubicBezTo>
                  <a:lnTo>
                    <a:pt x="14066" y="269586"/>
                  </a:lnTo>
                  <a:cubicBezTo>
                    <a:pt x="10335" y="269586"/>
                    <a:pt x="6758" y="268104"/>
                    <a:pt x="4120" y="265466"/>
                  </a:cubicBezTo>
                  <a:cubicBezTo>
                    <a:pt x="1482" y="262828"/>
                    <a:pt x="0" y="259250"/>
                    <a:pt x="0" y="255520"/>
                  </a:cubicBezTo>
                  <a:lnTo>
                    <a:pt x="0" y="14066"/>
                  </a:lnTo>
                  <a:cubicBezTo>
                    <a:pt x="0" y="10335"/>
                    <a:pt x="1482" y="6758"/>
                    <a:pt x="4120" y="4120"/>
                  </a:cubicBezTo>
                  <a:cubicBezTo>
                    <a:pt x="6758" y="1482"/>
                    <a:pt x="10335" y="0"/>
                    <a:pt x="14066" y="0"/>
                  </a:cubicBezTo>
                  <a:close/>
                </a:path>
              </a:pathLst>
            </a:custGeom>
            <a:solidFill>
              <a:srgbClr val="FAFAFA"/>
            </a:solidFill>
            <a:ln w="19050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3004784" cy="364836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ctr" marL="0" indent="0" lvl="0">
                <a:lnSpc>
                  <a:spcPts val="3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65588" y="4710182"/>
            <a:ext cx="5410839" cy="1234547"/>
            <a:chOff x="0" y="0"/>
            <a:chExt cx="1181554" cy="2695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81554" cy="269586"/>
            </a:xfrm>
            <a:custGeom>
              <a:avLst/>
              <a:gdLst/>
              <a:ahLst/>
              <a:cxnLst/>
              <a:rect r="r" b="b" t="t" l="l"/>
              <a:pathLst>
                <a:path h="269586" w="1181554">
                  <a:moveTo>
                    <a:pt x="35770" y="0"/>
                  </a:moveTo>
                  <a:lnTo>
                    <a:pt x="1145784" y="0"/>
                  </a:lnTo>
                  <a:cubicBezTo>
                    <a:pt x="1165539" y="0"/>
                    <a:pt x="1181554" y="16015"/>
                    <a:pt x="1181554" y="35770"/>
                  </a:cubicBezTo>
                  <a:lnTo>
                    <a:pt x="1181554" y="233815"/>
                  </a:lnTo>
                  <a:cubicBezTo>
                    <a:pt x="1181554" y="253571"/>
                    <a:pt x="1165539" y="269586"/>
                    <a:pt x="1145784" y="269586"/>
                  </a:cubicBezTo>
                  <a:lnTo>
                    <a:pt x="35770" y="269586"/>
                  </a:lnTo>
                  <a:cubicBezTo>
                    <a:pt x="16015" y="269586"/>
                    <a:pt x="0" y="253571"/>
                    <a:pt x="0" y="233815"/>
                  </a:cubicBezTo>
                  <a:lnTo>
                    <a:pt x="0" y="35770"/>
                  </a:lnTo>
                  <a:cubicBezTo>
                    <a:pt x="0" y="16015"/>
                    <a:pt x="16015" y="0"/>
                    <a:pt x="35770" y="0"/>
                  </a:cubicBezTo>
                  <a:close/>
                </a:path>
              </a:pathLst>
            </a:custGeom>
            <a:solidFill>
              <a:srgbClr val="D1D1D1"/>
            </a:solidFill>
            <a:ln w="9525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181554" cy="355311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l" marL="0" indent="0" lvl="0">
                <a:lnSpc>
                  <a:spcPts val="352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161700" y="5081434"/>
            <a:ext cx="2618614" cy="40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91"/>
              </a:lnSpc>
            </a:pPr>
            <a:r>
              <a:rPr lang="en-US" b="true" sz="2119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상품 탐색 / 검색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33779" y="5135273"/>
            <a:ext cx="10367304" cy="359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5"/>
              </a:lnSpc>
            </a:pPr>
            <a:r>
              <a:rPr lang="en-US" sz="1928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카테고리별 상품 목록 조회, 베스트·단독 상품 탐색, 키워드 검색 및 결과 목록 표시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897595" y="6192380"/>
            <a:ext cx="13760186" cy="1234547"/>
            <a:chOff x="0" y="0"/>
            <a:chExt cx="3004784" cy="2695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04784" cy="269586"/>
            </a:xfrm>
            <a:custGeom>
              <a:avLst/>
              <a:gdLst/>
              <a:ahLst/>
              <a:cxnLst/>
              <a:rect r="r" b="b" t="t" l="l"/>
              <a:pathLst>
                <a:path h="269586" w="3004784">
                  <a:moveTo>
                    <a:pt x="14066" y="0"/>
                  </a:moveTo>
                  <a:lnTo>
                    <a:pt x="2990719" y="0"/>
                  </a:lnTo>
                  <a:cubicBezTo>
                    <a:pt x="2994449" y="0"/>
                    <a:pt x="2998027" y="1482"/>
                    <a:pt x="3000665" y="4120"/>
                  </a:cubicBezTo>
                  <a:cubicBezTo>
                    <a:pt x="3003303" y="6758"/>
                    <a:pt x="3004784" y="10335"/>
                    <a:pt x="3004784" y="14066"/>
                  </a:cubicBezTo>
                  <a:lnTo>
                    <a:pt x="3004784" y="255520"/>
                  </a:lnTo>
                  <a:cubicBezTo>
                    <a:pt x="3004784" y="263288"/>
                    <a:pt x="2998487" y="269586"/>
                    <a:pt x="2990719" y="269586"/>
                  </a:cubicBezTo>
                  <a:lnTo>
                    <a:pt x="14066" y="269586"/>
                  </a:lnTo>
                  <a:cubicBezTo>
                    <a:pt x="10335" y="269586"/>
                    <a:pt x="6758" y="268104"/>
                    <a:pt x="4120" y="265466"/>
                  </a:cubicBezTo>
                  <a:cubicBezTo>
                    <a:pt x="1482" y="262828"/>
                    <a:pt x="0" y="259250"/>
                    <a:pt x="0" y="255520"/>
                  </a:cubicBezTo>
                  <a:lnTo>
                    <a:pt x="0" y="14066"/>
                  </a:lnTo>
                  <a:cubicBezTo>
                    <a:pt x="0" y="10335"/>
                    <a:pt x="1482" y="6758"/>
                    <a:pt x="4120" y="4120"/>
                  </a:cubicBezTo>
                  <a:cubicBezTo>
                    <a:pt x="6758" y="1482"/>
                    <a:pt x="10335" y="0"/>
                    <a:pt x="14066" y="0"/>
                  </a:cubicBezTo>
                  <a:close/>
                </a:path>
              </a:pathLst>
            </a:custGeom>
            <a:solidFill>
              <a:srgbClr val="FAFAFA"/>
            </a:solidFill>
            <a:ln w="19050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42875"/>
              <a:ext cx="3004784" cy="412461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ctr" marL="0" indent="0" lvl="0">
                <a:lnSpc>
                  <a:spcPts val="4048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65588" y="6208957"/>
            <a:ext cx="5410839" cy="1234547"/>
            <a:chOff x="0" y="0"/>
            <a:chExt cx="1181554" cy="2695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81554" cy="269586"/>
            </a:xfrm>
            <a:custGeom>
              <a:avLst/>
              <a:gdLst/>
              <a:ahLst/>
              <a:cxnLst/>
              <a:rect r="r" b="b" t="t" l="l"/>
              <a:pathLst>
                <a:path h="269586" w="1181554">
                  <a:moveTo>
                    <a:pt x="35770" y="0"/>
                  </a:moveTo>
                  <a:lnTo>
                    <a:pt x="1145784" y="0"/>
                  </a:lnTo>
                  <a:cubicBezTo>
                    <a:pt x="1165539" y="0"/>
                    <a:pt x="1181554" y="16015"/>
                    <a:pt x="1181554" y="35770"/>
                  </a:cubicBezTo>
                  <a:lnTo>
                    <a:pt x="1181554" y="233815"/>
                  </a:lnTo>
                  <a:cubicBezTo>
                    <a:pt x="1181554" y="253571"/>
                    <a:pt x="1165539" y="269586"/>
                    <a:pt x="1145784" y="269586"/>
                  </a:cubicBezTo>
                  <a:lnTo>
                    <a:pt x="35770" y="269586"/>
                  </a:lnTo>
                  <a:cubicBezTo>
                    <a:pt x="16015" y="269586"/>
                    <a:pt x="0" y="253571"/>
                    <a:pt x="0" y="233815"/>
                  </a:cubicBezTo>
                  <a:lnTo>
                    <a:pt x="0" y="35770"/>
                  </a:lnTo>
                  <a:cubicBezTo>
                    <a:pt x="0" y="16015"/>
                    <a:pt x="16015" y="0"/>
                    <a:pt x="35770" y="0"/>
                  </a:cubicBezTo>
                  <a:close/>
                </a:path>
              </a:pathLst>
            </a:custGeom>
            <a:solidFill>
              <a:srgbClr val="D1D1D1"/>
            </a:solidFill>
            <a:ln w="19050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133350"/>
              <a:ext cx="1181554" cy="402936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l" marL="0" indent="0" lvl="0">
                <a:lnSpc>
                  <a:spcPts val="4048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161700" y="6572035"/>
            <a:ext cx="2618614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b="true" sz="2136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장바구니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33779" y="6636520"/>
            <a:ext cx="9702238" cy="359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5"/>
              </a:lnSpc>
            </a:pPr>
            <a:r>
              <a:rPr lang="en-US" sz="1928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장바구니 담기·수량 변경·삭제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3897595" y="7710204"/>
            <a:ext cx="13760186" cy="1234547"/>
            <a:chOff x="0" y="0"/>
            <a:chExt cx="3004784" cy="26958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04784" cy="269586"/>
            </a:xfrm>
            <a:custGeom>
              <a:avLst/>
              <a:gdLst/>
              <a:ahLst/>
              <a:cxnLst/>
              <a:rect r="r" b="b" t="t" l="l"/>
              <a:pathLst>
                <a:path h="269586" w="3004784">
                  <a:moveTo>
                    <a:pt x="14066" y="0"/>
                  </a:moveTo>
                  <a:lnTo>
                    <a:pt x="2990719" y="0"/>
                  </a:lnTo>
                  <a:cubicBezTo>
                    <a:pt x="2994449" y="0"/>
                    <a:pt x="2998027" y="1482"/>
                    <a:pt x="3000665" y="4120"/>
                  </a:cubicBezTo>
                  <a:cubicBezTo>
                    <a:pt x="3003303" y="6758"/>
                    <a:pt x="3004784" y="10335"/>
                    <a:pt x="3004784" y="14066"/>
                  </a:cubicBezTo>
                  <a:lnTo>
                    <a:pt x="3004784" y="255520"/>
                  </a:lnTo>
                  <a:cubicBezTo>
                    <a:pt x="3004784" y="263288"/>
                    <a:pt x="2998487" y="269586"/>
                    <a:pt x="2990719" y="269586"/>
                  </a:cubicBezTo>
                  <a:lnTo>
                    <a:pt x="14066" y="269586"/>
                  </a:lnTo>
                  <a:cubicBezTo>
                    <a:pt x="10335" y="269586"/>
                    <a:pt x="6758" y="268104"/>
                    <a:pt x="4120" y="265466"/>
                  </a:cubicBezTo>
                  <a:cubicBezTo>
                    <a:pt x="1482" y="262828"/>
                    <a:pt x="0" y="259250"/>
                    <a:pt x="0" y="255520"/>
                  </a:cubicBezTo>
                  <a:lnTo>
                    <a:pt x="0" y="14066"/>
                  </a:lnTo>
                  <a:cubicBezTo>
                    <a:pt x="0" y="10335"/>
                    <a:pt x="1482" y="6758"/>
                    <a:pt x="4120" y="4120"/>
                  </a:cubicBezTo>
                  <a:cubicBezTo>
                    <a:pt x="6758" y="1482"/>
                    <a:pt x="10335" y="0"/>
                    <a:pt x="14066" y="0"/>
                  </a:cubicBezTo>
                  <a:close/>
                </a:path>
              </a:pathLst>
            </a:custGeom>
            <a:solidFill>
              <a:srgbClr val="FAFAFA"/>
            </a:solidFill>
            <a:ln w="19050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142875"/>
              <a:ext cx="3004784" cy="412461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ctr" marL="0" indent="0" lvl="0">
                <a:lnSpc>
                  <a:spcPts val="4048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65588" y="7710204"/>
            <a:ext cx="5410839" cy="1234547"/>
            <a:chOff x="0" y="0"/>
            <a:chExt cx="1181554" cy="26958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81554" cy="269586"/>
            </a:xfrm>
            <a:custGeom>
              <a:avLst/>
              <a:gdLst/>
              <a:ahLst/>
              <a:cxnLst/>
              <a:rect r="r" b="b" t="t" l="l"/>
              <a:pathLst>
                <a:path h="269586" w="1181554">
                  <a:moveTo>
                    <a:pt x="35770" y="0"/>
                  </a:moveTo>
                  <a:lnTo>
                    <a:pt x="1145784" y="0"/>
                  </a:lnTo>
                  <a:cubicBezTo>
                    <a:pt x="1165539" y="0"/>
                    <a:pt x="1181554" y="16015"/>
                    <a:pt x="1181554" y="35770"/>
                  </a:cubicBezTo>
                  <a:lnTo>
                    <a:pt x="1181554" y="233815"/>
                  </a:lnTo>
                  <a:cubicBezTo>
                    <a:pt x="1181554" y="253571"/>
                    <a:pt x="1165539" y="269586"/>
                    <a:pt x="1145784" y="269586"/>
                  </a:cubicBezTo>
                  <a:lnTo>
                    <a:pt x="35770" y="269586"/>
                  </a:lnTo>
                  <a:cubicBezTo>
                    <a:pt x="16015" y="269586"/>
                    <a:pt x="0" y="253571"/>
                    <a:pt x="0" y="233815"/>
                  </a:cubicBezTo>
                  <a:lnTo>
                    <a:pt x="0" y="35770"/>
                  </a:lnTo>
                  <a:cubicBezTo>
                    <a:pt x="0" y="16015"/>
                    <a:pt x="16015" y="0"/>
                    <a:pt x="35770" y="0"/>
                  </a:cubicBezTo>
                  <a:close/>
                </a:path>
              </a:pathLst>
            </a:custGeom>
            <a:solidFill>
              <a:srgbClr val="D1D1D1"/>
            </a:solidFill>
            <a:ln w="19050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33350"/>
              <a:ext cx="1181554" cy="402936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l" marL="0" indent="0" lvl="0">
                <a:lnSpc>
                  <a:spcPts val="4048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3161700" y="8081712"/>
            <a:ext cx="2618614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b="true" sz="2136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주문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833779" y="8100762"/>
            <a:ext cx="9702238" cy="359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5"/>
              </a:lnSpc>
            </a:pPr>
            <a:r>
              <a:rPr lang="en-US" sz="1928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주문 생성 및 결제 처리, 주문 내역 조회, 주문 상태 확인, 주문 취소/반품 요청 처리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3897595" y="9211451"/>
            <a:ext cx="13760186" cy="1234547"/>
            <a:chOff x="0" y="0"/>
            <a:chExt cx="3004784" cy="26958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004784" cy="269586"/>
            </a:xfrm>
            <a:custGeom>
              <a:avLst/>
              <a:gdLst/>
              <a:ahLst/>
              <a:cxnLst/>
              <a:rect r="r" b="b" t="t" l="l"/>
              <a:pathLst>
                <a:path h="269586" w="3004784">
                  <a:moveTo>
                    <a:pt x="14066" y="0"/>
                  </a:moveTo>
                  <a:lnTo>
                    <a:pt x="2990719" y="0"/>
                  </a:lnTo>
                  <a:cubicBezTo>
                    <a:pt x="2994449" y="0"/>
                    <a:pt x="2998027" y="1482"/>
                    <a:pt x="3000665" y="4120"/>
                  </a:cubicBezTo>
                  <a:cubicBezTo>
                    <a:pt x="3003303" y="6758"/>
                    <a:pt x="3004784" y="10335"/>
                    <a:pt x="3004784" y="14066"/>
                  </a:cubicBezTo>
                  <a:lnTo>
                    <a:pt x="3004784" y="255520"/>
                  </a:lnTo>
                  <a:cubicBezTo>
                    <a:pt x="3004784" y="263288"/>
                    <a:pt x="2998487" y="269586"/>
                    <a:pt x="2990719" y="269586"/>
                  </a:cubicBezTo>
                  <a:lnTo>
                    <a:pt x="14066" y="269586"/>
                  </a:lnTo>
                  <a:cubicBezTo>
                    <a:pt x="10335" y="269586"/>
                    <a:pt x="6758" y="268104"/>
                    <a:pt x="4120" y="265466"/>
                  </a:cubicBezTo>
                  <a:cubicBezTo>
                    <a:pt x="1482" y="262828"/>
                    <a:pt x="0" y="259250"/>
                    <a:pt x="0" y="255520"/>
                  </a:cubicBezTo>
                  <a:lnTo>
                    <a:pt x="0" y="14066"/>
                  </a:lnTo>
                  <a:cubicBezTo>
                    <a:pt x="0" y="10335"/>
                    <a:pt x="1482" y="6758"/>
                    <a:pt x="4120" y="4120"/>
                  </a:cubicBezTo>
                  <a:cubicBezTo>
                    <a:pt x="6758" y="1482"/>
                    <a:pt x="10335" y="0"/>
                    <a:pt x="14066" y="0"/>
                  </a:cubicBezTo>
                  <a:close/>
                </a:path>
              </a:pathLst>
            </a:custGeom>
            <a:solidFill>
              <a:srgbClr val="FAFAFA"/>
            </a:solidFill>
            <a:ln w="19050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142875"/>
              <a:ext cx="3004784" cy="412461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ctr" marL="0" indent="0" lvl="0">
                <a:lnSpc>
                  <a:spcPts val="4048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765588" y="9211451"/>
            <a:ext cx="5410839" cy="1234547"/>
            <a:chOff x="0" y="0"/>
            <a:chExt cx="1181554" cy="26958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81554" cy="269586"/>
            </a:xfrm>
            <a:custGeom>
              <a:avLst/>
              <a:gdLst/>
              <a:ahLst/>
              <a:cxnLst/>
              <a:rect r="r" b="b" t="t" l="l"/>
              <a:pathLst>
                <a:path h="269586" w="1181554">
                  <a:moveTo>
                    <a:pt x="35770" y="0"/>
                  </a:moveTo>
                  <a:lnTo>
                    <a:pt x="1145784" y="0"/>
                  </a:lnTo>
                  <a:cubicBezTo>
                    <a:pt x="1165539" y="0"/>
                    <a:pt x="1181554" y="16015"/>
                    <a:pt x="1181554" y="35770"/>
                  </a:cubicBezTo>
                  <a:lnTo>
                    <a:pt x="1181554" y="233815"/>
                  </a:lnTo>
                  <a:cubicBezTo>
                    <a:pt x="1181554" y="253571"/>
                    <a:pt x="1165539" y="269586"/>
                    <a:pt x="1145784" y="269586"/>
                  </a:cubicBezTo>
                  <a:lnTo>
                    <a:pt x="35770" y="269586"/>
                  </a:lnTo>
                  <a:cubicBezTo>
                    <a:pt x="16015" y="269586"/>
                    <a:pt x="0" y="253571"/>
                    <a:pt x="0" y="233815"/>
                  </a:cubicBezTo>
                  <a:lnTo>
                    <a:pt x="0" y="35770"/>
                  </a:lnTo>
                  <a:cubicBezTo>
                    <a:pt x="0" y="16015"/>
                    <a:pt x="16015" y="0"/>
                    <a:pt x="35770" y="0"/>
                  </a:cubicBezTo>
                  <a:close/>
                </a:path>
              </a:pathLst>
            </a:custGeom>
            <a:solidFill>
              <a:srgbClr val="D1D1D1"/>
            </a:solidFill>
            <a:ln w="19050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133350"/>
              <a:ext cx="1181554" cy="402936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l" marL="0" indent="0" lvl="0">
                <a:lnSpc>
                  <a:spcPts val="4048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3161700" y="9592451"/>
            <a:ext cx="2618614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b="true" sz="2136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리뷰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833779" y="9625226"/>
            <a:ext cx="9702238" cy="359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5"/>
              </a:lnSpc>
            </a:pPr>
            <a:r>
              <a:rPr lang="en-US" sz="1928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구매 상품에 대한 리뷰 등록, 수정, 삭제 및 별점 평가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302562" y="2250684"/>
            <a:ext cx="6626263" cy="58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2"/>
              </a:lnSpc>
            </a:pPr>
            <a:r>
              <a:rPr lang="en-US" b="true" sz="3001" spc="-66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판매자</a:t>
            </a:r>
            <a:r>
              <a:rPr lang="en-US" b="true" sz="3001" spc="-66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요구사항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928414" y="3211763"/>
            <a:ext cx="13760186" cy="1234547"/>
            <a:chOff x="0" y="0"/>
            <a:chExt cx="3004784" cy="2695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04784" cy="269586"/>
            </a:xfrm>
            <a:custGeom>
              <a:avLst/>
              <a:gdLst/>
              <a:ahLst/>
              <a:cxnLst/>
              <a:rect r="r" b="b" t="t" l="l"/>
              <a:pathLst>
                <a:path h="269586" w="3004784">
                  <a:moveTo>
                    <a:pt x="14066" y="0"/>
                  </a:moveTo>
                  <a:lnTo>
                    <a:pt x="2990719" y="0"/>
                  </a:lnTo>
                  <a:cubicBezTo>
                    <a:pt x="2994449" y="0"/>
                    <a:pt x="2998027" y="1482"/>
                    <a:pt x="3000665" y="4120"/>
                  </a:cubicBezTo>
                  <a:cubicBezTo>
                    <a:pt x="3003303" y="6758"/>
                    <a:pt x="3004784" y="10335"/>
                    <a:pt x="3004784" y="14066"/>
                  </a:cubicBezTo>
                  <a:lnTo>
                    <a:pt x="3004784" y="255520"/>
                  </a:lnTo>
                  <a:cubicBezTo>
                    <a:pt x="3004784" y="263288"/>
                    <a:pt x="2998487" y="269586"/>
                    <a:pt x="2990719" y="269586"/>
                  </a:cubicBezTo>
                  <a:lnTo>
                    <a:pt x="14066" y="269586"/>
                  </a:lnTo>
                  <a:cubicBezTo>
                    <a:pt x="10335" y="269586"/>
                    <a:pt x="6758" y="268104"/>
                    <a:pt x="4120" y="265466"/>
                  </a:cubicBezTo>
                  <a:cubicBezTo>
                    <a:pt x="1482" y="262828"/>
                    <a:pt x="0" y="259250"/>
                    <a:pt x="0" y="255520"/>
                  </a:cubicBezTo>
                  <a:lnTo>
                    <a:pt x="0" y="14066"/>
                  </a:lnTo>
                  <a:cubicBezTo>
                    <a:pt x="0" y="10335"/>
                    <a:pt x="1482" y="6758"/>
                    <a:pt x="4120" y="4120"/>
                  </a:cubicBezTo>
                  <a:cubicBezTo>
                    <a:pt x="6758" y="1482"/>
                    <a:pt x="10335" y="0"/>
                    <a:pt x="14066" y="0"/>
                  </a:cubicBezTo>
                  <a:close/>
                </a:path>
              </a:pathLst>
            </a:custGeom>
            <a:solidFill>
              <a:srgbClr val="FAFAFA"/>
            </a:solidFill>
            <a:ln w="19050" cap="rnd">
              <a:solidFill>
                <a:srgbClr val="157CEE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3004784" cy="364836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ctr" marL="0" indent="0" lvl="0">
                <a:lnSpc>
                  <a:spcPts val="3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65588" y="3211763"/>
            <a:ext cx="5410839" cy="1234547"/>
            <a:chOff x="0" y="0"/>
            <a:chExt cx="1181554" cy="2695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81554" cy="269586"/>
            </a:xfrm>
            <a:custGeom>
              <a:avLst/>
              <a:gdLst/>
              <a:ahLst/>
              <a:cxnLst/>
              <a:rect r="r" b="b" t="t" l="l"/>
              <a:pathLst>
                <a:path h="269586" w="1181554">
                  <a:moveTo>
                    <a:pt x="35770" y="0"/>
                  </a:moveTo>
                  <a:lnTo>
                    <a:pt x="1145784" y="0"/>
                  </a:lnTo>
                  <a:cubicBezTo>
                    <a:pt x="1165539" y="0"/>
                    <a:pt x="1181554" y="16015"/>
                    <a:pt x="1181554" y="35770"/>
                  </a:cubicBezTo>
                  <a:lnTo>
                    <a:pt x="1181554" y="233815"/>
                  </a:lnTo>
                  <a:cubicBezTo>
                    <a:pt x="1181554" y="253571"/>
                    <a:pt x="1165539" y="269586"/>
                    <a:pt x="1145784" y="269586"/>
                  </a:cubicBezTo>
                  <a:lnTo>
                    <a:pt x="35770" y="269586"/>
                  </a:lnTo>
                  <a:cubicBezTo>
                    <a:pt x="16015" y="269586"/>
                    <a:pt x="0" y="253571"/>
                    <a:pt x="0" y="233815"/>
                  </a:cubicBezTo>
                  <a:lnTo>
                    <a:pt x="0" y="35770"/>
                  </a:lnTo>
                  <a:cubicBezTo>
                    <a:pt x="0" y="16015"/>
                    <a:pt x="16015" y="0"/>
                    <a:pt x="35770" y="0"/>
                  </a:cubicBezTo>
                  <a:close/>
                </a:path>
              </a:pathLst>
            </a:custGeom>
            <a:solidFill>
              <a:srgbClr val="157CEE"/>
            </a:solidFill>
            <a:ln w="9525" cap="rnd">
              <a:solidFill>
                <a:srgbClr val="157CEE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1181554" cy="355311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l" marL="0" indent="0" lvl="0">
                <a:lnSpc>
                  <a:spcPts val="352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161700" y="3583271"/>
            <a:ext cx="2618614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b="true" sz="2136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상품 관리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928414" y="4707710"/>
            <a:ext cx="13760186" cy="1234547"/>
            <a:chOff x="0" y="0"/>
            <a:chExt cx="3004784" cy="2695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04784" cy="269586"/>
            </a:xfrm>
            <a:custGeom>
              <a:avLst/>
              <a:gdLst/>
              <a:ahLst/>
              <a:cxnLst/>
              <a:rect r="r" b="b" t="t" l="l"/>
              <a:pathLst>
                <a:path h="269586" w="3004784">
                  <a:moveTo>
                    <a:pt x="14066" y="0"/>
                  </a:moveTo>
                  <a:lnTo>
                    <a:pt x="2990719" y="0"/>
                  </a:lnTo>
                  <a:cubicBezTo>
                    <a:pt x="2994449" y="0"/>
                    <a:pt x="2998027" y="1482"/>
                    <a:pt x="3000665" y="4120"/>
                  </a:cubicBezTo>
                  <a:cubicBezTo>
                    <a:pt x="3003303" y="6758"/>
                    <a:pt x="3004784" y="10335"/>
                    <a:pt x="3004784" y="14066"/>
                  </a:cubicBezTo>
                  <a:lnTo>
                    <a:pt x="3004784" y="255520"/>
                  </a:lnTo>
                  <a:cubicBezTo>
                    <a:pt x="3004784" y="263288"/>
                    <a:pt x="2998487" y="269586"/>
                    <a:pt x="2990719" y="269586"/>
                  </a:cubicBezTo>
                  <a:lnTo>
                    <a:pt x="14066" y="269586"/>
                  </a:lnTo>
                  <a:cubicBezTo>
                    <a:pt x="10335" y="269586"/>
                    <a:pt x="6758" y="268104"/>
                    <a:pt x="4120" y="265466"/>
                  </a:cubicBezTo>
                  <a:cubicBezTo>
                    <a:pt x="1482" y="262828"/>
                    <a:pt x="0" y="259250"/>
                    <a:pt x="0" y="255520"/>
                  </a:cubicBezTo>
                  <a:lnTo>
                    <a:pt x="0" y="14066"/>
                  </a:lnTo>
                  <a:cubicBezTo>
                    <a:pt x="0" y="10335"/>
                    <a:pt x="1482" y="6758"/>
                    <a:pt x="4120" y="4120"/>
                  </a:cubicBezTo>
                  <a:cubicBezTo>
                    <a:pt x="6758" y="1482"/>
                    <a:pt x="10335" y="0"/>
                    <a:pt x="14066" y="0"/>
                  </a:cubicBezTo>
                  <a:close/>
                </a:path>
              </a:pathLst>
            </a:custGeom>
            <a:solidFill>
              <a:srgbClr val="FAFAFA"/>
            </a:solidFill>
            <a:ln w="19050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3004784" cy="364836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ctr" marL="0" indent="0" lvl="0">
                <a:lnSpc>
                  <a:spcPts val="3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65588" y="4710182"/>
            <a:ext cx="5410839" cy="1234547"/>
            <a:chOff x="0" y="0"/>
            <a:chExt cx="1181554" cy="2695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81554" cy="269586"/>
            </a:xfrm>
            <a:custGeom>
              <a:avLst/>
              <a:gdLst/>
              <a:ahLst/>
              <a:cxnLst/>
              <a:rect r="r" b="b" t="t" l="l"/>
              <a:pathLst>
                <a:path h="269586" w="1181554">
                  <a:moveTo>
                    <a:pt x="35770" y="0"/>
                  </a:moveTo>
                  <a:lnTo>
                    <a:pt x="1145784" y="0"/>
                  </a:lnTo>
                  <a:cubicBezTo>
                    <a:pt x="1165539" y="0"/>
                    <a:pt x="1181554" y="16015"/>
                    <a:pt x="1181554" y="35770"/>
                  </a:cubicBezTo>
                  <a:lnTo>
                    <a:pt x="1181554" y="233815"/>
                  </a:lnTo>
                  <a:cubicBezTo>
                    <a:pt x="1181554" y="253571"/>
                    <a:pt x="1165539" y="269586"/>
                    <a:pt x="1145784" y="269586"/>
                  </a:cubicBezTo>
                  <a:lnTo>
                    <a:pt x="35770" y="269586"/>
                  </a:lnTo>
                  <a:cubicBezTo>
                    <a:pt x="16015" y="269586"/>
                    <a:pt x="0" y="253571"/>
                    <a:pt x="0" y="233815"/>
                  </a:cubicBezTo>
                  <a:lnTo>
                    <a:pt x="0" y="35770"/>
                  </a:lnTo>
                  <a:cubicBezTo>
                    <a:pt x="0" y="16015"/>
                    <a:pt x="16015" y="0"/>
                    <a:pt x="35770" y="0"/>
                  </a:cubicBezTo>
                  <a:close/>
                </a:path>
              </a:pathLst>
            </a:custGeom>
            <a:solidFill>
              <a:srgbClr val="D1D1D1"/>
            </a:solidFill>
            <a:ln w="9525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1181554" cy="355311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l" marL="0" indent="0" lvl="0">
                <a:lnSpc>
                  <a:spcPts val="352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928414" y="6211430"/>
            <a:ext cx="13760186" cy="1234547"/>
            <a:chOff x="0" y="0"/>
            <a:chExt cx="3004784" cy="26958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04784" cy="269586"/>
            </a:xfrm>
            <a:custGeom>
              <a:avLst/>
              <a:gdLst/>
              <a:ahLst/>
              <a:cxnLst/>
              <a:rect r="r" b="b" t="t" l="l"/>
              <a:pathLst>
                <a:path h="269586" w="3004784">
                  <a:moveTo>
                    <a:pt x="14066" y="0"/>
                  </a:moveTo>
                  <a:lnTo>
                    <a:pt x="2990719" y="0"/>
                  </a:lnTo>
                  <a:cubicBezTo>
                    <a:pt x="2994449" y="0"/>
                    <a:pt x="2998027" y="1482"/>
                    <a:pt x="3000665" y="4120"/>
                  </a:cubicBezTo>
                  <a:cubicBezTo>
                    <a:pt x="3003303" y="6758"/>
                    <a:pt x="3004784" y="10335"/>
                    <a:pt x="3004784" y="14066"/>
                  </a:cubicBezTo>
                  <a:lnTo>
                    <a:pt x="3004784" y="255520"/>
                  </a:lnTo>
                  <a:cubicBezTo>
                    <a:pt x="3004784" y="263288"/>
                    <a:pt x="2998487" y="269586"/>
                    <a:pt x="2990719" y="269586"/>
                  </a:cubicBezTo>
                  <a:lnTo>
                    <a:pt x="14066" y="269586"/>
                  </a:lnTo>
                  <a:cubicBezTo>
                    <a:pt x="10335" y="269586"/>
                    <a:pt x="6758" y="268104"/>
                    <a:pt x="4120" y="265466"/>
                  </a:cubicBezTo>
                  <a:cubicBezTo>
                    <a:pt x="1482" y="262828"/>
                    <a:pt x="0" y="259250"/>
                    <a:pt x="0" y="255520"/>
                  </a:cubicBezTo>
                  <a:lnTo>
                    <a:pt x="0" y="14066"/>
                  </a:lnTo>
                  <a:cubicBezTo>
                    <a:pt x="0" y="10335"/>
                    <a:pt x="1482" y="6758"/>
                    <a:pt x="4120" y="4120"/>
                  </a:cubicBezTo>
                  <a:cubicBezTo>
                    <a:pt x="6758" y="1482"/>
                    <a:pt x="10335" y="0"/>
                    <a:pt x="14066" y="0"/>
                  </a:cubicBezTo>
                  <a:close/>
                </a:path>
              </a:pathLst>
            </a:custGeom>
            <a:solidFill>
              <a:srgbClr val="FAFAFA"/>
            </a:solidFill>
            <a:ln w="19050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42875"/>
              <a:ext cx="3004784" cy="412461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ctr" marL="0" indent="0" lvl="0">
                <a:lnSpc>
                  <a:spcPts val="4048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65588" y="6208957"/>
            <a:ext cx="5410839" cy="1234547"/>
            <a:chOff x="0" y="0"/>
            <a:chExt cx="1181554" cy="26958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81554" cy="269586"/>
            </a:xfrm>
            <a:custGeom>
              <a:avLst/>
              <a:gdLst/>
              <a:ahLst/>
              <a:cxnLst/>
              <a:rect r="r" b="b" t="t" l="l"/>
              <a:pathLst>
                <a:path h="269586" w="1181554">
                  <a:moveTo>
                    <a:pt x="35770" y="0"/>
                  </a:moveTo>
                  <a:lnTo>
                    <a:pt x="1145784" y="0"/>
                  </a:lnTo>
                  <a:cubicBezTo>
                    <a:pt x="1165539" y="0"/>
                    <a:pt x="1181554" y="16015"/>
                    <a:pt x="1181554" y="35770"/>
                  </a:cubicBezTo>
                  <a:lnTo>
                    <a:pt x="1181554" y="233815"/>
                  </a:lnTo>
                  <a:cubicBezTo>
                    <a:pt x="1181554" y="253571"/>
                    <a:pt x="1165539" y="269586"/>
                    <a:pt x="1145784" y="269586"/>
                  </a:cubicBezTo>
                  <a:lnTo>
                    <a:pt x="35770" y="269586"/>
                  </a:lnTo>
                  <a:cubicBezTo>
                    <a:pt x="16015" y="269586"/>
                    <a:pt x="0" y="253571"/>
                    <a:pt x="0" y="233815"/>
                  </a:cubicBezTo>
                  <a:lnTo>
                    <a:pt x="0" y="35770"/>
                  </a:lnTo>
                  <a:cubicBezTo>
                    <a:pt x="0" y="16015"/>
                    <a:pt x="16015" y="0"/>
                    <a:pt x="35770" y="0"/>
                  </a:cubicBezTo>
                  <a:close/>
                </a:path>
              </a:pathLst>
            </a:custGeom>
            <a:solidFill>
              <a:srgbClr val="D1D1D1"/>
            </a:solidFill>
            <a:ln w="19050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33350"/>
              <a:ext cx="1181554" cy="402936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l" marL="0" indent="0" lvl="0">
                <a:lnSpc>
                  <a:spcPts val="4048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928414" y="7703152"/>
            <a:ext cx="13760186" cy="1234547"/>
            <a:chOff x="0" y="0"/>
            <a:chExt cx="3004784" cy="26958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04784" cy="269586"/>
            </a:xfrm>
            <a:custGeom>
              <a:avLst/>
              <a:gdLst/>
              <a:ahLst/>
              <a:cxnLst/>
              <a:rect r="r" b="b" t="t" l="l"/>
              <a:pathLst>
                <a:path h="269586" w="3004784">
                  <a:moveTo>
                    <a:pt x="14066" y="0"/>
                  </a:moveTo>
                  <a:lnTo>
                    <a:pt x="2990719" y="0"/>
                  </a:lnTo>
                  <a:cubicBezTo>
                    <a:pt x="2994449" y="0"/>
                    <a:pt x="2998027" y="1482"/>
                    <a:pt x="3000665" y="4120"/>
                  </a:cubicBezTo>
                  <a:cubicBezTo>
                    <a:pt x="3003303" y="6758"/>
                    <a:pt x="3004784" y="10335"/>
                    <a:pt x="3004784" y="14066"/>
                  </a:cubicBezTo>
                  <a:lnTo>
                    <a:pt x="3004784" y="255520"/>
                  </a:lnTo>
                  <a:cubicBezTo>
                    <a:pt x="3004784" y="263288"/>
                    <a:pt x="2998487" y="269586"/>
                    <a:pt x="2990719" y="269586"/>
                  </a:cubicBezTo>
                  <a:lnTo>
                    <a:pt x="14066" y="269586"/>
                  </a:lnTo>
                  <a:cubicBezTo>
                    <a:pt x="10335" y="269586"/>
                    <a:pt x="6758" y="268104"/>
                    <a:pt x="4120" y="265466"/>
                  </a:cubicBezTo>
                  <a:cubicBezTo>
                    <a:pt x="1482" y="262828"/>
                    <a:pt x="0" y="259250"/>
                    <a:pt x="0" y="255520"/>
                  </a:cubicBezTo>
                  <a:lnTo>
                    <a:pt x="0" y="14066"/>
                  </a:lnTo>
                  <a:cubicBezTo>
                    <a:pt x="0" y="10335"/>
                    <a:pt x="1482" y="6758"/>
                    <a:pt x="4120" y="4120"/>
                  </a:cubicBezTo>
                  <a:cubicBezTo>
                    <a:pt x="6758" y="1482"/>
                    <a:pt x="10335" y="0"/>
                    <a:pt x="14066" y="0"/>
                  </a:cubicBezTo>
                  <a:close/>
                </a:path>
              </a:pathLst>
            </a:custGeom>
            <a:solidFill>
              <a:srgbClr val="FAFAFA"/>
            </a:solidFill>
            <a:ln w="19050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142875"/>
              <a:ext cx="3004784" cy="412461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ctr" marL="0" indent="0" lvl="0">
                <a:lnSpc>
                  <a:spcPts val="4048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765588" y="7710204"/>
            <a:ext cx="5410839" cy="1234547"/>
            <a:chOff x="0" y="0"/>
            <a:chExt cx="1181554" cy="26958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81554" cy="269586"/>
            </a:xfrm>
            <a:custGeom>
              <a:avLst/>
              <a:gdLst/>
              <a:ahLst/>
              <a:cxnLst/>
              <a:rect r="r" b="b" t="t" l="l"/>
              <a:pathLst>
                <a:path h="269586" w="1181554">
                  <a:moveTo>
                    <a:pt x="35770" y="0"/>
                  </a:moveTo>
                  <a:lnTo>
                    <a:pt x="1145784" y="0"/>
                  </a:lnTo>
                  <a:cubicBezTo>
                    <a:pt x="1165539" y="0"/>
                    <a:pt x="1181554" y="16015"/>
                    <a:pt x="1181554" y="35770"/>
                  </a:cubicBezTo>
                  <a:lnTo>
                    <a:pt x="1181554" y="233815"/>
                  </a:lnTo>
                  <a:cubicBezTo>
                    <a:pt x="1181554" y="253571"/>
                    <a:pt x="1165539" y="269586"/>
                    <a:pt x="1145784" y="269586"/>
                  </a:cubicBezTo>
                  <a:lnTo>
                    <a:pt x="35770" y="269586"/>
                  </a:lnTo>
                  <a:cubicBezTo>
                    <a:pt x="16015" y="269586"/>
                    <a:pt x="0" y="253571"/>
                    <a:pt x="0" y="233815"/>
                  </a:cubicBezTo>
                  <a:lnTo>
                    <a:pt x="0" y="35770"/>
                  </a:lnTo>
                  <a:cubicBezTo>
                    <a:pt x="0" y="16015"/>
                    <a:pt x="16015" y="0"/>
                    <a:pt x="35770" y="0"/>
                  </a:cubicBezTo>
                  <a:close/>
                </a:path>
              </a:pathLst>
            </a:custGeom>
            <a:solidFill>
              <a:srgbClr val="D1D1D1"/>
            </a:solidFill>
            <a:ln w="19050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33350"/>
              <a:ext cx="1181554" cy="402936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l" marL="0" indent="0" lvl="0">
                <a:lnSpc>
                  <a:spcPts val="4048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928414" y="9211451"/>
            <a:ext cx="13760186" cy="1234547"/>
            <a:chOff x="0" y="0"/>
            <a:chExt cx="3004784" cy="26958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04784" cy="269586"/>
            </a:xfrm>
            <a:custGeom>
              <a:avLst/>
              <a:gdLst/>
              <a:ahLst/>
              <a:cxnLst/>
              <a:rect r="r" b="b" t="t" l="l"/>
              <a:pathLst>
                <a:path h="269586" w="3004784">
                  <a:moveTo>
                    <a:pt x="14066" y="0"/>
                  </a:moveTo>
                  <a:lnTo>
                    <a:pt x="2990719" y="0"/>
                  </a:lnTo>
                  <a:cubicBezTo>
                    <a:pt x="2994449" y="0"/>
                    <a:pt x="2998027" y="1482"/>
                    <a:pt x="3000665" y="4120"/>
                  </a:cubicBezTo>
                  <a:cubicBezTo>
                    <a:pt x="3003303" y="6758"/>
                    <a:pt x="3004784" y="10335"/>
                    <a:pt x="3004784" y="14066"/>
                  </a:cubicBezTo>
                  <a:lnTo>
                    <a:pt x="3004784" y="255520"/>
                  </a:lnTo>
                  <a:cubicBezTo>
                    <a:pt x="3004784" y="263288"/>
                    <a:pt x="2998487" y="269586"/>
                    <a:pt x="2990719" y="269586"/>
                  </a:cubicBezTo>
                  <a:lnTo>
                    <a:pt x="14066" y="269586"/>
                  </a:lnTo>
                  <a:cubicBezTo>
                    <a:pt x="10335" y="269586"/>
                    <a:pt x="6758" y="268104"/>
                    <a:pt x="4120" y="265466"/>
                  </a:cubicBezTo>
                  <a:cubicBezTo>
                    <a:pt x="1482" y="262828"/>
                    <a:pt x="0" y="259250"/>
                    <a:pt x="0" y="255520"/>
                  </a:cubicBezTo>
                  <a:lnTo>
                    <a:pt x="0" y="14066"/>
                  </a:lnTo>
                  <a:cubicBezTo>
                    <a:pt x="0" y="10335"/>
                    <a:pt x="1482" y="6758"/>
                    <a:pt x="4120" y="4120"/>
                  </a:cubicBezTo>
                  <a:cubicBezTo>
                    <a:pt x="6758" y="1482"/>
                    <a:pt x="10335" y="0"/>
                    <a:pt x="14066" y="0"/>
                  </a:cubicBezTo>
                  <a:close/>
                </a:path>
              </a:pathLst>
            </a:custGeom>
            <a:solidFill>
              <a:srgbClr val="FAFAFA"/>
            </a:solidFill>
            <a:ln w="19050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142875"/>
              <a:ext cx="3004784" cy="412461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ctr" marL="0" indent="0" lvl="0">
                <a:lnSpc>
                  <a:spcPts val="4048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65588" y="9211451"/>
            <a:ext cx="5410839" cy="1234547"/>
            <a:chOff x="0" y="0"/>
            <a:chExt cx="1181554" cy="26958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81554" cy="269586"/>
            </a:xfrm>
            <a:custGeom>
              <a:avLst/>
              <a:gdLst/>
              <a:ahLst/>
              <a:cxnLst/>
              <a:rect r="r" b="b" t="t" l="l"/>
              <a:pathLst>
                <a:path h="269586" w="1181554">
                  <a:moveTo>
                    <a:pt x="35770" y="0"/>
                  </a:moveTo>
                  <a:lnTo>
                    <a:pt x="1145784" y="0"/>
                  </a:lnTo>
                  <a:cubicBezTo>
                    <a:pt x="1165539" y="0"/>
                    <a:pt x="1181554" y="16015"/>
                    <a:pt x="1181554" y="35770"/>
                  </a:cubicBezTo>
                  <a:lnTo>
                    <a:pt x="1181554" y="233815"/>
                  </a:lnTo>
                  <a:cubicBezTo>
                    <a:pt x="1181554" y="253571"/>
                    <a:pt x="1165539" y="269586"/>
                    <a:pt x="1145784" y="269586"/>
                  </a:cubicBezTo>
                  <a:lnTo>
                    <a:pt x="35770" y="269586"/>
                  </a:lnTo>
                  <a:cubicBezTo>
                    <a:pt x="16015" y="269586"/>
                    <a:pt x="0" y="253571"/>
                    <a:pt x="0" y="233815"/>
                  </a:cubicBezTo>
                  <a:lnTo>
                    <a:pt x="0" y="35770"/>
                  </a:lnTo>
                  <a:cubicBezTo>
                    <a:pt x="0" y="16015"/>
                    <a:pt x="16015" y="0"/>
                    <a:pt x="35770" y="0"/>
                  </a:cubicBezTo>
                  <a:close/>
                </a:path>
              </a:pathLst>
            </a:custGeom>
            <a:solidFill>
              <a:srgbClr val="D1D1D1"/>
            </a:solidFill>
            <a:ln w="19050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33350"/>
              <a:ext cx="1181554" cy="402936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l" marL="0" indent="0" lvl="0">
                <a:lnSpc>
                  <a:spcPts val="4048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-701975" y="1038813"/>
            <a:ext cx="8024780" cy="93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21"/>
              </a:lnSpc>
            </a:pPr>
            <a:r>
              <a:rPr lang="en-US" b="true" sz="4888" spc="-10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03 요구사항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161700" y="5079217"/>
            <a:ext cx="2618614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b="true" sz="2136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배송 관리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161700" y="6582937"/>
            <a:ext cx="2618614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b="true" sz="2136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C</a:t>
            </a:r>
            <a:r>
              <a:rPr lang="en-US" b="true" sz="2136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 관리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161700" y="8074627"/>
            <a:ext cx="2618614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b="true" sz="2136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정</a:t>
            </a:r>
            <a:r>
              <a:rPr lang="en-US" b="true" sz="2136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산 관리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161700" y="9573401"/>
            <a:ext cx="2618614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b="true" sz="2136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리뷰 관리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707273" y="3587528"/>
            <a:ext cx="6143465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sz="2136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상</a:t>
            </a:r>
            <a:r>
              <a:rPr lang="en-US" sz="2136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품 등록 및 수정 / 상품 목록 확인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27649" y="5081723"/>
            <a:ext cx="3435532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sz="2136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상품 배송 처리 기능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372910" y="6563920"/>
            <a:ext cx="5145009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sz="2136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상</a:t>
            </a:r>
            <a:r>
              <a:rPr lang="en-US" sz="2136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품 취소 및 반품 처리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068803" y="8084152"/>
            <a:ext cx="3753223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sz="2136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판</a:t>
            </a:r>
            <a:r>
              <a:rPr lang="en-US" sz="2136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매 물품 정산액 확인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97493" y="9585399"/>
            <a:ext cx="5095843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sz="2136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본</a:t>
            </a:r>
            <a:r>
              <a:rPr lang="en-US" sz="2136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인 상품 리뷰 확인 및 답글 작성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87434" y="2250684"/>
            <a:ext cx="6626263" cy="58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2"/>
              </a:lnSpc>
            </a:pPr>
            <a:r>
              <a:rPr lang="en-US" b="true" sz="3001" spc="-66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관리자</a:t>
            </a:r>
            <a:r>
              <a:rPr lang="en-US" b="true" sz="3001" spc="-66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요구사항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701975" y="1038813"/>
            <a:ext cx="8024780" cy="93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21"/>
              </a:lnSpc>
            </a:pPr>
            <a:r>
              <a:rPr lang="en-US" b="true" sz="4888" spc="-10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03 요구사항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931211" y="3231683"/>
            <a:ext cx="13760186" cy="1211265"/>
            <a:chOff x="0" y="0"/>
            <a:chExt cx="3004784" cy="2645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04784" cy="264502"/>
            </a:xfrm>
            <a:custGeom>
              <a:avLst/>
              <a:gdLst/>
              <a:ahLst/>
              <a:cxnLst/>
              <a:rect r="r" b="b" t="t" l="l"/>
              <a:pathLst>
                <a:path h="264502" w="3004784">
                  <a:moveTo>
                    <a:pt x="14066" y="0"/>
                  </a:moveTo>
                  <a:lnTo>
                    <a:pt x="2990719" y="0"/>
                  </a:lnTo>
                  <a:cubicBezTo>
                    <a:pt x="2994449" y="0"/>
                    <a:pt x="2998027" y="1482"/>
                    <a:pt x="3000665" y="4120"/>
                  </a:cubicBezTo>
                  <a:cubicBezTo>
                    <a:pt x="3003303" y="6758"/>
                    <a:pt x="3004784" y="10335"/>
                    <a:pt x="3004784" y="14066"/>
                  </a:cubicBezTo>
                  <a:lnTo>
                    <a:pt x="3004784" y="250436"/>
                  </a:lnTo>
                  <a:cubicBezTo>
                    <a:pt x="3004784" y="258204"/>
                    <a:pt x="2998487" y="264502"/>
                    <a:pt x="2990719" y="264502"/>
                  </a:cubicBezTo>
                  <a:lnTo>
                    <a:pt x="14066" y="264502"/>
                  </a:lnTo>
                  <a:cubicBezTo>
                    <a:pt x="10335" y="264502"/>
                    <a:pt x="6758" y="263020"/>
                    <a:pt x="4120" y="260382"/>
                  </a:cubicBezTo>
                  <a:cubicBezTo>
                    <a:pt x="1482" y="257744"/>
                    <a:pt x="0" y="254166"/>
                    <a:pt x="0" y="250436"/>
                  </a:cubicBezTo>
                  <a:lnTo>
                    <a:pt x="0" y="14066"/>
                  </a:lnTo>
                  <a:cubicBezTo>
                    <a:pt x="0" y="10335"/>
                    <a:pt x="1482" y="6758"/>
                    <a:pt x="4120" y="4120"/>
                  </a:cubicBezTo>
                  <a:cubicBezTo>
                    <a:pt x="6758" y="1482"/>
                    <a:pt x="10335" y="0"/>
                    <a:pt x="14066" y="0"/>
                  </a:cubicBezTo>
                  <a:close/>
                </a:path>
              </a:pathLst>
            </a:custGeom>
            <a:solidFill>
              <a:srgbClr val="FAFAFA"/>
            </a:solidFill>
            <a:ln w="19050" cap="rnd">
              <a:solidFill>
                <a:srgbClr val="157CE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3004784" cy="359752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ctr" marL="0" indent="0" lvl="0">
                <a:lnSpc>
                  <a:spcPts val="35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65588" y="3211763"/>
            <a:ext cx="5410839" cy="1234547"/>
            <a:chOff x="0" y="0"/>
            <a:chExt cx="1181554" cy="2695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1554" cy="269586"/>
            </a:xfrm>
            <a:custGeom>
              <a:avLst/>
              <a:gdLst/>
              <a:ahLst/>
              <a:cxnLst/>
              <a:rect r="r" b="b" t="t" l="l"/>
              <a:pathLst>
                <a:path h="269586" w="1181554">
                  <a:moveTo>
                    <a:pt x="35770" y="0"/>
                  </a:moveTo>
                  <a:lnTo>
                    <a:pt x="1145784" y="0"/>
                  </a:lnTo>
                  <a:cubicBezTo>
                    <a:pt x="1165539" y="0"/>
                    <a:pt x="1181554" y="16015"/>
                    <a:pt x="1181554" y="35770"/>
                  </a:cubicBezTo>
                  <a:lnTo>
                    <a:pt x="1181554" y="233815"/>
                  </a:lnTo>
                  <a:cubicBezTo>
                    <a:pt x="1181554" y="253571"/>
                    <a:pt x="1165539" y="269586"/>
                    <a:pt x="1145784" y="269586"/>
                  </a:cubicBezTo>
                  <a:lnTo>
                    <a:pt x="35770" y="269586"/>
                  </a:lnTo>
                  <a:cubicBezTo>
                    <a:pt x="16015" y="269586"/>
                    <a:pt x="0" y="253571"/>
                    <a:pt x="0" y="233815"/>
                  </a:cubicBezTo>
                  <a:lnTo>
                    <a:pt x="0" y="35770"/>
                  </a:lnTo>
                  <a:cubicBezTo>
                    <a:pt x="0" y="16015"/>
                    <a:pt x="16015" y="0"/>
                    <a:pt x="35770" y="0"/>
                  </a:cubicBezTo>
                  <a:close/>
                </a:path>
              </a:pathLst>
            </a:custGeom>
            <a:solidFill>
              <a:srgbClr val="157CEE"/>
            </a:solidFill>
            <a:ln w="9525" cap="rnd">
              <a:solidFill>
                <a:srgbClr val="157CE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181554" cy="355311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l" marL="0" indent="0" lvl="0">
                <a:lnSpc>
                  <a:spcPts val="3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931211" y="4708805"/>
            <a:ext cx="13760186" cy="1234547"/>
            <a:chOff x="0" y="0"/>
            <a:chExt cx="3004784" cy="2695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04784" cy="269586"/>
            </a:xfrm>
            <a:custGeom>
              <a:avLst/>
              <a:gdLst/>
              <a:ahLst/>
              <a:cxnLst/>
              <a:rect r="r" b="b" t="t" l="l"/>
              <a:pathLst>
                <a:path h="269586" w="3004784">
                  <a:moveTo>
                    <a:pt x="14066" y="0"/>
                  </a:moveTo>
                  <a:lnTo>
                    <a:pt x="2990719" y="0"/>
                  </a:lnTo>
                  <a:cubicBezTo>
                    <a:pt x="2994449" y="0"/>
                    <a:pt x="2998027" y="1482"/>
                    <a:pt x="3000665" y="4120"/>
                  </a:cubicBezTo>
                  <a:cubicBezTo>
                    <a:pt x="3003303" y="6758"/>
                    <a:pt x="3004784" y="10335"/>
                    <a:pt x="3004784" y="14066"/>
                  </a:cubicBezTo>
                  <a:lnTo>
                    <a:pt x="3004784" y="255520"/>
                  </a:lnTo>
                  <a:cubicBezTo>
                    <a:pt x="3004784" y="263288"/>
                    <a:pt x="2998487" y="269586"/>
                    <a:pt x="2990719" y="269586"/>
                  </a:cubicBezTo>
                  <a:lnTo>
                    <a:pt x="14066" y="269586"/>
                  </a:lnTo>
                  <a:cubicBezTo>
                    <a:pt x="10335" y="269586"/>
                    <a:pt x="6758" y="268104"/>
                    <a:pt x="4120" y="265466"/>
                  </a:cubicBezTo>
                  <a:cubicBezTo>
                    <a:pt x="1482" y="262828"/>
                    <a:pt x="0" y="259250"/>
                    <a:pt x="0" y="255520"/>
                  </a:cubicBezTo>
                  <a:lnTo>
                    <a:pt x="0" y="14066"/>
                  </a:lnTo>
                  <a:cubicBezTo>
                    <a:pt x="0" y="10335"/>
                    <a:pt x="1482" y="6758"/>
                    <a:pt x="4120" y="4120"/>
                  </a:cubicBezTo>
                  <a:cubicBezTo>
                    <a:pt x="6758" y="1482"/>
                    <a:pt x="10335" y="0"/>
                    <a:pt x="14066" y="0"/>
                  </a:cubicBezTo>
                  <a:close/>
                </a:path>
              </a:pathLst>
            </a:custGeom>
            <a:solidFill>
              <a:srgbClr val="FAFAFA"/>
            </a:solidFill>
            <a:ln w="19050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3004784" cy="364836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ctr" marL="0" indent="0" lvl="0">
                <a:lnSpc>
                  <a:spcPts val="3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65588" y="4708805"/>
            <a:ext cx="5410839" cy="1234547"/>
            <a:chOff x="0" y="0"/>
            <a:chExt cx="1181554" cy="2695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81554" cy="269586"/>
            </a:xfrm>
            <a:custGeom>
              <a:avLst/>
              <a:gdLst/>
              <a:ahLst/>
              <a:cxnLst/>
              <a:rect r="r" b="b" t="t" l="l"/>
              <a:pathLst>
                <a:path h="269586" w="1181554">
                  <a:moveTo>
                    <a:pt x="35770" y="0"/>
                  </a:moveTo>
                  <a:lnTo>
                    <a:pt x="1145784" y="0"/>
                  </a:lnTo>
                  <a:cubicBezTo>
                    <a:pt x="1165539" y="0"/>
                    <a:pt x="1181554" y="16015"/>
                    <a:pt x="1181554" y="35770"/>
                  </a:cubicBezTo>
                  <a:lnTo>
                    <a:pt x="1181554" y="233815"/>
                  </a:lnTo>
                  <a:cubicBezTo>
                    <a:pt x="1181554" y="253571"/>
                    <a:pt x="1165539" y="269586"/>
                    <a:pt x="1145784" y="269586"/>
                  </a:cubicBezTo>
                  <a:lnTo>
                    <a:pt x="35770" y="269586"/>
                  </a:lnTo>
                  <a:cubicBezTo>
                    <a:pt x="16015" y="269586"/>
                    <a:pt x="0" y="253571"/>
                    <a:pt x="0" y="233815"/>
                  </a:cubicBezTo>
                  <a:lnTo>
                    <a:pt x="0" y="35770"/>
                  </a:lnTo>
                  <a:cubicBezTo>
                    <a:pt x="0" y="16015"/>
                    <a:pt x="16015" y="0"/>
                    <a:pt x="35770" y="0"/>
                  </a:cubicBezTo>
                  <a:close/>
                </a:path>
              </a:pathLst>
            </a:custGeom>
            <a:solidFill>
              <a:srgbClr val="D1D1D1"/>
            </a:solidFill>
            <a:ln w="9525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1181554" cy="355311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l" marL="0" indent="0" lvl="0">
                <a:lnSpc>
                  <a:spcPts val="352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931211" y="6200528"/>
            <a:ext cx="13760186" cy="1234547"/>
            <a:chOff x="0" y="0"/>
            <a:chExt cx="3004784" cy="26958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04784" cy="269586"/>
            </a:xfrm>
            <a:custGeom>
              <a:avLst/>
              <a:gdLst/>
              <a:ahLst/>
              <a:cxnLst/>
              <a:rect r="r" b="b" t="t" l="l"/>
              <a:pathLst>
                <a:path h="269586" w="3004784">
                  <a:moveTo>
                    <a:pt x="14066" y="0"/>
                  </a:moveTo>
                  <a:lnTo>
                    <a:pt x="2990719" y="0"/>
                  </a:lnTo>
                  <a:cubicBezTo>
                    <a:pt x="2994449" y="0"/>
                    <a:pt x="2998027" y="1482"/>
                    <a:pt x="3000665" y="4120"/>
                  </a:cubicBezTo>
                  <a:cubicBezTo>
                    <a:pt x="3003303" y="6758"/>
                    <a:pt x="3004784" y="10335"/>
                    <a:pt x="3004784" y="14066"/>
                  </a:cubicBezTo>
                  <a:lnTo>
                    <a:pt x="3004784" y="255520"/>
                  </a:lnTo>
                  <a:cubicBezTo>
                    <a:pt x="3004784" y="263288"/>
                    <a:pt x="2998487" y="269586"/>
                    <a:pt x="2990719" y="269586"/>
                  </a:cubicBezTo>
                  <a:lnTo>
                    <a:pt x="14066" y="269586"/>
                  </a:lnTo>
                  <a:cubicBezTo>
                    <a:pt x="10335" y="269586"/>
                    <a:pt x="6758" y="268104"/>
                    <a:pt x="4120" y="265466"/>
                  </a:cubicBezTo>
                  <a:cubicBezTo>
                    <a:pt x="1482" y="262828"/>
                    <a:pt x="0" y="259250"/>
                    <a:pt x="0" y="255520"/>
                  </a:cubicBezTo>
                  <a:lnTo>
                    <a:pt x="0" y="14066"/>
                  </a:lnTo>
                  <a:cubicBezTo>
                    <a:pt x="0" y="10335"/>
                    <a:pt x="1482" y="6758"/>
                    <a:pt x="4120" y="4120"/>
                  </a:cubicBezTo>
                  <a:cubicBezTo>
                    <a:pt x="6758" y="1482"/>
                    <a:pt x="10335" y="0"/>
                    <a:pt x="14066" y="0"/>
                  </a:cubicBezTo>
                  <a:close/>
                </a:path>
              </a:pathLst>
            </a:custGeom>
            <a:solidFill>
              <a:srgbClr val="FAFAFA"/>
            </a:solidFill>
            <a:ln w="19050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42875"/>
              <a:ext cx="3004784" cy="412461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ctr" marL="0" indent="0" lvl="0">
                <a:lnSpc>
                  <a:spcPts val="4048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65588" y="6208957"/>
            <a:ext cx="5410839" cy="1234547"/>
            <a:chOff x="0" y="0"/>
            <a:chExt cx="1181554" cy="26958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81554" cy="269586"/>
            </a:xfrm>
            <a:custGeom>
              <a:avLst/>
              <a:gdLst/>
              <a:ahLst/>
              <a:cxnLst/>
              <a:rect r="r" b="b" t="t" l="l"/>
              <a:pathLst>
                <a:path h="269586" w="1181554">
                  <a:moveTo>
                    <a:pt x="35770" y="0"/>
                  </a:moveTo>
                  <a:lnTo>
                    <a:pt x="1145784" y="0"/>
                  </a:lnTo>
                  <a:cubicBezTo>
                    <a:pt x="1165539" y="0"/>
                    <a:pt x="1181554" y="16015"/>
                    <a:pt x="1181554" y="35770"/>
                  </a:cubicBezTo>
                  <a:lnTo>
                    <a:pt x="1181554" y="233815"/>
                  </a:lnTo>
                  <a:cubicBezTo>
                    <a:pt x="1181554" y="253571"/>
                    <a:pt x="1165539" y="269586"/>
                    <a:pt x="1145784" y="269586"/>
                  </a:cubicBezTo>
                  <a:lnTo>
                    <a:pt x="35770" y="269586"/>
                  </a:lnTo>
                  <a:cubicBezTo>
                    <a:pt x="16015" y="269586"/>
                    <a:pt x="0" y="253571"/>
                    <a:pt x="0" y="233815"/>
                  </a:cubicBezTo>
                  <a:lnTo>
                    <a:pt x="0" y="35770"/>
                  </a:lnTo>
                  <a:cubicBezTo>
                    <a:pt x="0" y="16015"/>
                    <a:pt x="16015" y="0"/>
                    <a:pt x="35770" y="0"/>
                  </a:cubicBezTo>
                  <a:close/>
                </a:path>
              </a:pathLst>
            </a:custGeom>
            <a:solidFill>
              <a:srgbClr val="D1D1D1"/>
            </a:solidFill>
            <a:ln w="19050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33350"/>
              <a:ext cx="1181554" cy="402936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l" marL="0" indent="0" lvl="0">
                <a:lnSpc>
                  <a:spcPts val="4048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931211" y="7696480"/>
            <a:ext cx="13760186" cy="1234547"/>
            <a:chOff x="0" y="0"/>
            <a:chExt cx="3004784" cy="26958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04784" cy="269586"/>
            </a:xfrm>
            <a:custGeom>
              <a:avLst/>
              <a:gdLst/>
              <a:ahLst/>
              <a:cxnLst/>
              <a:rect r="r" b="b" t="t" l="l"/>
              <a:pathLst>
                <a:path h="269586" w="3004784">
                  <a:moveTo>
                    <a:pt x="14066" y="0"/>
                  </a:moveTo>
                  <a:lnTo>
                    <a:pt x="2990719" y="0"/>
                  </a:lnTo>
                  <a:cubicBezTo>
                    <a:pt x="2994449" y="0"/>
                    <a:pt x="2998027" y="1482"/>
                    <a:pt x="3000665" y="4120"/>
                  </a:cubicBezTo>
                  <a:cubicBezTo>
                    <a:pt x="3003303" y="6758"/>
                    <a:pt x="3004784" y="10335"/>
                    <a:pt x="3004784" y="14066"/>
                  </a:cubicBezTo>
                  <a:lnTo>
                    <a:pt x="3004784" y="255520"/>
                  </a:lnTo>
                  <a:cubicBezTo>
                    <a:pt x="3004784" y="263288"/>
                    <a:pt x="2998487" y="269586"/>
                    <a:pt x="2990719" y="269586"/>
                  </a:cubicBezTo>
                  <a:lnTo>
                    <a:pt x="14066" y="269586"/>
                  </a:lnTo>
                  <a:cubicBezTo>
                    <a:pt x="10335" y="269586"/>
                    <a:pt x="6758" y="268104"/>
                    <a:pt x="4120" y="265466"/>
                  </a:cubicBezTo>
                  <a:cubicBezTo>
                    <a:pt x="1482" y="262828"/>
                    <a:pt x="0" y="259250"/>
                    <a:pt x="0" y="255520"/>
                  </a:cubicBezTo>
                  <a:lnTo>
                    <a:pt x="0" y="14066"/>
                  </a:lnTo>
                  <a:cubicBezTo>
                    <a:pt x="0" y="10335"/>
                    <a:pt x="1482" y="6758"/>
                    <a:pt x="4120" y="4120"/>
                  </a:cubicBezTo>
                  <a:cubicBezTo>
                    <a:pt x="6758" y="1482"/>
                    <a:pt x="10335" y="0"/>
                    <a:pt x="14066" y="0"/>
                  </a:cubicBezTo>
                  <a:close/>
                </a:path>
              </a:pathLst>
            </a:custGeom>
            <a:solidFill>
              <a:srgbClr val="FAFAFA"/>
            </a:solidFill>
            <a:ln w="19050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142875"/>
              <a:ext cx="3004784" cy="412461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ctr" marL="0" indent="0" lvl="0">
                <a:lnSpc>
                  <a:spcPts val="4048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765588" y="7710204"/>
            <a:ext cx="5410839" cy="1234547"/>
            <a:chOff x="0" y="0"/>
            <a:chExt cx="1181554" cy="26958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81554" cy="269586"/>
            </a:xfrm>
            <a:custGeom>
              <a:avLst/>
              <a:gdLst/>
              <a:ahLst/>
              <a:cxnLst/>
              <a:rect r="r" b="b" t="t" l="l"/>
              <a:pathLst>
                <a:path h="269586" w="1181554">
                  <a:moveTo>
                    <a:pt x="35770" y="0"/>
                  </a:moveTo>
                  <a:lnTo>
                    <a:pt x="1145784" y="0"/>
                  </a:lnTo>
                  <a:cubicBezTo>
                    <a:pt x="1165539" y="0"/>
                    <a:pt x="1181554" y="16015"/>
                    <a:pt x="1181554" y="35770"/>
                  </a:cubicBezTo>
                  <a:lnTo>
                    <a:pt x="1181554" y="233815"/>
                  </a:lnTo>
                  <a:cubicBezTo>
                    <a:pt x="1181554" y="253571"/>
                    <a:pt x="1165539" y="269586"/>
                    <a:pt x="1145784" y="269586"/>
                  </a:cubicBezTo>
                  <a:lnTo>
                    <a:pt x="35770" y="269586"/>
                  </a:lnTo>
                  <a:cubicBezTo>
                    <a:pt x="16015" y="269586"/>
                    <a:pt x="0" y="253571"/>
                    <a:pt x="0" y="233815"/>
                  </a:cubicBezTo>
                  <a:lnTo>
                    <a:pt x="0" y="35770"/>
                  </a:lnTo>
                  <a:cubicBezTo>
                    <a:pt x="0" y="16015"/>
                    <a:pt x="16015" y="0"/>
                    <a:pt x="35770" y="0"/>
                  </a:cubicBezTo>
                  <a:close/>
                </a:path>
              </a:pathLst>
            </a:custGeom>
            <a:solidFill>
              <a:srgbClr val="D1D1D1"/>
            </a:solidFill>
            <a:ln w="19050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33350"/>
              <a:ext cx="1181554" cy="402936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l" marL="0" indent="0" lvl="0">
                <a:lnSpc>
                  <a:spcPts val="4048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931211" y="9220944"/>
            <a:ext cx="13760186" cy="1234547"/>
            <a:chOff x="0" y="0"/>
            <a:chExt cx="3004784" cy="26958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04784" cy="269586"/>
            </a:xfrm>
            <a:custGeom>
              <a:avLst/>
              <a:gdLst/>
              <a:ahLst/>
              <a:cxnLst/>
              <a:rect r="r" b="b" t="t" l="l"/>
              <a:pathLst>
                <a:path h="269586" w="3004784">
                  <a:moveTo>
                    <a:pt x="14066" y="0"/>
                  </a:moveTo>
                  <a:lnTo>
                    <a:pt x="2990719" y="0"/>
                  </a:lnTo>
                  <a:cubicBezTo>
                    <a:pt x="2994449" y="0"/>
                    <a:pt x="2998027" y="1482"/>
                    <a:pt x="3000665" y="4120"/>
                  </a:cubicBezTo>
                  <a:cubicBezTo>
                    <a:pt x="3003303" y="6758"/>
                    <a:pt x="3004784" y="10335"/>
                    <a:pt x="3004784" y="14066"/>
                  </a:cubicBezTo>
                  <a:lnTo>
                    <a:pt x="3004784" y="255520"/>
                  </a:lnTo>
                  <a:cubicBezTo>
                    <a:pt x="3004784" y="263288"/>
                    <a:pt x="2998487" y="269586"/>
                    <a:pt x="2990719" y="269586"/>
                  </a:cubicBezTo>
                  <a:lnTo>
                    <a:pt x="14066" y="269586"/>
                  </a:lnTo>
                  <a:cubicBezTo>
                    <a:pt x="10335" y="269586"/>
                    <a:pt x="6758" y="268104"/>
                    <a:pt x="4120" y="265466"/>
                  </a:cubicBezTo>
                  <a:cubicBezTo>
                    <a:pt x="1482" y="262828"/>
                    <a:pt x="0" y="259250"/>
                    <a:pt x="0" y="255520"/>
                  </a:cubicBezTo>
                  <a:lnTo>
                    <a:pt x="0" y="14066"/>
                  </a:lnTo>
                  <a:cubicBezTo>
                    <a:pt x="0" y="10335"/>
                    <a:pt x="1482" y="6758"/>
                    <a:pt x="4120" y="4120"/>
                  </a:cubicBezTo>
                  <a:cubicBezTo>
                    <a:pt x="6758" y="1482"/>
                    <a:pt x="10335" y="0"/>
                    <a:pt x="14066" y="0"/>
                  </a:cubicBezTo>
                  <a:close/>
                </a:path>
              </a:pathLst>
            </a:custGeom>
            <a:solidFill>
              <a:srgbClr val="FAFAFA"/>
            </a:solidFill>
            <a:ln w="19050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142875"/>
              <a:ext cx="3004784" cy="412461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ctr" marL="0" indent="0" lvl="0">
                <a:lnSpc>
                  <a:spcPts val="4048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65588" y="9211451"/>
            <a:ext cx="5410839" cy="1234547"/>
            <a:chOff x="0" y="0"/>
            <a:chExt cx="1181554" cy="26958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81554" cy="269586"/>
            </a:xfrm>
            <a:custGeom>
              <a:avLst/>
              <a:gdLst/>
              <a:ahLst/>
              <a:cxnLst/>
              <a:rect r="r" b="b" t="t" l="l"/>
              <a:pathLst>
                <a:path h="269586" w="1181554">
                  <a:moveTo>
                    <a:pt x="35770" y="0"/>
                  </a:moveTo>
                  <a:lnTo>
                    <a:pt x="1145784" y="0"/>
                  </a:lnTo>
                  <a:cubicBezTo>
                    <a:pt x="1165539" y="0"/>
                    <a:pt x="1181554" y="16015"/>
                    <a:pt x="1181554" y="35770"/>
                  </a:cubicBezTo>
                  <a:lnTo>
                    <a:pt x="1181554" y="233815"/>
                  </a:lnTo>
                  <a:cubicBezTo>
                    <a:pt x="1181554" y="253571"/>
                    <a:pt x="1165539" y="269586"/>
                    <a:pt x="1145784" y="269586"/>
                  </a:cubicBezTo>
                  <a:lnTo>
                    <a:pt x="35770" y="269586"/>
                  </a:lnTo>
                  <a:cubicBezTo>
                    <a:pt x="16015" y="269586"/>
                    <a:pt x="0" y="253571"/>
                    <a:pt x="0" y="233815"/>
                  </a:cubicBezTo>
                  <a:lnTo>
                    <a:pt x="0" y="35770"/>
                  </a:lnTo>
                  <a:cubicBezTo>
                    <a:pt x="0" y="16015"/>
                    <a:pt x="16015" y="0"/>
                    <a:pt x="35770" y="0"/>
                  </a:cubicBezTo>
                  <a:close/>
                </a:path>
              </a:pathLst>
            </a:custGeom>
            <a:solidFill>
              <a:srgbClr val="D1D1D1"/>
            </a:solidFill>
            <a:ln w="19050" cap="rnd">
              <a:solidFill>
                <a:srgbClr val="D1D1D1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33350"/>
              <a:ext cx="1181554" cy="402936"/>
            </a:xfrm>
            <a:prstGeom prst="rect">
              <a:avLst/>
            </a:prstGeom>
          </p:spPr>
          <p:txBody>
            <a:bodyPr anchor="ctr" rtlCol="false" tIns="72458" lIns="72458" bIns="72458" rIns="72458"/>
            <a:lstStyle/>
            <a:p>
              <a:pPr algn="l" marL="0" indent="0" lvl="0">
                <a:lnSpc>
                  <a:spcPts val="4048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3161700" y="3583271"/>
            <a:ext cx="2618614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b="true" sz="2136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회원 계정</a:t>
            </a:r>
            <a:r>
              <a:rPr lang="en-US" b="true" sz="2136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관리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161700" y="5077653"/>
            <a:ext cx="2618614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b="true" sz="2136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판매자 계정 관리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161700" y="6572035"/>
            <a:ext cx="2618614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b="true" sz="2136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상품 관리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161700" y="8067988"/>
            <a:ext cx="2618614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b="true" sz="2136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정산 관리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161700" y="9573401"/>
            <a:ext cx="2618614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b="true" sz="2136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리뷰 관리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474332" y="3591550"/>
            <a:ext cx="9426266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sz="2136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가입된 회원 목록 확인 및 관리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509069" y="5099363"/>
            <a:ext cx="9426266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sz="2136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가입된 판매자 목록 확인 및 관리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566219" y="6572003"/>
            <a:ext cx="9426266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sz="2136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등록된 상품 목록 확인 및 관리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566219" y="8063725"/>
            <a:ext cx="9426266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sz="2136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판매자 정산 목록 확인 및 승인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66219" y="9559677"/>
            <a:ext cx="9426266" cy="40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8"/>
              </a:lnSpc>
            </a:pPr>
            <a:r>
              <a:rPr lang="en-US" sz="2136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등록된 모든 리뷰 관리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434773" y="2185619"/>
            <a:ext cx="15418454" cy="8672881"/>
          </a:xfrm>
          <a:prstGeom prst="rect">
            <a:avLst/>
          </a:prstGeom>
          <a:solidFill>
            <a:srgbClr val="FAFAFA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4591493" y="7792612"/>
            <a:ext cx="1958139" cy="1310324"/>
            <a:chOff x="0" y="0"/>
            <a:chExt cx="2610852" cy="174709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610852" cy="1747098"/>
              <a:chOff x="0" y="0"/>
              <a:chExt cx="778898" cy="52121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778898" cy="521213"/>
              </a:xfrm>
              <a:custGeom>
                <a:avLst/>
                <a:gdLst/>
                <a:ahLst/>
                <a:cxnLst/>
                <a:rect r="r" b="b" t="t" l="l"/>
                <a:pathLst>
                  <a:path h="521213" w="778898">
                    <a:moveTo>
                      <a:pt x="98843" y="0"/>
                    </a:moveTo>
                    <a:lnTo>
                      <a:pt x="680055" y="0"/>
                    </a:lnTo>
                    <a:cubicBezTo>
                      <a:pt x="734644" y="0"/>
                      <a:pt x="778898" y="44253"/>
                      <a:pt x="778898" y="98843"/>
                    </a:cubicBezTo>
                    <a:lnTo>
                      <a:pt x="778898" y="422370"/>
                    </a:lnTo>
                    <a:cubicBezTo>
                      <a:pt x="778898" y="448585"/>
                      <a:pt x="768484" y="473726"/>
                      <a:pt x="749947" y="492263"/>
                    </a:cubicBezTo>
                    <a:cubicBezTo>
                      <a:pt x="731411" y="510800"/>
                      <a:pt x="706270" y="521213"/>
                      <a:pt x="680055" y="521213"/>
                    </a:cubicBezTo>
                    <a:lnTo>
                      <a:pt x="98843" y="521213"/>
                    </a:lnTo>
                    <a:cubicBezTo>
                      <a:pt x="44253" y="521213"/>
                      <a:pt x="0" y="476960"/>
                      <a:pt x="0" y="422370"/>
                    </a:cubicBezTo>
                    <a:lnTo>
                      <a:pt x="0" y="98843"/>
                    </a:lnTo>
                    <a:cubicBezTo>
                      <a:pt x="0" y="44253"/>
                      <a:pt x="44253" y="0"/>
                      <a:pt x="98843" y="0"/>
                    </a:cubicBezTo>
                    <a:close/>
                  </a:path>
                </a:pathLst>
              </a:custGeom>
              <a:solidFill>
                <a:srgbClr val="35D19C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57150"/>
                <a:ext cx="778898" cy="578363"/>
              </a:xfrm>
              <a:prstGeom prst="rect">
                <a:avLst/>
              </a:prstGeom>
            </p:spPr>
            <p:txBody>
              <a:bodyPr anchor="ctr" rtlCol="false" tIns="42829" lIns="42829" bIns="42829" rIns="42829"/>
              <a:lstStyle/>
              <a:p>
                <a:pPr algn="ctr" marL="0" indent="0" lvl="0">
                  <a:lnSpc>
                    <a:spcPts val="2158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42193" y="521325"/>
              <a:ext cx="1726466" cy="598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043"/>
                </a:lnSpc>
              </a:pPr>
              <a:r>
                <a:rPr lang="en-US" b="true" sz="2527">
                  <a:solidFill>
                    <a:srgbClr val="FFFFFF"/>
                  </a:solidFill>
                  <a:latin typeface="JASO Sans Bold"/>
                  <a:ea typeface="JASO Sans Bold"/>
                  <a:cs typeface="JASO Sans Bold"/>
                  <a:sym typeface="JASO Sans Bold"/>
                </a:rPr>
                <a:t>회원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49072" y="7792612"/>
            <a:ext cx="1958139" cy="1310324"/>
            <a:chOff x="0" y="0"/>
            <a:chExt cx="2610852" cy="1747098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610852" cy="1747098"/>
              <a:chOff x="0" y="0"/>
              <a:chExt cx="778898" cy="52121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78898" cy="521213"/>
              </a:xfrm>
              <a:custGeom>
                <a:avLst/>
                <a:gdLst/>
                <a:ahLst/>
                <a:cxnLst/>
                <a:rect r="r" b="b" t="t" l="l"/>
                <a:pathLst>
                  <a:path h="521213" w="778898">
                    <a:moveTo>
                      <a:pt x="98843" y="0"/>
                    </a:moveTo>
                    <a:lnTo>
                      <a:pt x="680055" y="0"/>
                    </a:lnTo>
                    <a:cubicBezTo>
                      <a:pt x="734644" y="0"/>
                      <a:pt x="778898" y="44253"/>
                      <a:pt x="778898" y="98843"/>
                    </a:cubicBezTo>
                    <a:lnTo>
                      <a:pt x="778898" y="422370"/>
                    </a:lnTo>
                    <a:cubicBezTo>
                      <a:pt x="778898" y="448585"/>
                      <a:pt x="768484" y="473726"/>
                      <a:pt x="749947" y="492263"/>
                    </a:cubicBezTo>
                    <a:cubicBezTo>
                      <a:pt x="731411" y="510800"/>
                      <a:pt x="706270" y="521213"/>
                      <a:pt x="680055" y="521213"/>
                    </a:cubicBezTo>
                    <a:lnTo>
                      <a:pt x="98843" y="521213"/>
                    </a:lnTo>
                    <a:cubicBezTo>
                      <a:pt x="44253" y="521213"/>
                      <a:pt x="0" y="476960"/>
                      <a:pt x="0" y="422370"/>
                    </a:cubicBezTo>
                    <a:lnTo>
                      <a:pt x="0" y="98843"/>
                    </a:lnTo>
                    <a:cubicBezTo>
                      <a:pt x="0" y="44253"/>
                      <a:pt x="44253" y="0"/>
                      <a:pt x="98843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778898" cy="578363"/>
              </a:xfrm>
              <a:prstGeom prst="rect">
                <a:avLst/>
              </a:prstGeom>
            </p:spPr>
            <p:txBody>
              <a:bodyPr anchor="ctr" rtlCol="false" tIns="42829" lIns="42829" bIns="42829" rIns="42829"/>
              <a:lstStyle/>
              <a:p>
                <a:pPr algn="ctr" marL="0" indent="0" lvl="0">
                  <a:lnSpc>
                    <a:spcPts val="2158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649817" y="521325"/>
              <a:ext cx="1311218" cy="598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043"/>
                </a:lnSpc>
              </a:pPr>
              <a:r>
                <a:rPr lang="en-US" b="true" sz="2527">
                  <a:solidFill>
                    <a:srgbClr val="222222"/>
                  </a:solidFill>
                  <a:latin typeface="JASO Sans Bold"/>
                  <a:ea typeface="JASO Sans Bold"/>
                  <a:cs typeface="JASO Sans Bold"/>
                  <a:sym typeface="JASO Sans Bold"/>
                </a:rPr>
                <a:t>상품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1476375"/>
            <a:ext cx="6049350" cy="58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2"/>
              </a:lnSpc>
            </a:pPr>
            <a:r>
              <a:rPr lang="en-US" b="true" sz="3001" spc="-66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ER Diagram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859139" y="2377972"/>
            <a:ext cx="12056739" cy="8037826"/>
          </a:xfrm>
          <a:custGeom>
            <a:avLst/>
            <a:gdLst/>
            <a:ahLst/>
            <a:cxnLst/>
            <a:rect r="r" b="b" t="t" l="l"/>
            <a:pathLst>
              <a:path h="8037826" w="12056739">
                <a:moveTo>
                  <a:pt x="0" y="0"/>
                </a:moveTo>
                <a:lnTo>
                  <a:pt x="12056739" y="0"/>
                </a:lnTo>
                <a:lnTo>
                  <a:pt x="12056739" y="8037827"/>
                </a:lnTo>
                <a:lnTo>
                  <a:pt x="0" y="8037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733539" y="810345"/>
            <a:ext cx="5950856" cy="93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24"/>
              </a:lnSpc>
            </a:pPr>
            <a:r>
              <a:rPr lang="en-US" b="true" sz="4890" spc="-10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04 개체 속성 &amp; 관계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4742" y="3082954"/>
            <a:ext cx="15159258" cy="6733064"/>
          </a:xfrm>
          <a:custGeom>
            <a:avLst/>
            <a:gdLst/>
            <a:ahLst/>
            <a:cxnLst/>
            <a:rect r="r" b="b" t="t" l="l"/>
            <a:pathLst>
              <a:path h="6733064" w="15159258">
                <a:moveTo>
                  <a:pt x="0" y="0"/>
                </a:moveTo>
                <a:lnTo>
                  <a:pt x="15159258" y="0"/>
                </a:lnTo>
                <a:lnTo>
                  <a:pt x="15159258" y="6733064"/>
                </a:lnTo>
                <a:lnTo>
                  <a:pt x="0" y="673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81" t="0" r="-88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54387" y="210312"/>
            <a:ext cx="9168899" cy="93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24"/>
              </a:lnSpc>
            </a:pPr>
            <a:r>
              <a:rPr lang="en-US" b="true" sz="4890" spc="-10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05 데이터베이스 논리적 모델링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0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892" y="4022006"/>
            <a:ext cx="7354788" cy="1916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48"/>
              </a:lnSpc>
              <a:spcBef>
                <a:spcPct val="0"/>
              </a:spcBef>
            </a:pPr>
            <a:r>
              <a:rPr lang="en-US" b="true" sz="8993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담당 기능 상세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3892" y="3146667"/>
            <a:ext cx="8733639" cy="143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97"/>
              </a:lnSpc>
              <a:spcBef>
                <a:spcPct val="0"/>
              </a:spcBef>
            </a:pPr>
            <a:r>
              <a:rPr lang="en-US" sz="4141">
                <a:solidFill>
                  <a:srgbClr val="2282F3"/>
                </a:solidFill>
                <a:latin typeface="JASO Sans"/>
                <a:ea typeface="JASO Sans"/>
                <a:cs typeface="JASO Sans"/>
                <a:sym typeface="JASO Sans"/>
              </a:rPr>
              <a:t>TEAM MEMBER</a:t>
            </a:r>
          </a:p>
          <a:p>
            <a:pPr algn="l" marL="0" indent="0" lvl="0">
              <a:lnSpc>
                <a:spcPts val="5797"/>
              </a:lnSpc>
              <a:spcBef>
                <a:spcPct val="0"/>
              </a:spcBef>
            </a:pPr>
            <a:r>
              <a:rPr lang="en-US" sz="4141">
                <a:solidFill>
                  <a:srgbClr val="2282F3"/>
                </a:solidFill>
                <a:latin typeface="JASO Sans"/>
                <a:ea typeface="JASO Sans"/>
                <a:cs typeface="JASO Sans"/>
                <a:sym typeface="JASO Sans"/>
              </a:rPr>
              <a:t>조지훈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305322" y="3942282"/>
            <a:ext cx="9108032" cy="8424930"/>
          </a:xfrm>
          <a:custGeom>
            <a:avLst/>
            <a:gdLst/>
            <a:ahLst/>
            <a:cxnLst/>
            <a:rect r="r" b="b" t="t" l="l"/>
            <a:pathLst>
              <a:path h="8424930" w="9108032">
                <a:moveTo>
                  <a:pt x="0" y="0"/>
                </a:moveTo>
                <a:lnTo>
                  <a:pt x="9108032" y="0"/>
                </a:lnTo>
                <a:lnTo>
                  <a:pt x="9108032" y="8424930"/>
                </a:lnTo>
                <a:lnTo>
                  <a:pt x="0" y="8424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80475" y="6287083"/>
            <a:ext cx="4038898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카테고리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오늘의집 only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회원탈퇴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2245" y="2151223"/>
            <a:ext cx="15590707" cy="2818660"/>
            <a:chOff x="0" y="0"/>
            <a:chExt cx="3207964" cy="5799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07964" cy="579971"/>
            </a:xfrm>
            <a:custGeom>
              <a:avLst/>
              <a:gdLst/>
              <a:ahLst/>
              <a:cxnLst/>
              <a:rect r="r" b="b" t="t" l="l"/>
              <a:pathLst>
                <a:path h="579971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570273"/>
                  </a:lnTo>
                  <a:cubicBezTo>
                    <a:pt x="3207964" y="572845"/>
                    <a:pt x="3206943" y="575312"/>
                    <a:pt x="3205124" y="577131"/>
                  </a:cubicBezTo>
                  <a:cubicBezTo>
                    <a:pt x="3203305" y="578949"/>
                    <a:pt x="3200838" y="579971"/>
                    <a:pt x="3198266" y="579971"/>
                  </a:cubicBezTo>
                  <a:lnTo>
                    <a:pt x="9699" y="579971"/>
                  </a:lnTo>
                  <a:cubicBezTo>
                    <a:pt x="4342" y="579971"/>
                    <a:pt x="0" y="575629"/>
                    <a:pt x="0" y="570273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157C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207964" cy="637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2245" y="4969883"/>
            <a:ext cx="15590707" cy="2100341"/>
            <a:chOff x="0" y="0"/>
            <a:chExt cx="3207964" cy="4321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7964" cy="432169"/>
            </a:xfrm>
            <a:custGeom>
              <a:avLst/>
              <a:gdLst/>
              <a:ahLst/>
              <a:cxnLst/>
              <a:rect r="r" b="b" t="t" l="l"/>
              <a:pathLst>
                <a:path h="432169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422470"/>
                  </a:lnTo>
                  <a:cubicBezTo>
                    <a:pt x="3207964" y="427827"/>
                    <a:pt x="3203622" y="432169"/>
                    <a:pt x="3198266" y="432169"/>
                  </a:cubicBezTo>
                  <a:lnTo>
                    <a:pt x="9699" y="432169"/>
                  </a:lnTo>
                  <a:cubicBezTo>
                    <a:pt x="4342" y="432169"/>
                    <a:pt x="0" y="427827"/>
                    <a:pt x="0" y="422470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35D1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207964" cy="489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52245" y="7079141"/>
            <a:ext cx="15590707" cy="2144209"/>
            <a:chOff x="0" y="0"/>
            <a:chExt cx="3207964" cy="4411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7964" cy="441195"/>
            </a:xfrm>
            <a:custGeom>
              <a:avLst/>
              <a:gdLst/>
              <a:ahLst/>
              <a:cxnLst/>
              <a:rect r="r" b="b" t="t" l="l"/>
              <a:pathLst>
                <a:path h="441195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431497"/>
                  </a:lnTo>
                  <a:cubicBezTo>
                    <a:pt x="3207964" y="436853"/>
                    <a:pt x="3203622" y="441195"/>
                    <a:pt x="3198266" y="441195"/>
                  </a:cubicBezTo>
                  <a:lnTo>
                    <a:pt x="9699" y="441195"/>
                  </a:lnTo>
                  <a:cubicBezTo>
                    <a:pt x="4342" y="441195"/>
                    <a:pt x="0" y="436853"/>
                    <a:pt x="0" y="431497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207964" cy="498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47108" y="2957788"/>
            <a:ext cx="383167" cy="38316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47108" y="5736213"/>
            <a:ext cx="383167" cy="38316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47108" y="7648377"/>
            <a:ext cx="383167" cy="38316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119754" y="7305961"/>
            <a:ext cx="933067" cy="1058799"/>
          </a:xfrm>
          <a:custGeom>
            <a:avLst/>
            <a:gdLst/>
            <a:ahLst/>
            <a:cxnLst/>
            <a:rect r="r" b="b" t="t" l="l"/>
            <a:pathLst>
              <a:path h="1058799" w="933067">
                <a:moveTo>
                  <a:pt x="0" y="0"/>
                </a:moveTo>
                <a:lnTo>
                  <a:pt x="933067" y="0"/>
                </a:lnTo>
                <a:lnTo>
                  <a:pt x="933067" y="1058799"/>
                </a:lnTo>
                <a:lnTo>
                  <a:pt x="0" y="1058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035090" y="5420579"/>
            <a:ext cx="1097094" cy="1048299"/>
          </a:xfrm>
          <a:custGeom>
            <a:avLst/>
            <a:gdLst/>
            <a:ahLst/>
            <a:cxnLst/>
            <a:rect r="r" b="b" t="t" l="l"/>
            <a:pathLst>
              <a:path h="1048299" w="1097094">
                <a:moveTo>
                  <a:pt x="0" y="0"/>
                </a:moveTo>
                <a:lnTo>
                  <a:pt x="1097093" y="0"/>
                </a:lnTo>
                <a:lnTo>
                  <a:pt x="1097093" y="1048299"/>
                </a:lnTo>
                <a:lnTo>
                  <a:pt x="0" y="1048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949245" y="2323301"/>
            <a:ext cx="1254318" cy="1386351"/>
          </a:xfrm>
          <a:custGeom>
            <a:avLst/>
            <a:gdLst/>
            <a:ahLst/>
            <a:cxnLst/>
            <a:rect r="r" b="b" t="t" l="l"/>
            <a:pathLst>
              <a:path h="1386351" w="1254318">
                <a:moveTo>
                  <a:pt x="0" y="0"/>
                </a:moveTo>
                <a:lnTo>
                  <a:pt x="1254318" y="0"/>
                </a:lnTo>
                <a:lnTo>
                  <a:pt x="1254318" y="1386352"/>
                </a:lnTo>
                <a:lnTo>
                  <a:pt x="0" y="1386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7120">
            <a:off x="7606828" y="2334932"/>
            <a:ext cx="6126944" cy="2375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1997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쇼핑 카테고리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대분류, 준분류, 소분류 별 상품조회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 카테고리별 상품 목록 및 상세페이지로 이동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오늘의집 ONLY 상품 조회</a:t>
            </a:r>
          </a:p>
          <a:p>
            <a:pPr algn="l">
              <a:lnSpc>
                <a:spcPts val="3195"/>
              </a:lnSpc>
            </a:pPr>
            <a:r>
              <a:rPr lang="en-US" sz="1997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회원 탈퇴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탈퇴회원 status 관리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706755" y="2831212"/>
            <a:ext cx="1352401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담당 기능</a:t>
            </a:r>
          </a:p>
        </p:txBody>
      </p:sp>
      <p:sp>
        <p:nvSpPr>
          <p:cNvPr name="TextBox 25" id="25"/>
          <p:cNvSpPr txBox="true"/>
          <p:nvPr/>
        </p:nvSpPr>
        <p:spPr>
          <a:xfrm rot="7120">
            <a:off x="7920764" y="5202238"/>
            <a:ext cx="6443763" cy="1574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1997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실제 오늘의 집과 유사한 카테고리 탐색 및 회원 관리 기능 구현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계층형 카테고리를 통한 상품 탐색 편의성 향상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대분류별 오늘의집 ONLY 상품 제공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회원탈퇴시 데이터 보존하며 상태값으로 관리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06755" y="5609638"/>
            <a:ext cx="2485430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구현 목표</a:t>
            </a:r>
          </a:p>
        </p:txBody>
      </p:sp>
      <p:sp>
        <p:nvSpPr>
          <p:cNvPr name="TextBox 27" id="27"/>
          <p:cNvSpPr txBox="true"/>
          <p:nvPr/>
        </p:nvSpPr>
        <p:spPr>
          <a:xfrm rot="7120">
            <a:off x="7918867" y="7205556"/>
            <a:ext cx="7818264" cy="1842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2771" indent="-251385" lvl="1">
              <a:lnSpc>
                <a:spcPts val="3725"/>
              </a:lnSpc>
              <a:buFont typeface="Arial"/>
              <a:buChar char="•"/>
            </a:pPr>
            <a:r>
              <a:rPr lang="en-US" sz="2328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카테고리 계층 구조 및 카테고리별 상품 조회</a:t>
            </a:r>
          </a:p>
          <a:p>
            <a:pPr algn="l" marL="502771" indent="-251385" lvl="1">
              <a:lnSpc>
                <a:spcPts val="3725"/>
              </a:lnSpc>
              <a:buFont typeface="Arial"/>
              <a:buChar char="•"/>
            </a:pPr>
            <a:r>
              <a:rPr lang="en-US" sz="2328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오늘의집 ONLY 전용 상품 목록 구현</a:t>
            </a:r>
          </a:p>
          <a:p>
            <a:pPr algn="l" marL="502771" indent="-251385" lvl="1">
              <a:lnSpc>
                <a:spcPts val="3725"/>
              </a:lnSpc>
              <a:buFont typeface="Arial"/>
              <a:buChar char="•"/>
            </a:pPr>
            <a:r>
              <a:rPr lang="en-US" sz="2328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회원탈퇴 기능 및 탈퇴회원 status = 0 처리</a:t>
            </a:r>
          </a:p>
          <a:p>
            <a:pPr algn="l" marL="502771" indent="-251385" lvl="1">
              <a:lnSpc>
                <a:spcPts val="3725"/>
              </a:lnSpc>
              <a:buFont typeface="Arial"/>
              <a:buChar char="•"/>
            </a:pPr>
            <a:r>
              <a:rPr lang="en-US" sz="2328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MVC 구조 기반 handler → Service → DAO → JSP 연동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706755" y="7521801"/>
            <a:ext cx="2076152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구현 범위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52245" y="1125314"/>
            <a:ext cx="3838129" cy="75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5"/>
              </a:lnSpc>
            </a:pPr>
            <a:r>
              <a:rPr lang="en-US" b="true" sz="3997" spc="-8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01 담당 영역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0908" y="8126891"/>
            <a:ext cx="2322570" cy="1554189"/>
            <a:chOff x="0" y="0"/>
            <a:chExt cx="778898" cy="5212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8898" cy="521213"/>
            </a:xfrm>
            <a:custGeom>
              <a:avLst/>
              <a:gdLst/>
              <a:ahLst/>
              <a:cxnLst/>
              <a:rect r="r" b="b" t="t" l="l"/>
              <a:pathLst>
                <a:path h="521213" w="778898">
                  <a:moveTo>
                    <a:pt x="100000" y="0"/>
                  </a:moveTo>
                  <a:lnTo>
                    <a:pt x="678897" y="0"/>
                  </a:lnTo>
                  <a:cubicBezTo>
                    <a:pt x="734126" y="0"/>
                    <a:pt x="778898" y="44772"/>
                    <a:pt x="778898" y="100000"/>
                  </a:cubicBezTo>
                  <a:lnTo>
                    <a:pt x="778898" y="421213"/>
                  </a:lnTo>
                  <a:cubicBezTo>
                    <a:pt x="778898" y="447735"/>
                    <a:pt x="768362" y="473170"/>
                    <a:pt x="749608" y="491924"/>
                  </a:cubicBezTo>
                  <a:cubicBezTo>
                    <a:pt x="730855" y="510678"/>
                    <a:pt x="705419" y="521213"/>
                    <a:pt x="678897" y="521213"/>
                  </a:cubicBezTo>
                  <a:lnTo>
                    <a:pt x="100000" y="521213"/>
                  </a:lnTo>
                  <a:cubicBezTo>
                    <a:pt x="44772" y="521213"/>
                    <a:pt x="0" y="476442"/>
                    <a:pt x="0" y="421213"/>
                  </a:cubicBezTo>
                  <a:lnTo>
                    <a:pt x="0" y="100000"/>
                  </a:lnTo>
                  <a:cubicBezTo>
                    <a:pt x="0" y="44772"/>
                    <a:pt x="44772" y="0"/>
                    <a:pt x="100000" y="0"/>
                  </a:cubicBezTo>
                  <a:close/>
                </a:path>
              </a:pathLst>
            </a:custGeom>
            <a:solidFill>
              <a:srgbClr val="35D19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78898" cy="57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2245" y="8126891"/>
            <a:ext cx="2322570" cy="1554189"/>
            <a:chOff x="0" y="0"/>
            <a:chExt cx="778898" cy="5212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8898" cy="521213"/>
            </a:xfrm>
            <a:custGeom>
              <a:avLst/>
              <a:gdLst/>
              <a:ahLst/>
              <a:cxnLst/>
              <a:rect r="r" b="b" t="t" l="l"/>
              <a:pathLst>
                <a:path h="521213" w="778898">
                  <a:moveTo>
                    <a:pt x="100000" y="0"/>
                  </a:moveTo>
                  <a:lnTo>
                    <a:pt x="678897" y="0"/>
                  </a:lnTo>
                  <a:cubicBezTo>
                    <a:pt x="734126" y="0"/>
                    <a:pt x="778898" y="44772"/>
                    <a:pt x="778898" y="100000"/>
                  </a:cubicBezTo>
                  <a:lnTo>
                    <a:pt x="778898" y="421213"/>
                  </a:lnTo>
                  <a:cubicBezTo>
                    <a:pt x="778898" y="447735"/>
                    <a:pt x="768362" y="473170"/>
                    <a:pt x="749608" y="491924"/>
                  </a:cubicBezTo>
                  <a:cubicBezTo>
                    <a:pt x="730855" y="510678"/>
                    <a:pt x="705419" y="521213"/>
                    <a:pt x="678897" y="521213"/>
                  </a:cubicBezTo>
                  <a:lnTo>
                    <a:pt x="100000" y="521213"/>
                  </a:lnTo>
                  <a:cubicBezTo>
                    <a:pt x="44772" y="521213"/>
                    <a:pt x="0" y="476442"/>
                    <a:pt x="0" y="421213"/>
                  </a:cubicBezTo>
                  <a:lnTo>
                    <a:pt x="0" y="100000"/>
                  </a:lnTo>
                  <a:cubicBezTo>
                    <a:pt x="0" y="44772"/>
                    <a:pt x="44772" y="0"/>
                    <a:pt x="100000" y="0"/>
                  </a:cubicBezTo>
                  <a:close/>
                </a:path>
              </a:pathLst>
            </a:custGeom>
            <a:solidFill>
              <a:srgbClr val="157CE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778898" cy="57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70036" y="8126891"/>
            <a:ext cx="2322570" cy="1554189"/>
            <a:chOff x="0" y="0"/>
            <a:chExt cx="778898" cy="5212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78898" cy="521213"/>
            </a:xfrm>
            <a:custGeom>
              <a:avLst/>
              <a:gdLst/>
              <a:ahLst/>
              <a:cxnLst/>
              <a:rect r="r" b="b" t="t" l="l"/>
              <a:pathLst>
                <a:path h="521213" w="778898">
                  <a:moveTo>
                    <a:pt x="100000" y="0"/>
                  </a:moveTo>
                  <a:lnTo>
                    <a:pt x="678897" y="0"/>
                  </a:lnTo>
                  <a:cubicBezTo>
                    <a:pt x="734126" y="0"/>
                    <a:pt x="778898" y="44772"/>
                    <a:pt x="778898" y="100000"/>
                  </a:cubicBezTo>
                  <a:lnTo>
                    <a:pt x="778898" y="421213"/>
                  </a:lnTo>
                  <a:cubicBezTo>
                    <a:pt x="778898" y="447735"/>
                    <a:pt x="768362" y="473170"/>
                    <a:pt x="749608" y="491924"/>
                  </a:cubicBezTo>
                  <a:cubicBezTo>
                    <a:pt x="730855" y="510678"/>
                    <a:pt x="705419" y="521213"/>
                    <a:pt x="678897" y="521213"/>
                  </a:cubicBezTo>
                  <a:lnTo>
                    <a:pt x="100000" y="521213"/>
                  </a:lnTo>
                  <a:cubicBezTo>
                    <a:pt x="44772" y="521213"/>
                    <a:pt x="0" y="476442"/>
                    <a:pt x="0" y="421213"/>
                  </a:cubicBezTo>
                  <a:lnTo>
                    <a:pt x="0" y="100000"/>
                  </a:lnTo>
                  <a:cubicBezTo>
                    <a:pt x="0" y="44772"/>
                    <a:pt x="44772" y="0"/>
                    <a:pt x="100000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78898" cy="57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11756" y="2533164"/>
            <a:ext cx="6964501" cy="7147916"/>
            <a:chOff x="0" y="0"/>
            <a:chExt cx="1719870" cy="17651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19870" cy="1765164"/>
            </a:xfrm>
            <a:custGeom>
              <a:avLst/>
              <a:gdLst/>
              <a:ahLst/>
              <a:cxnLst/>
              <a:rect r="r" b="b" t="t" l="l"/>
              <a:pathLst>
                <a:path h="1765164" w="1719870">
                  <a:moveTo>
                    <a:pt x="32237" y="0"/>
                  </a:moveTo>
                  <a:lnTo>
                    <a:pt x="1687633" y="0"/>
                  </a:lnTo>
                  <a:cubicBezTo>
                    <a:pt x="1705437" y="0"/>
                    <a:pt x="1719870" y="14433"/>
                    <a:pt x="1719870" y="32237"/>
                  </a:cubicBezTo>
                  <a:lnTo>
                    <a:pt x="1719870" y="1732927"/>
                  </a:lnTo>
                  <a:cubicBezTo>
                    <a:pt x="1719870" y="1741477"/>
                    <a:pt x="1716474" y="1749677"/>
                    <a:pt x="1710428" y="1755722"/>
                  </a:cubicBezTo>
                  <a:cubicBezTo>
                    <a:pt x="1704382" y="1761768"/>
                    <a:pt x="1696183" y="1765164"/>
                    <a:pt x="1687633" y="1765164"/>
                  </a:cubicBezTo>
                  <a:lnTo>
                    <a:pt x="32237" y="1765164"/>
                  </a:lnTo>
                  <a:cubicBezTo>
                    <a:pt x="23687" y="1765164"/>
                    <a:pt x="15488" y="1761768"/>
                    <a:pt x="9442" y="1755722"/>
                  </a:cubicBezTo>
                  <a:cubicBezTo>
                    <a:pt x="3396" y="1749677"/>
                    <a:pt x="0" y="1741477"/>
                    <a:pt x="0" y="1732927"/>
                  </a:cubicBezTo>
                  <a:lnTo>
                    <a:pt x="0" y="32237"/>
                  </a:lnTo>
                  <a:cubicBezTo>
                    <a:pt x="0" y="23687"/>
                    <a:pt x="3396" y="15488"/>
                    <a:pt x="9442" y="9442"/>
                  </a:cubicBezTo>
                  <a:cubicBezTo>
                    <a:pt x="15488" y="3396"/>
                    <a:pt x="23687" y="0"/>
                    <a:pt x="32237" y="0"/>
                  </a:cubicBezTo>
                  <a:close/>
                </a:path>
              </a:pathLst>
            </a:custGeom>
            <a:blipFill>
              <a:blip r:embed="rId2"/>
              <a:stretch>
                <a:fillRect l="-482" t="0" r="-482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875092" y="8561086"/>
            <a:ext cx="1276876" cy="56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6"/>
              </a:lnSpc>
            </a:pPr>
            <a:r>
              <a:rPr lang="en-US" b="true" sz="2997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화면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04276" y="8561086"/>
            <a:ext cx="1535835" cy="56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6"/>
              </a:lnSpc>
            </a:pPr>
            <a:r>
              <a:rPr lang="en-US" b="true" sz="2997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화면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48103" y="8561086"/>
            <a:ext cx="1166437" cy="56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6"/>
              </a:lnSpc>
            </a:pPr>
            <a:r>
              <a:rPr lang="en-US" b="true" sz="2997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화면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2245" y="2365854"/>
            <a:ext cx="3838129" cy="75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5"/>
              </a:lnSpc>
            </a:pPr>
            <a:r>
              <a:rPr lang="en-US" b="true" sz="3997" spc="-8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02 구현 화면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33463" y="4876347"/>
            <a:ext cx="0" cy="3274379"/>
          </a:xfrm>
          <a:prstGeom prst="line">
            <a:avLst/>
          </a:prstGeom>
          <a:ln cap="flat" w="9525">
            <a:solidFill>
              <a:srgbClr val="D1D1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7254538" y="4876347"/>
            <a:ext cx="0" cy="3274379"/>
          </a:xfrm>
          <a:prstGeom prst="line">
            <a:avLst/>
          </a:prstGeom>
          <a:ln cap="flat" w="9525">
            <a:solidFill>
              <a:srgbClr val="D1D1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6440488" y="4876347"/>
            <a:ext cx="0" cy="3274379"/>
          </a:xfrm>
          <a:prstGeom prst="line">
            <a:avLst/>
          </a:prstGeom>
          <a:ln cap="flat" w="9525">
            <a:solidFill>
              <a:srgbClr val="D1D1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1847513" y="4876347"/>
            <a:ext cx="0" cy="3274379"/>
          </a:xfrm>
          <a:prstGeom prst="line">
            <a:avLst/>
          </a:prstGeom>
          <a:ln cap="flat" w="9525">
            <a:solidFill>
              <a:srgbClr val="D1D1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5539094"/>
            <a:ext cx="5411788" cy="744973"/>
            <a:chOff x="0" y="0"/>
            <a:chExt cx="1425327" cy="1962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5327" cy="196207"/>
            </a:xfrm>
            <a:custGeom>
              <a:avLst/>
              <a:gdLst/>
              <a:ahLst/>
              <a:cxnLst/>
              <a:rect r="r" b="b" t="t" l="l"/>
              <a:pathLst>
                <a:path h="196207" w="1425327">
                  <a:moveTo>
                    <a:pt x="0" y="0"/>
                  </a:moveTo>
                  <a:lnTo>
                    <a:pt x="1425327" y="0"/>
                  </a:lnTo>
                  <a:lnTo>
                    <a:pt x="1425327" y="196207"/>
                  </a:lnTo>
                  <a:lnTo>
                    <a:pt x="0" y="196207"/>
                  </a:lnTo>
                  <a:close/>
                </a:path>
              </a:pathLst>
            </a:custGeom>
            <a:solidFill>
              <a:srgbClr val="157CE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425327" cy="25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35725" y="5540831"/>
            <a:ext cx="5411788" cy="744973"/>
            <a:chOff x="0" y="0"/>
            <a:chExt cx="1425327" cy="1962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25327" cy="196207"/>
            </a:xfrm>
            <a:custGeom>
              <a:avLst/>
              <a:gdLst/>
              <a:ahLst/>
              <a:cxnLst/>
              <a:rect r="r" b="b" t="t" l="l"/>
              <a:pathLst>
                <a:path h="196207" w="1425327">
                  <a:moveTo>
                    <a:pt x="0" y="0"/>
                  </a:moveTo>
                  <a:lnTo>
                    <a:pt x="1425327" y="0"/>
                  </a:lnTo>
                  <a:lnTo>
                    <a:pt x="1425327" y="196207"/>
                  </a:lnTo>
                  <a:lnTo>
                    <a:pt x="0" y="196207"/>
                  </a:lnTo>
                  <a:close/>
                </a:path>
              </a:pathLst>
            </a:custGeom>
            <a:solidFill>
              <a:srgbClr val="35D19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425327" cy="25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19213" y="4912784"/>
            <a:ext cx="1813466" cy="421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5"/>
              </a:lnSpc>
            </a:pPr>
            <a:r>
              <a:rPr lang="en-US" b="true" sz="2196" spc="-6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Step 01.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26238" y="4921747"/>
            <a:ext cx="1888629" cy="421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5"/>
              </a:lnSpc>
            </a:pPr>
            <a:r>
              <a:rPr lang="en-US" b="true" sz="2196" spc="-6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Step 02.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31774" y="4921747"/>
            <a:ext cx="1810643" cy="421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5"/>
              </a:lnSpc>
            </a:pPr>
            <a:r>
              <a:rPr lang="en-US" b="true" sz="2196" spc="-6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Step 03.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9213" y="5629155"/>
            <a:ext cx="3162300" cy="47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7"/>
              </a:lnSpc>
            </a:pPr>
            <a:r>
              <a:rPr lang="en-US" b="true" sz="249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사용자 요청 &amp; Handler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847513" y="5540831"/>
            <a:ext cx="5411788" cy="744973"/>
            <a:chOff x="0" y="0"/>
            <a:chExt cx="1425327" cy="19620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25327" cy="196207"/>
            </a:xfrm>
            <a:custGeom>
              <a:avLst/>
              <a:gdLst/>
              <a:ahLst/>
              <a:cxnLst/>
              <a:rect r="r" b="b" t="t" l="l"/>
              <a:pathLst>
                <a:path h="196207" w="1425327">
                  <a:moveTo>
                    <a:pt x="0" y="0"/>
                  </a:moveTo>
                  <a:lnTo>
                    <a:pt x="1425327" y="0"/>
                  </a:lnTo>
                  <a:lnTo>
                    <a:pt x="1425327" y="196207"/>
                  </a:lnTo>
                  <a:lnTo>
                    <a:pt x="0" y="196207"/>
                  </a:lnTo>
                  <a:close/>
                </a:path>
              </a:pathLst>
            </a:custGeom>
            <a:solidFill>
              <a:srgbClr val="D1D1D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425327" cy="25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726238" y="5629155"/>
            <a:ext cx="2417894" cy="47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7"/>
              </a:lnSpc>
            </a:pPr>
            <a:r>
              <a:rPr lang="en-US" b="true" sz="249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Service &amp; DAO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31774" y="5629155"/>
            <a:ext cx="3267224" cy="47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7"/>
              </a:lnSpc>
            </a:pPr>
            <a:r>
              <a:rPr lang="en-US" b="true" sz="2498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JSP &amp; 응답 반환</a:t>
            </a:r>
          </a:p>
        </p:txBody>
      </p:sp>
      <p:sp>
        <p:nvSpPr>
          <p:cNvPr name="TextBox 21" id="21"/>
          <p:cNvSpPr txBox="true"/>
          <p:nvPr/>
        </p:nvSpPr>
        <p:spPr>
          <a:xfrm rot="7120">
            <a:off x="1320358" y="6612378"/>
            <a:ext cx="4355567" cy="972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사용자가 브라우저에서 URL 요청을 전송합니다.</a:t>
            </a:r>
          </a:p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Handler(Servlet)가 요청을 받아 파라미터를 파싱하고 Service를 호출합니다.</a:t>
            </a:r>
          </a:p>
        </p:txBody>
      </p:sp>
      <p:sp>
        <p:nvSpPr>
          <p:cNvPr name="TextBox 22" id="22"/>
          <p:cNvSpPr txBox="true"/>
          <p:nvPr/>
        </p:nvSpPr>
        <p:spPr>
          <a:xfrm rot="7120">
            <a:off x="6726639" y="6612160"/>
            <a:ext cx="4565493" cy="972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Service 계층에서 비즈니스 로직을 처리합니다.</a:t>
            </a:r>
          </a:p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DAO를 통해 Oracle DB에 SQL 쿼리를 실행하고 DTO로 결과를 반환합니다.</a:t>
            </a:r>
          </a:p>
        </p:txBody>
      </p:sp>
      <p:sp>
        <p:nvSpPr>
          <p:cNvPr name="TextBox 23" id="23"/>
          <p:cNvSpPr txBox="true"/>
          <p:nvPr/>
        </p:nvSpPr>
        <p:spPr>
          <a:xfrm rot="7120">
            <a:off x="12129300" y="6626039"/>
            <a:ext cx="4481511" cy="130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Handler가 결과 데이터를 request에 담아 JSP로 포워딩합니다.</a:t>
            </a:r>
          </a:p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JSP(JSTL·EL)가 HTML을 렌더링하여 사용자에게 응답합니다.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2245" y="2365854"/>
            <a:ext cx="6626263" cy="75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5"/>
              </a:lnSpc>
            </a:pPr>
            <a:r>
              <a:rPr lang="en-US" b="true" sz="3997" spc="-8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03 처리 흐름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55646" y="8468903"/>
            <a:ext cx="16376707" cy="1521639"/>
            <a:chOff x="0" y="0"/>
            <a:chExt cx="3369693" cy="31309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69693" cy="313094"/>
            </a:xfrm>
            <a:custGeom>
              <a:avLst/>
              <a:gdLst/>
              <a:ahLst/>
              <a:cxnLst/>
              <a:rect r="r" b="b" t="t" l="l"/>
              <a:pathLst>
                <a:path h="313094" w="3369693">
                  <a:moveTo>
                    <a:pt x="9233" y="0"/>
                  </a:moveTo>
                  <a:lnTo>
                    <a:pt x="3360460" y="0"/>
                  </a:lnTo>
                  <a:cubicBezTo>
                    <a:pt x="3365559" y="0"/>
                    <a:pt x="3369693" y="4134"/>
                    <a:pt x="3369693" y="9233"/>
                  </a:cubicBezTo>
                  <a:lnTo>
                    <a:pt x="3369693" y="303861"/>
                  </a:lnTo>
                  <a:cubicBezTo>
                    <a:pt x="3369693" y="308961"/>
                    <a:pt x="3365559" y="313094"/>
                    <a:pt x="3360460" y="313094"/>
                  </a:cubicBezTo>
                  <a:lnTo>
                    <a:pt x="9233" y="313094"/>
                  </a:lnTo>
                  <a:cubicBezTo>
                    <a:pt x="4134" y="313094"/>
                    <a:pt x="0" y="308961"/>
                    <a:pt x="0" y="303861"/>
                  </a:cubicBezTo>
                  <a:lnTo>
                    <a:pt x="0" y="9233"/>
                  </a:lnTo>
                  <a:cubicBezTo>
                    <a:pt x="0" y="4134"/>
                    <a:pt x="4134" y="0"/>
                    <a:pt x="9233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3369693" cy="37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7120">
            <a:off x="4063317" y="8820124"/>
            <a:ext cx="10163208" cy="37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95"/>
              </a:lnSpc>
            </a:pPr>
            <a:r>
              <a:rPr lang="en-US" b="true" sz="1997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기능 처리 흐름 이미지를 넣으세요.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2448945" y="860947"/>
            <a:ext cx="4883409" cy="3314614"/>
          </a:xfrm>
          <a:custGeom>
            <a:avLst/>
            <a:gdLst/>
            <a:ahLst/>
            <a:cxnLst/>
            <a:rect r="r" b="b" t="t" l="l"/>
            <a:pathLst>
              <a:path h="3314614" w="4883409">
                <a:moveTo>
                  <a:pt x="0" y="0"/>
                </a:moveTo>
                <a:lnTo>
                  <a:pt x="4883409" y="0"/>
                </a:lnTo>
                <a:lnTo>
                  <a:pt x="4883409" y="3314614"/>
                </a:lnTo>
                <a:lnTo>
                  <a:pt x="0" y="3314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2245" y="4686494"/>
            <a:ext cx="15590707" cy="1521639"/>
            <a:chOff x="0" y="0"/>
            <a:chExt cx="3207964" cy="3130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07964" cy="313094"/>
            </a:xfrm>
            <a:custGeom>
              <a:avLst/>
              <a:gdLst/>
              <a:ahLst/>
              <a:cxnLst/>
              <a:rect r="r" b="b" t="t" l="l"/>
              <a:pathLst>
                <a:path h="313094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303396"/>
                  </a:lnTo>
                  <a:cubicBezTo>
                    <a:pt x="3207964" y="305968"/>
                    <a:pt x="3206943" y="308435"/>
                    <a:pt x="3205124" y="310254"/>
                  </a:cubicBezTo>
                  <a:cubicBezTo>
                    <a:pt x="3203305" y="312073"/>
                    <a:pt x="3200838" y="313094"/>
                    <a:pt x="3198266" y="313094"/>
                  </a:cubicBezTo>
                  <a:lnTo>
                    <a:pt x="9699" y="313094"/>
                  </a:lnTo>
                  <a:cubicBezTo>
                    <a:pt x="4342" y="313094"/>
                    <a:pt x="0" y="308752"/>
                    <a:pt x="0" y="303396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157C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207964" cy="37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2245" y="6405228"/>
            <a:ext cx="15590707" cy="1521639"/>
            <a:chOff x="0" y="0"/>
            <a:chExt cx="3207964" cy="3130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7964" cy="313094"/>
            </a:xfrm>
            <a:custGeom>
              <a:avLst/>
              <a:gdLst/>
              <a:ahLst/>
              <a:cxnLst/>
              <a:rect r="r" b="b" t="t" l="l"/>
              <a:pathLst>
                <a:path h="313094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303396"/>
                  </a:lnTo>
                  <a:cubicBezTo>
                    <a:pt x="3207964" y="305968"/>
                    <a:pt x="3206943" y="308435"/>
                    <a:pt x="3205124" y="310254"/>
                  </a:cubicBezTo>
                  <a:cubicBezTo>
                    <a:pt x="3203305" y="312073"/>
                    <a:pt x="3200838" y="313094"/>
                    <a:pt x="3198266" y="313094"/>
                  </a:cubicBezTo>
                  <a:lnTo>
                    <a:pt x="9699" y="313094"/>
                  </a:lnTo>
                  <a:cubicBezTo>
                    <a:pt x="4342" y="313094"/>
                    <a:pt x="0" y="308752"/>
                    <a:pt x="0" y="303396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35D1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207964" cy="37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52245" y="8126891"/>
            <a:ext cx="15590707" cy="1521639"/>
            <a:chOff x="0" y="0"/>
            <a:chExt cx="3207964" cy="3130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7964" cy="313094"/>
            </a:xfrm>
            <a:custGeom>
              <a:avLst/>
              <a:gdLst/>
              <a:ahLst/>
              <a:cxnLst/>
              <a:rect r="r" b="b" t="t" l="l"/>
              <a:pathLst>
                <a:path h="313094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303396"/>
                  </a:lnTo>
                  <a:cubicBezTo>
                    <a:pt x="3207964" y="305968"/>
                    <a:pt x="3206943" y="308435"/>
                    <a:pt x="3205124" y="310254"/>
                  </a:cubicBezTo>
                  <a:cubicBezTo>
                    <a:pt x="3203305" y="312073"/>
                    <a:pt x="3200838" y="313094"/>
                    <a:pt x="3198266" y="313094"/>
                  </a:cubicBezTo>
                  <a:lnTo>
                    <a:pt x="9699" y="313094"/>
                  </a:lnTo>
                  <a:cubicBezTo>
                    <a:pt x="4342" y="313094"/>
                    <a:pt x="0" y="308752"/>
                    <a:pt x="0" y="303396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207964" cy="37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47108" y="5255730"/>
            <a:ext cx="383167" cy="38316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47108" y="6974463"/>
            <a:ext cx="383167" cy="38316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47108" y="8696127"/>
            <a:ext cx="383167" cy="38316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98801" y="8182796"/>
            <a:ext cx="1535806" cy="1381773"/>
          </a:xfrm>
          <a:custGeom>
            <a:avLst/>
            <a:gdLst/>
            <a:ahLst/>
            <a:cxnLst/>
            <a:rect r="r" b="b" t="t" l="l"/>
            <a:pathLst>
              <a:path h="1381773" w="1535806">
                <a:moveTo>
                  <a:pt x="0" y="0"/>
                </a:moveTo>
                <a:lnTo>
                  <a:pt x="1535807" y="0"/>
                </a:lnTo>
                <a:lnTo>
                  <a:pt x="1535807" y="1381772"/>
                </a:lnTo>
                <a:lnTo>
                  <a:pt x="0" y="13817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012543" y="6611411"/>
            <a:ext cx="1224116" cy="1290851"/>
          </a:xfrm>
          <a:custGeom>
            <a:avLst/>
            <a:gdLst/>
            <a:ahLst/>
            <a:cxnLst/>
            <a:rect r="r" b="b" t="t" l="l"/>
            <a:pathLst>
              <a:path h="1290851" w="1224116">
                <a:moveTo>
                  <a:pt x="0" y="0"/>
                </a:moveTo>
                <a:lnTo>
                  <a:pt x="1224116" y="0"/>
                </a:lnTo>
                <a:lnTo>
                  <a:pt x="1224116" y="1290851"/>
                </a:lnTo>
                <a:lnTo>
                  <a:pt x="0" y="1290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837351" y="4635885"/>
            <a:ext cx="1475852" cy="1320887"/>
          </a:xfrm>
          <a:custGeom>
            <a:avLst/>
            <a:gdLst/>
            <a:ahLst/>
            <a:cxnLst/>
            <a:rect r="r" b="b" t="t" l="l"/>
            <a:pathLst>
              <a:path h="1320887" w="1475852">
                <a:moveTo>
                  <a:pt x="0" y="0"/>
                </a:moveTo>
                <a:lnTo>
                  <a:pt x="1475851" y="0"/>
                </a:lnTo>
                <a:lnTo>
                  <a:pt x="1475851" y="1320887"/>
                </a:lnTo>
                <a:lnTo>
                  <a:pt x="0" y="13208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7120">
            <a:off x="7920185" y="5218974"/>
            <a:ext cx="6126944" cy="37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발생한 문제와 오류 현상을 작성하세요.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706755" y="5129155"/>
            <a:ext cx="1352401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문제 상황</a:t>
            </a:r>
          </a:p>
        </p:txBody>
      </p:sp>
      <p:sp>
        <p:nvSpPr>
          <p:cNvPr name="TextBox 25" id="25"/>
          <p:cNvSpPr txBox="true"/>
          <p:nvPr/>
        </p:nvSpPr>
        <p:spPr>
          <a:xfrm rot="7120">
            <a:off x="7919935" y="6703970"/>
            <a:ext cx="6443763" cy="77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문제의 원인과 확인 과정을 작성하세요.</a:t>
            </a:r>
          </a:p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원인을 파악하기 위해 시도한 방법을 서술하세요.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06755" y="6847888"/>
            <a:ext cx="2485430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원인 분석</a:t>
            </a:r>
          </a:p>
        </p:txBody>
      </p:sp>
      <p:sp>
        <p:nvSpPr>
          <p:cNvPr name="TextBox 27" id="27"/>
          <p:cNvSpPr txBox="true"/>
          <p:nvPr/>
        </p:nvSpPr>
        <p:spPr>
          <a:xfrm rot="7120">
            <a:off x="7919936" y="8426008"/>
            <a:ext cx="6126779" cy="77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적용한 해결 방법과 결과를 작성하세요.</a:t>
            </a:r>
          </a:p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해결 후 개선된 사항을 정리하세요.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706755" y="8569551"/>
            <a:ext cx="2076152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문제 해결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52245" y="2363564"/>
            <a:ext cx="3838129" cy="75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5"/>
              </a:lnSpc>
            </a:pPr>
            <a:r>
              <a:rPr lang="en-US" b="true" sz="3997" spc="-8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문제 및 해결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892" y="4022006"/>
            <a:ext cx="7354788" cy="1916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48"/>
              </a:lnSpc>
              <a:spcBef>
                <a:spcPct val="0"/>
              </a:spcBef>
            </a:pPr>
            <a:r>
              <a:rPr lang="en-US" b="true" sz="8993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담당 기능 상세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3892" y="3146667"/>
            <a:ext cx="8733639" cy="143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97"/>
              </a:lnSpc>
              <a:spcBef>
                <a:spcPct val="0"/>
              </a:spcBef>
            </a:pPr>
            <a:r>
              <a:rPr lang="en-US" sz="4141">
                <a:solidFill>
                  <a:srgbClr val="2282F3"/>
                </a:solidFill>
                <a:latin typeface="JASO Sans"/>
                <a:ea typeface="JASO Sans"/>
                <a:cs typeface="JASO Sans"/>
                <a:sym typeface="JASO Sans"/>
              </a:rPr>
              <a:t>TEAM MEMBER</a:t>
            </a:r>
          </a:p>
          <a:p>
            <a:pPr algn="l" marL="0" indent="0" lvl="0">
              <a:lnSpc>
                <a:spcPts val="5797"/>
              </a:lnSpc>
              <a:spcBef>
                <a:spcPct val="0"/>
              </a:spcBef>
            </a:pPr>
            <a:r>
              <a:rPr lang="en-US" sz="4141">
                <a:solidFill>
                  <a:srgbClr val="2282F3"/>
                </a:solidFill>
                <a:latin typeface="JASO Sans"/>
                <a:ea typeface="JASO Sans"/>
                <a:cs typeface="JASO Sans"/>
                <a:sym typeface="JASO Sans"/>
              </a:rPr>
              <a:t>장미성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305322" y="3942282"/>
            <a:ext cx="9108032" cy="8424930"/>
          </a:xfrm>
          <a:custGeom>
            <a:avLst/>
            <a:gdLst/>
            <a:ahLst/>
            <a:cxnLst/>
            <a:rect r="r" b="b" t="t" l="l"/>
            <a:pathLst>
              <a:path h="8424930" w="9108032">
                <a:moveTo>
                  <a:pt x="0" y="0"/>
                </a:moveTo>
                <a:lnTo>
                  <a:pt x="9108032" y="0"/>
                </a:lnTo>
                <a:lnTo>
                  <a:pt x="9108032" y="8424930"/>
                </a:lnTo>
                <a:lnTo>
                  <a:pt x="0" y="8424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2245" y="7808934"/>
            <a:ext cx="15590707" cy="2020866"/>
            <a:chOff x="0" y="0"/>
            <a:chExt cx="3207964" cy="415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07964" cy="415816"/>
            </a:xfrm>
            <a:custGeom>
              <a:avLst/>
              <a:gdLst/>
              <a:ahLst/>
              <a:cxnLst/>
              <a:rect r="r" b="b" t="t" l="l"/>
              <a:pathLst>
                <a:path h="415816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406117"/>
                  </a:lnTo>
                  <a:cubicBezTo>
                    <a:pt x="3207964" y="408690"/>
                    <a:pt x="3206943" y="411157"/>
                    <a:pt x="3205124" y="412975"/>
                  </a:cubicBezTo>
                  <a:cubicBezTo>
                    <a:pt x="3203305" y="414794"/>
                    <a:pt x="3200838" y="415816"/>
                    <a:pt x="3198266" y="415816"/>
                  </a:cubicBezTo>
                  <a:lnTo>
                    <a:pt x="9699" y="415816"/>
                  </a:lnTo>
                  <a:cubicBezTo>
                    <a:pt x="4342" y="415816"/>
                    <a:pt x="0" y="411474"/>
                    <a:pt x="0" y="406117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207964" cy="472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46516" y="8681214"/>
            <a:ext cx="383167" cy="38316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119754" y="8289967"/>
            <a:ext cx="933067" cy="1058799"/>
          </a:xfrm>
          <a:custGeom>
            <a:avLst/>
            <a:gdLst/>
            <a:ahLst/>
            <a:cxnLst/>
            <a:rect r="r" b="b" t="t" l="l"/>
            <a:pathLst>
              <a:path h="1058799" w="933067">
                <a:moveTo>
                  <a:pt x="0" y="0"/>
                </a:moveTo>
                <a:lnTo>
                  <a:pt x="933067" y="0"/>
                </a:lnTo>
                <a:lnTo>
                  <a:pt x="933067" y="1058799"/>
                </a:lnTo>
                <a:lnTo>
                  <a:pt x="0" y="1058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52245" y="2901377"/>
            <a:ext cx="15590707" cy="4332537"/>
            <a:chOff x="0" y="0"/>
            <a:chExt cx="20787610" cy="5776717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787610" cy="5776717"/>
              <a:chOff x="0" y="0"/>
              <a:chExt cx="3207964" cy="89146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207964" cy="891469"/>
              </a:xfrm>
              <a:custGeom>
                <a:avLst/>
                <a:gdLst/>
                <a:ahLst/>
                <a:cxnLst/>
                <a:rect r="r" b="b" t="t" l="l"/>
                <a:pathLst>
                  <a:path h="891469" w="3207964">
                    <a:moveTo>
                      <a:pt x="9699" y="0"/>
                    </a:moveTo>
                    <a:lnTo>
                      <a:pt x="3198266" y="0"/>
                    </a:lnTo>
                    <a:cubicBezTo>
                      <a:pt x="3203622" y="0"/>
                      <a:pt x="3207964" y="4342"/>
                      <a:pt x="3207964" y="9699"/>
                    </a:cubicBezTo>
                    <a:lnTo>
                      <a:pt x="3207964" y="881770"/>
                    </a:lnTo>
                    <a:cubicBezTo>
                      <a:pt x="3207964" y="887126"/>
                      <a:pt x="3203622" y="891469"/>
                      <a:pt x="3198266" y="891469"/>
                    </a:cubicBezTo>
                    <a:lnTo>
                      <a:pt x="9699" y="891469"/>
                    </a:lnTo>
                    <a:cubicBezTo>
                      <a:pt x="4342" y="891469"/>
                      <a:pt x="0" y="887126"/>
                      <a:pt x="0" y="881770"/>
                    </a:cubicBezTo>
                    <a:lnTo>
                      <a:pt x="0" y="9699"/>
                    </a:lnTo>
                    <a:cubicBezTo>
                      <a:pt x="0" y="4342"/>
                      <a:pt x="4342" y="0"/>
                      <a:pt x="9699" y="0"/>
                    </a:cubicBezTo>
                    <a:close/>
                  </a:path>
                </a:pathLst>
              </a:custGeom>
              <a:solidFill>
                <a:srgbClr val="157CE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3207964" cy="9486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6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7120">
              <a:off x="8757039" y="642143"/>
              <a:ext cx="10529240" cy="11495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5"/>
                </a:lnSpc>
              </a:pPr>
              <a:r>
                <a:rPr lang="en-US" sz="2497" b="true">
                  <a:solidFill>
                    <a:srgbClr val="FFFFFF"/>
                  </a:solidFill>
                  <a:latin typeface="JASO Sans Bold"/>
                  <a:ea typeface="JASO Sans Bold"/>
                  <a:cs typeface="JASO Sans Bold"/>
                  <a:sym typeface="JASO Sans Bold"/>
                </a:rPr>
                <a:t>일</a:t>
              </a:r>
              <a:r>
                <a:rPr lang="en-US" sz="2497" b="true">
                  <a:solidFill>
                    <a:srgbClr val="FFFFFF"/>
                  </a:solidFill>
                  <a:latin typeface="JASO Sans Bold"/>
                  <a:ea typeface="JASO Sans Bold"/>
                  <a:cs typeface="JASO Sans Bold"/>
                  <a:sym typeface="JASO Sans Bold"/>
                </a:rPr>
                <a:t>반 사용자</a:t>
              </a:r>
            </a:p>
            <a:p>
              <a:pPr algn="l" marL="0" indent="0" lvl="0">
                <a:lnSpc>
                  <a:spcPts val="3195"/>
                </a:lnSpc>
              </a:pPr>
              <a:r>
                <a:rPr lang="en-US" b="true" sz="1997">
                  <a:solidFill>
                    <a:srgbClr val="FFFFFF"/>
                  </a:solidFill>
                  <a:latin typeface="JASO Sans Bold"/>
                  <a:ea typeface="JASO Sans Bold"/>
                  <a:cs typeface="JASO Sans Bold"/>
                  <a:sym typeface="JASO Sans Bold"/>
                </a:rPr>
                <a:t>    - 회원가입, 로그인 / 로그아웃, 비밀번호 변경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7026501" y="2632914"/>
              <a:ext cx="510889" cy="510889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812800" y="406400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406400" y="609600"/>
                    </a:lnTo>
                    <a:lnTo>
                      <a:pt x="406400" y="812800"/>
                    </a:lnTo>
                    <a:lnTo>
                      <a:pt x="812800" y="406400"/>
                    </a:lnTo>
                    <a:close/>
                  </a:path>
                </a:pathLst>
              </a:custGeom>
              <a:solidFill>
                <a:srgbClr val="FAFAFA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146050"/>
                <a:ext cx="711200" cy="46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60"/>
                  </a:lnSpc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905661" y="1964124"/>
              <a:ext cx="1672424" cy="1848468"/>
            </a:xfrm>
            <a:custGeom>
              <a:avLst/>
              <a:gdLst/>
              <a:ahLst/>
              <a:cxnLst/>
              <a:rect r="r" b="b" t="t" l="l"/>
              <a:pathLst>
                <a:path h="1848468" w="1672424">
                  <a:moveTo>
                    <a:pt x="0" y="0"/>
                  </a:moveTo>
                  <a:lnTo>
                    <a:pt x="1672424" y="0"/>
                  </a:lnTo>
                  <a:lnTo>
                    <a:pt x="1672424" y="1848469"/>
                  </a:lnTo>
                  <a:lnTo>
                    <a:pt x="0" y="18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3239365" y="2530767"/>
              <a:ext cx="1803202" cy="6555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13"/>
                </a:lnSpc>
              </a:pPr>
              <a:r>
                <a:rPr lang="en-US" b="true" sz="2696" spc="-8">
                  <a:solidFill>
                    <a:srgbClr val="FFFFFF"/>
                  </a:solidFill>
                  <a:latin typeface="JASO Sans Bold"/>
                  <a:ea typeface="JASO Sans Bold"/>
                  <a:cs typeface="JASO Sans Bold"/>
                  <a:sym typeface="JASO Sans Bold"/>
                </a:rPr>
                <a:t>담당 기능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7120">
              <a:off x="8757039" y="2112169"/>
              <a:ext cx="10750826" cy="11495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5"/>
                </a:lnSpc>
              </a:pPr>
              <a:r>
                <a:rPr lang="en-US" sz="2497" b="true">
                  <a:solidFill>
                    <a:srgbClr val="FFFFFF"/>
                  </a:solidFill>
                  <a:latin typeface="JASO Sans Bold"/>
                  <a:ea typeface="JASO Sans Bold"/>
                  <a:cs typeface="JASO Sans Bold"/>
                  <a:sym typeface="JASO Sans Bold"/>
                </a:rPr>
                <a:t>판</a:t>
              </a:r>
              <a:r>
                <a:rPr lang="en-US" sz="2497" b="true">
                  <a:solidFill>
                    <a:srgbClr val="FFFFFF"/>
                  </a:solidFill>
                  <a:latin typeface="JASO Sans Bold"/>
                  <a:ea typeface="JASO Sans Bold"/>
                  <a:cs typeface="JASO Sans Bold"/>
                  <a:sym typeface="JASO Sans Bold"/>
                </a:rPr>
                <a:t>매자</a:t>
              </a:r>
            </a:p>
            <a:p>
              <a:pPr algn="l" marL="0" indent="0" lvl="0">
                <a:lnSpc>
                  <a:spcPts val="3195"/>
                </a:lnSpc>
              </a:pPr>
              <a:r>
                <a:rPr lang="en-US" sz="1997">
                  <a:solidFill>
                    <a:srgbClr val="FFFFFF"/>
                  </a:solidFill>
                  <a:latin typeface="JASO Sans"/>
                  <a:ea typeface="JASO Sans"/>
                  <a:cs typeface="JASO Sans"/>
                  <a:sym typeface="JASO Sans"/>
                </a:rPr>
                <a:t>    </a:t>
              </a:r>
              <a:r>
                <a:rPr lang="en-US" b="true" sz="1997">
                  <a:solidFill>
                    <a:srgbClr val="FFFFFF"/>
                  </a:solidFill>
                  <a:latin typeface="JASO Sans Bold"/>
                  <a:ea typeface="JASO Sans Bold"/>
                  <a:cs typeface="JASO Sans Bold"/>
                  <a:sym typeface="JASO Sans Bold"/>
                </a:rPr>
                <a:t>- 회원가입, 로그인 / 로그아웃, 비밀번호 변경, 가입 신청 대기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7120">
              <a:off x="8757591" y="3587344"/>
              <a:ext cx="10750826" cy="16829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5"/>
                </a:lnSpc>
              </a:pPr>
              <a:r>
                <a:rPr lang="en-US" sz="2497" b="true">
                  <a:solidFill>
                    <a:srgbClr val="FFFFFF"/>
                  </a:solidFill>
                  <a:latin typeface="JASO Sans Bold"/>
                  <a:ea typeface="JASO Sans Bold"/>
                  <a:cs typeface="JASO Sans Bold"/>
                  <a:sym typeface="JASO Sans Bold"/>
                </a:rPr>
                <a:t>쇼</a:t>
              </a:r>
              <a:r>
                <a:rPr lang="en-US" sz="2497" b="true">
                  <a:solidFill>
                    <a:srgbClr val="FFFFFF"/>
                  </a:solidFill>
                  <a:latin typeface="JASO Sans Bold"/>
                  <a:ea typeface="JASO Sans Bold"/>
                  <a:cs typeface="JASO Sans Bold"/>
                  <a:sym typeface="JASO Sans Bold"/>
                </a:rPr>
                <a:t>핑 페이지</a:t>
              </a:r>
            </a:p>
            <a:p>
              <a:pPr algn="l">
                <a:lnSpc>
                  <a:spcPts val="3195"/>
                </a:lnSpc>
              </a:pPr>
              <a:r>
                <a:rPr lang="en-US" sz="1997" b="true">
                  <a:solidFill>
                    <a:srgbClr val="FFFFFF"/>
                  </a:solidFill>
                  <a:latin typeface="JASO Sans Bold"/>
                  <a:ea typeface="JASO Sans Bold"/>
                  <a:cs typeface="JASO Sans Bold"/>
                  <a:sym typeface="JASO Sans Bold"/>
                </a:rPr>
                <a:t>    - 베스트 상품</a:t>
              </a:r>
            </a:p>
            <a:p>
              <a:pPr algn="l" marL="0" indent="0" lvl="0">
                <a:lnSpc>
                  <a:spcPts val="3195"/>
                </a:lnSpc>
              </a:pPr>
              <a:r>
                <a:rPr lang="en-US" b="true" sz="1997">
                  <a:solidFill>
                    <a:srgbClr val="FFFFFF"/>
                  </a:solidFill>
                  <a:latin typeface="JASO Sans Bold"/>
                  <a:ea typeface="JASO Sans Bold"/>
                  <a:cs typeface="JASO Sans Bold"/>
                  <a:sym typeface="JASO Sans Bold"/>
                </a:rPr>
                <a:t>    - 오늘의 집 단독 상품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7120">
            <a:off x="7787858" y="8378696"/>
            <a:ext cx="8607017" cy="902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5"/>
              </a:lnSpc>
            </a:pPr>
            <a:r>
              <a:rPr lang="en-US" b="true" sz="2297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클라이언트·서버</a:t>
            </a:r>
            <a:r>
              <a:rPr lang="en-US" b="true" sz="2297" strike="noStrike" u="none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이중 검증</a:t>
            </a:r>
          </a:p>
          <a:p>
            <a:pPr algn="l" marL="0" indent="0" lvl="0">
              <a:lnSpc>
                <a:spcPts val="3675"/>
              </a:lnSpc>
            </a:pPr>
            <a:r>
              <a:rPr lang="en-US" b="true" sz="2297" strike="noStrike" u="none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AJAX 비동기 처리를 적용하여 보안성과 사용자 편의성 향상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613705" y="8502087"/>
            <a:ext cx="2076152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구현 목표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33463" y="4876347"/>
            <a:ext cx="0" cy="3274379"/>
          </a:xfrm>
          <a:prstGeom prst="line">
            <a:avLst/>
          </a:prstGeom>
          <a:ln cap="flat" w="9525">
            <a:solidFill>
              <a:srgbClr val="D1D1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7254538" y="4876347"/>
            <a:ext cx="0" cy="3274379"/>
          </a:xfrm>
          <a:prstGeom prst="line">
            <a:avLst/>
          </a:prstGeom>
          <a:ln cap="flat" w="9525">
            <a:solidFill>
              <a:srgbClr val="D1D1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6440488" y="4876347"/>
            <a:ext cx="0" cy="3274379"/>
          </a:xfrm>
          <a:prstGeom prst="line">
            <a:avLst/>
          </a:prstGeom>
          <a:ln cap="flat" w="9525">
            <a:solidFill>
              <a:srgbClr val="D1D1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1847513" y="4876347"/>
            <a:ext cx="0" cy="3274379"/>
          </a:xfrm>
          <a:prstGeom prst="line">
            <a:avLst/>
          </a:prstGeom>
          <a:ln cap="flat" w="9525">
            <a:solidFill>
              <a:srgbClr val="D1D1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5539094"/>
            <a:ext cx="5411788" cy="744973"/>
            <a:chOff x="0" y="0"/>
            <a:chExt cx="1425327" cy="1962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5327" cy="196207"/>
            </a:xfrm>
            <a:custGeom>
              <a:avLst/>
              <a:gdLst/>
              <a:ahLst/>
              <a:cxnLst/>
              <a:rect r="r" b="b" t="t" l="l"/>
              <a:pathLst>
                <a:path h="196207" w="1425327">
                  <a:moveTo>
                    <a:pt x="0" y="0"/>
                  </a:moveTo>
                  <a:lnTo>
                    <a:pt x="1425327" y="0"/>
                  </a:lnTo>
                  <a:lnTo>
                    <a:pt x="1425327" y="196207"/>
                  </a:lnTo>
                  <a:lnTo>
                    <a:pt x="0" y="196207"/>
                  </a:lnTo>
                  <a:close/>
                </a:path>
              </a:pathLst>
            </a:custGeom>
            <a:solidFill>
              <a:srgbClr val="157CE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425327" cy="25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35725" y="5540831"/>
            <a:ext cx="5411788" cy="744973"/>
            <a:chOff x="0" y="0"/>
            <a:chExt cx="1425327" cy="1962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25327" cy="196207"/>
            </a:xfrm>
            <a:custGeom>
              <a:avLst/>
              <a:gdLst/>
              <a:ahLst/>
              <a:cxnLst/>
              <a:rect r="r" b="b" t="t" l="l"/>
              <a:pathLst>
                <a:path h="196207" w="1425327">
                  <a:moveTo>
                    <a:pt x="0" y="0"/>
                  </a:moveTo>
                  <a:lnTo>
                    <a:pt x="1425327" y="0"/>
                  </a:lnTo>
                  <a:lnTo>
                    <a:pt x="1425327" y="196207"/>
                  </a:lnTo>
                  <a:lnTo>
                    <a:pt x="0" y="196207"/>
                  </a:lnTo>
                  <a:close/>
                </a:path>
              </a:pathLst>
            </a:custGeom>
            <a:solidFill>
              <a:srgbClr val="35D19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425327" cy="25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19213" y="4912784"/>
            <a:ext cx="1813466" cy="421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5"/>
              </a:lnSpc>
            </a:pPr>
            <a:r>
              <a:rPr lang="en-US" b="true" sz="2196" spc="-6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Step 01.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26238" y="4921747"/>
            <a:ext cx="1888629" cy="421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5"/>
              </a:lnSpc>
            </a:pPr>
            <a:r>
              <a:rPr lang="en-US" b="true" sz="2196" spc="-6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Step 02.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31774" y="4921747"/>
            <a:ext cx="1810643" cy="421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5"/>
              </a:lnSpc>
            </a:pPr>
            <a:r>
              <a:rPr lang="en-US" b="true" sz="2196" spc="-6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Step 03.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9213" y="5629155"/>
            <a:ext cx="3162300" cy="47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7"/>
              </a:lnSpc>
            </a:pPr>
            <a:r>
              <a:rPr lang="en-US" b="true" sz="249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사용자 요청 &amp; Handler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847513" y="5540831"/>
            <a:ext cx="5411788" cy="744973"/>
            <a:chOff x="0" y="0"/>
            <a:chExt cx="1425327" cy="19620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25327" cy="196207"/>
            </a:xfrm>
            <a:custGeom>
              <a:avLst/>
              <a:gdLst/>
              <a:ahLst/>
              <a:cxnLst/>
              <a:rect r="r" b="b" t="t" l="l"/>
              <a:pathLst>
                <a:path h="196207" w="1425327">
                  <a:moveTo>
                    <a:pt x="0" y="0"/>
                  </a:moveTo>
                  <a:lnTo>
                    <a:pt x="1425327" y="0"/>
                  </a:lnTo>
                  <a:lnTo>
                    <a:pt x="1425327" y="196207"/>
                  </a:lnTo>
                  <a:lnTo>
                    <a:pt x="0" y="196207"/>
                  </a:lnTo>
                  <a:close/>
                </a:path>
              </a:pathLst>
            </a:custGeom>
            <a:solidFill>
              <a:srgbClr val="D1D1D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425327" cy="25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726238" y="5629155"/>
            <a:ext cx="2417894" cy="47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7"/>
              </a:lnSpc>
            </a:pPr>
            <a:r>
              <a:rPr lang="en-US" b="true" sz="249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Service &amp; DAO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31774" y="5629155"/>
            <a:ext cx="3267224" cy="47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7"/>
              </a:lnSpc>
            </a:pPr>
            <a:r>
              <a:rPr lang="en-US" b="true" sz="2498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JSP &amp; 응답 반환</a:t>
            </a:r>
          </a:p>
        </p:txBody>
      </p:sp>
      <p:sp>
        <p:nvSpPr>
          <p:cNvPr name="TextBox 21" id="21"/>
          <p:cNvSpPr txBox="true"/>
          <p:nvPr/>
        </p:nvSpPr>
        <p:spPr>
          <a:xfrm rot="7120">
            <a:off x="1320358" y="6612378"/>
            <a:ext cx="4355567" cy="972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사용자가 브라우저에서 URL 요청을 전송합니다.</a:t>
            </a:r>
          </a:p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Handler(Servlet)가 요청을 받아 파라미터를 파싱하고 Service를 호출합니다.</a:t>
            </a:r>
          </a:p>
        </p:txBody>
      </p:sp>
      <p:sp>
        <p:nvSpPr>
          <p:cNvPr name="TextBox 22" id="22"/>
          <p:cNvSpPr txBox="true"/>
          <p:nvPr/>
        </p:nvSpPr>
        <p:spPr>
          <a:xfrm rot="7120">
            <a:off x="6726639" y="6612160"/>
            <a:ext cx="4565493" cy="972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Service 계층에서 비즈니스 로직을 처리합니다.</a:t>
            </a:r>
          </a:p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DAO를 통해 Oracle DB에 SQL 쿼리를 실행하고 DTO로 결과를 반환합니다.</a:t>
            </a:r>
          </a:p>
        </p:txBody>
      </p:sp>
      <p:sp>
        <p:nvSpPr>
          <p:cNvPr name="TextBox 23" id="23"/>
          <p:cNvSpPr txBox="true"/>
          <p:nvPr/>
        </p:nvSpPr>
        <p:spPr>
          <a:xfrm rot="7120">
            <a:off x="12129300" y="6626039"/>
            <a:ext cx="4481511" cy="130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Handler가 결과 데이터를 request에 담아 JSP로 포워딩합니다.</a:t>
            </a:r>
          </a:p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JSP(JSTL·EL)가 HTML을 렌더링하여 사용자에게 응답합니다.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2245" y="2365854"/>
            <a:ext cx="6626263" cy="75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5"/>
              </a:lnSpc>
            </a:pPr>
            <a:r>
              <a:rPr lang="en-US" b="true" sz="3997" spc="-8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03 처리 흐름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55646" y="8468903"/>
            <a:ext cx="16376707" cy="1521639"/>
            <a:chOff x="0" y="0"/>
            <a:chExt cx="3369693" cy="31309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69693" cy="313094"/>
            </a:xfrm>
            <a:custGeom>
              <a:avLst/>
              <a:gdLst/>
              <a:ahLst/>
              <a:cxnLst/>
              <a:rect r="r" b="b" t="t" l="l"/>
              <a:pathLst>
                <a:path h="313094" w="3369693">
                  <a:moveTo>
                    <a:pt x="9233" y="0"/>
                  </a:moveTo>
                  <a:lnTo>
                    <a:pt x="3360460" y="0"/>
                  </a:lnTo>
                  <a:cubicBezTo>
                    <a:pt x="3365559" y="0"/>
                    <a:pt x="3369693" y="4134"/>
                    <a:pt x="3369693" y="9233"/>
                  </a:cubicBezTo>
                  <a:lnTo>
                    <a:pt x="3369693" y="303861"/>
                  </a:lnTo>
                  <a:cubicBezTo>
                    <a:pt x="3369693" y="308961"/>
                    <a:pt x="3365559" y="313094"/>
                    <a:pt x="3360460" y="313094"/>
                  </a:cubicBezTo>
                  <a:lnTo>
                    <a:pt x="9233" y="313094"/>
                  </a:lnTo>
                  <a:cubicBezTo>
                    <a:pt x="4134" y="313094"/>
                    <a:pt x="0" y="308961"/>
                    <a:pt x="0" y="303861"/>
                  </a:cubicBezTo>
                  <a:lnTo>
                    <a:pt x="0" y="9233"/>
                  </a:lnTo>
                  <a:cubicBezTo>
                    <a:pt x="0" y="4134"/>
                    <a:pt x="4134" y="0"/>
                    <a:pt x="9233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3369693" cy="37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7120">
            <a:off x="4063317" y="8820124"/>
            <a:ext cx="10163208" cy="37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95"/>
              </a:lnSpc>
            </a:pPr>
            <a:r>
              <a:rPr lang="en-US" b="true" sz="1997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기능 처리 흐름 이미지를 넣으세요.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2371128" y="1164231"/>
            <a:ext cx="4883409" cy="3314614"/>
          </a:xfrm>
          <a:custGeom>
            <a:avLst/>
            <a:gdLst/>
            <a:ahLst/>
            <a:cxnLst/>
            <a:rect r="r" b="b" t="t" l="l"/>
            <a:pathLst>
              <a:path h="3314614" w="4883409">
                <a:moveTo>
                  <a:pt x="0" y="0"/>
                </a:moveTo>
                <a:lnTo>
                  <a:pt x="4883410" y="0"/>
                </a:lnTo>
                <a:lnTo>
                  <a:pt x="4883410" y="3314614"/>
                </a:lnTo>
                <a:lnTo>
                  <a:pt x="0" y="3314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2245" y="4686494"/>
            <a:ext cx="15590707" cy="1521639"/>
            <a:chOff x="0" y="0"/>
            <a:chExt cx="3207964" cy="3130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07964" cy="313094"/>
            </a:xfrm>
            <a:custGeom>
              <a:avLst/>
              <a:gdLst/>
              <a:ahLst/>
              <a:cxnLst/>
              <a:rect r="r" b="b" t="t" l="l"/>
              <a:pathLst>
                <a:path h="313094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303396"/>
                  </a:lnTo>
                  <a:cubicBezTo>
                    <a:pt x="3207964" y="305968"/>
                    <a:pt x="3206943" y="308435"/>
                    <a:pt x="3205124" y="310254"/>
                  </a:cubicBezTo>
                  <a:cubicBezTo>
                    <a:pt x="3203305" y="312073"/>
                    <a:pt x="3200838" y="313094"/>
                    <a:pt x="3198266" y="313094"/>
                  </a:cubicBezTo>
                  <a:lnTo>
                    <a:pt x="9699" y="313094"/>
                  </a:lnTo>
                  <a:cubicBezTo>
                    <a:pt x="4342" y="313094"/>
                    <a:pt x="0" y="308752"/>
                    <a:pt x="0" y="303396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157C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207964" cy="37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2245" y="6405228"/>
            <a:ext cx="15590707" cy="1521639"/>
            <a:chOff x="0" y="0"/>
            <a:chExt cx="3207964" cy="3130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7964" cy="313094"/>
            </a:xfrm>
            <a:custGeom>
              <a:avLst/>
              <a:gdLst/>
              <a:ahLst/>
              <a:cxnLst/>
              <a:rect r="r" b="b" t="t" l="l"/>
              <a:pathLst>
                <a:path h="313094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303396"/>
                  </a:lnTo>
                  <a:cubicBezTo>
                    <a:pt x="3207964" y="305968"/>
                    <a:pt x="3206943" y="308435"/>
                    <a:pt x="3205124" y="310254"/>
                  </a:cubicBezTo>
                  <a:cubicBezTo>
                    <a:pt x="3203305" y="312073"/>
                    <a:pt x="3200838" y="313094"/>
                    <a:pt x="3198266" y="313094"/>
                  </a:cubicBezTo>
                  <a:lnTo>
                    <a:pt x="9699" y="313094"/>
                  </a:lnTo>
                  <a:cubicBezTo>
                    <a:pt x="4342" y="313094"/>
                    <a:pt x="0" y="308752"/>
                    <a:pt x="0" y="303396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35D1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207964" cy="37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52245" y="8126891"/>
            <a:ext cx="15590707" cy="1521639"/>
            <a:chOff x="0" y="0"/>
            <a:chExt cx="3207964" cy="3130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7964" cy="313094"/>
            </a:xfrm>
            <a:custGeom>
              <a:avLst/>
              <a:gdLst/>
              <a:ahLst/>
              <a:cxnLst/>
              <a:rect r="r" b="b" t="t" l="l"/>
              <a:pathLst>
                <a:path h="313094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303396"/>
                  </a:lnTo>
                  <a:cubicBezTo>
                    <a:pt x="3207964" y="305968"/>
                    <a:pt x="3206943" y="308435"/>
                    <a:pt x="3205124" y="310254"/>
                  </a:cubicBezTo>
                  <a:cubicBezTo>
                    <a:pt x="3203305" y="312073"/>
                    <a:pt x="3200838" y="313094"/>
                    <a:pt x="3198266" y="313094"/>
                  </a:cubicBezTo>
                  <a:lnTo>
                    <a:pt x="9699" y="313094"/>
                  </a:lnTo>
                  <a:cubicBezTo>
                    <a:pt x="4342" y="313094"/>
                    <a:pt x="0" y="308752"/>
                    <a:pt x="0" y="303396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207964" cy="37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47108" y="5255730"/>
            <a:ext cx="383167" cy="38316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47108" y="6974463"/>
            <a:ext cx="383167" cy="38316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47108" y="8696127"/>
            <a:ext cx="383167" cy="38316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98801" y="8182796"/>
            <a:ext cx="1535806" cy="1381773"/>
          </a:xfrm>
          <a:custGeom>
            <a:avLst/>
            <a:gdLst/>
            <a:ahLst/>
            <a:cxnLst/>
            <a:rect r="r" b="b" t="t" l="l"/>
            <a:pathLst>
              <a:path h="1381773" w="1535806">
                <a:moveTo>
                  <a:pt x="0" y="0"/>
                </a:moveTo>
                <a:lnTo>
                  <a:pt x="1535807" y="0"/>
                </a:lnTo>
                <a:lnTo>
                  <a:pt x="1535807" y="1381772"/>
                </a:lnTo>
                <a:lnTo>
                  <a:pt x="0" y="13817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012543" y="6611411"/>
            <a:ext cx="1224116" cy="1290851"/>
          </a:xfrm>
          <a:custGeom>
            <a:avLst/>
            <a:gdLst/>
            <a:ahLst/>
            <a:cxnLst/>
            <a:rect r="r" b="b" t="t" l="l"/>
            <a:pathLst>
              <a:path h="1290851" w="1224116">
                <a:moveTo>
                  <a:pt x="0" y="0"/>
                </a:moveTo>
                <a:lnTo>
                  <a:pt x="1224116" y="0"/>
                </a:lnTo>
                <a:lnTo>
                  <a:pt x="1224116" y="1290851"/>
                </a:lnTo>
                <a:lnTo>
                  <a:pt x="0" y="1290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837351" y="4635885"/>
            <a:ext cx="1475852" cy="1320887"/>
          </a:xfrm>
          <a:custGeom>
            <a:avLst/>
            <a:gdLst/>
            <a:ahLst/>
            <a:cxnLst/>
            <a:rect r="r" b="b" t="t" l="l"/>
            <a:pathLst>
              <a:path h="1320887" w="1475852">
                <a:moveTo>
                  <a:pt x="0" y="0"/>
                </a:moveTo>
                <a:lnTo>
                  <a:pt x="1475851" y="0"/>
                </a:lnTo>
                <a:lnTo>
                  <a:pt x="1475851" y="1320887"/>
                </a:lnTo>
                <a:lnTo>
                  <a:pt x="0" y="13208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7120">
            <a:off x="7920185" y="5218974"/>
            <a:ext cx="6126944" cy="37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발생한 문제와 오류 현상을 작성하세요.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706755" y="5129155"/>
            <a:ext cx="1352401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문제 상황</a:t>
            </a:r>
          </a:p>
        </p:txBody>
      </p:sp>
      <p:sp>
        <p:nvSpPr>
          <p:cNvPr name="TextBox 25" id="25"/>
          <p:cNvSpPr txBox="true"/>
          <p:nvPr/>
        </p:nvSpPr>
        <p:spPr>
          <a:xfrm rot="7120">
            <a:off x="7919935" y="6703970"/>
            <a:ext cx="6443763" cy="77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문제의 원인과 확인 과정을 작성하세요.</a:t>
            </a:r>
          </a:p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원인을 파악하기 위해 시도한 방법을 서술하세요.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06755" y="6847888"/>
            <a:ext cx="2485430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원인 분석</a:t>
            </a:r>
          </a:p>
        </p:txBody>
      </p:sp>
      <p:sp>
        <p:nvSpPr>
          <p:cNvPr name="TextBox 27" id="27"/>
          <p:cNvSpPr txBox="true"/>
          <p:nvPr/>
        </p:nvSpPr>
        <p:spPr>
          <a:xfrm rot="7120">
            <a:off x="7919936" y="8426008"/>
            <a:ext cx="6126779" cy="77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적용한 해결 방법과 결과를 작성하세요.</a:t>
            </a:r>
          </a:p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해결 후 개선된 사항을 정리하세요.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706755" y="8569551"/>
            <a:ext cx="2076152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문제 해결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52245" y="2363564"/>
            <a:ext cx="3838129" cy="75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5"/>
              </a:lnSpc>
            </a:pPr>
            <a:r>
              <a:rPr lang="en-US" b="true" sz="3997" spc="-8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문제 및 해결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892" y="4022006"/>
            <a:ext cx="7354788" cy="1916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48"/>
              </a:lnSpc>
              <a:spcBef>
                <a:spcPct val="0"/>
              </a:spcBef>
            </a:pPr>
            <a:r>
              <a:rPr lang="en-US" b="true" sz="8993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담당 기능 상세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3892" y="3146667"/>
            <a:ext cx="8733639" cy="143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97"/>
              </a:lnSpc>
              <a:spcBef>
                <a:spcPct val="0"/>
              </a:spcBef>
            </a:pPr>
            <a:r>
              <a:rPr lang="en-US" sz="4141">
                <a:solidFill>
                  <a:srgbClr val="2282F3"/>
                </a:solidFill>
                <a:latin typeface="JASO Sans"/>
                <a:ea typeface="JASO Sans"/>
                <a:cs typeface="JASO Sans"/>
                <a:sym typeface="JASO Sans"/>
              </a:rPr>
              <a:t>TEAM MEMBER</a:t>
            </a:r>
          </a:p>
          <a:p>
            <a:pPr algn="l" marL="0" indent="0" lvl="0">
              <a:lnSpc>
                <a:spcPts val="5797"/>
              </a:lnSpc>
              <a:spcBef>
                <a:spcPct val="0"/>
              </a:spcBef>
            </a:pPr>
            <a:r>
              <a:rPr lang="en-US" sz="4141">
                <a:solidFill>
                  <a:srgbClr val="2282F3"/>
                </a:solidFill>
                <a:latin typeface="JASO Sans"/>
                <a:ea typeface="JASO Sans"/>
                <a:cs typeface="JASO Sans"/>
                <a:sym typeface="JASO Sans"/>
              </a:rPr>
              <a:t>문규리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305322" y="3942282"/>
            <a:ext cx="9108032" cy="8424930"/>
          </a:xfrm>
          <a:custGeom>
            <a:avLst/>
            <a:gdLst/>
            <a:ahLst/>
            <a:cxnLst/>
            <a:rect r="r" b="b" t="t" l="l"/>
            <a:pathLst>
              <a:path h="8424930" w="9108032">
                <a:moveTo>
                  <a:pt x="0" y="0"/>
                </a:moveTo>
                <a:lnTo>
                  <a:pt x="9108032" y="0"/>
                </a:lnTo>
                <a:lnTo>
                  <a:pt x="9108032" y="8424930"/>
                </a:lnTo>
                <a:lnTo>
                  <a:pt x="0" y="8424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2245" y="1114425"/>
            <a:ext cx="15590707" cy="2069401"/>
            <a:chOff x="0" y="0"/>
            <a:chExt cx="3207964" cy="425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07964" cy="425803"/>
            </a:xfrm>
            <a:custGeom>
              <a:avLst/>
              <a:gdLst/>
              <a:ahLst/>
              <a:cxnLst/>
              <a:rect r="r" b="b" t="t" l="l"/>
              <a:pathLst>
                <a:path h="425803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416104"/>
                  </a:lnTo>
                  <a:cubicBezTo>
                    <a:pt x="3207964" y="421460"/>
                    <a:pt x="3203622" y="425803"/>
                    <a:pt x="3198266" y="425803"/>
                  </a:cubicBezTo>
                  <a:lnTo>
                    <a:pt x="9699" y="425803"/>
                  </a:lnTo>
                  <a:cubicBezTo>
                    <a:pt x="4342" y="425803"/>
                    <a:pt x="0" y="421460"/>
                    <a:pt x="0" y="416104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157C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207964" cy="482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2245" y="3478930"/>
            <a:ext cx="15590707" cy="2487993"/>
            <a:chOff x="0" y="0"/>
            <a:chExt cx="3207964" cy="511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7964" cy="511933"/>
            </a:xfrm>
            <a:custGeom>
              <a:avLst/>
              <a:gdLst/>
              <a:ahLst/>
              <a:cxnLst/>
              <a:rect r="r" b="b" t="t" l="l"/>
              <a:pathLst>
                <a:path h="511933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502234"/>
                  </a:lnTo>
                  <a:cubicBezTo>
                    <a:pt x="3207964" y="507591"/>
                    <a:pt x="3203622" y="511933"/>
                    <a:pt x="3198266" y="511933"/>
                  </a:cubicBezTo>
                  <a:lnTo>
                    <a:pt x="9699" y="511933"/>
                  </a:lnTo>
                  <a:cubicBezTo>
                    <a:pt x="4342" y="511933"/>
                    <a:pt x="0" y="507591"/>
                    <a:pt x="0" y="502234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35D1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207964" cy="569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52245" y="6262799"/>
            <a:ext cx="15590707" cy="4211764"/>
            <a:chOff x="0" y="0"/>
            <a:chExt cx="3207964" cy="8666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7964" cy="866618"/>
            </a:xfrm>
            <a:custGeom>
              <a:avLst/>
              <a:gdLst/>
              <a:ahLst/>
              <a:cxnLst/>
              <a:rect r="r" b="b" t="t" l="l"/>
              <a:pathLst>
                <a:path h="866618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856919"/>
                  </a:lnTo>
                  <a:cubicBezTo>
                    <a:pt x="3207964" y="862276"/>
                    <a:pt x="3203622" y="866618"/>
                    <a:pt x="3198266" y="866618"/>
                  </a:cubicBezTo>
                  <a:lnTo>
                    <a:pt x="9699" y="866618"/>
                  </a:lnTo>
                  <a:cubicBezTo>
                    <a:pt x="4342" y="866618"/>
                    <a:pt x="0" y="862276"/>
                    <a:pt x="0" y="856919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207964" cy="923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47108" y="2090437"/>
            <a:ext cx="383167" cy="38316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47108" y="4608027"/>
            <a:ext cx="383167" cy="38316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47108" y="8226217"/>
            <a:ext cx="383167" cy="38316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119754" y="7883801"/>
            <a:ext cx="933067" cy="1058799"/>
          </a:xfrm>
          <a:custGeom>
            <a:avLst/>
            <a:gdLst/>
            <a:ahLst/>
            <a:cxnLst/>
            <a:rect r="r" b="b" t="t" l="l"/>
            <a:pathLst>
              <a:path h="1058799" w="933067">
                <a:moveTo>
                  <a:pt x="0" y="0"/>
                </a:moveTo>
                <a:lnTo>
                  <a:pt x="933067" y="0"/>
                </a:lnTo>
                <a:lnTo>
                  <a:pt x="933067" y="1058799"/>
                </a:lnTo>
                <a:lnTo>
                  <a:pt x="0" y="10587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035090" y="4292393"/>
            <a:ext cx="1097094" cy="1048299"/>
          </a:xfrm>
          <a:custGeom>
            <a:avLst/>
            <a:gdLst/>
            <a:ahLst/>
            <a:cxnLst/>
            <a:rect r="r" b="b" t="t" l="l"/>
            <a:pathLst>
              <a:path h="1048299" w="1097094">
                <a:moveTo>
                  <a:pt x="0" y="0"/>
                </a:moveTo>
                <a:lnTo>
                  <a:pt x="1097093" y="0"/>
                </a:lnTo>
                <a:lnTo>
                  <a:pt x="1097093" y="1048299"/>
                </a:lnTo>
                <a:lnTo>
                  <a:pt x="0" y="10482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949245" y="1455950"/>
            <a:ext cx="1254318" cy="1386351"/>
          </a:xfrm>
          <a:custGeom>
            <a:avLst/>
            <a:gdLst/>
            <a:ahLst/>
            <a:cxnLst/>
            <a:rect r="r" b="b" t="t" l="l"/>
            <a:pathLst>
              <a:path h="1386351" w="1254318">
                <a:moveTo>
                  <a:pt x="0" y="0"/>
                </a:moveTo>
                <a:lnTo>
                  <a:pt x="1254318" y="0"/>
                </a:lnTo>
                <a:lnTo>
                  <a:pt x="1254318" y="1386351"/>
                </a:lnTo>
                <a:lnTo>
                  <a:pt x="0" y="13863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7120">
            <a:off x="7677297" y="1530852"/>
            <a:ext cx="8502273" cy="120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5"/>
              </a:lnSpc>
            </a:pPr>
            <a:r>
              <a:rPr lang="en-US" sz="2097" b="true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리뷰(Review)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사용자: 리뷰 작성·수정·삭제, 도움돼요(좋아요) 토글, 마이페이지 목록 조회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관리자: 리뷰 공식 답변 등록/수정, 부적절한 리뷰 관리 및 강제 삭제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706755" y="1856899"/>
            <a:ext cx="1352401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담당 기능</a:t>
            </a:r>
          </a:p>
        </p:txBody>
      </p:sp>
      <p:sp>
        <p:nvSpPr>
          <p:cNvPr name="TextBox 25" id="25"/>
          <p:cNvSpPr txBox="true"/>
          <p:nvPr/>
        </p:nvSpPr>
        <p:spPr>
          <a:xfrm rot="7120">
            <a:off x="7679341" y="3497040"/>
            <a:ext cx="8498992" cy="2375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b="true" sz="1997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커뮤니티형 쇼핑 플랫폼 구축</a:t>
            </a:r>
            <a:r>
              <a:rPr lang="en-US" sz="1997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: 오늘의집 스타일의 상세 리뷰 및 피드백 환경을 조성해 상품 신뢰도 및 정보 공유 활성화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b="true" sz="1997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데이터 정합성 및 안정성 확보</a:t>
            </a:r>
            <a:r>
              <a:rPr lang="en-US" sz="1997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: DB 제약조건을 활용한 연관 데이터 자동 정리 및 회원·관리자 제어 상황에 유연하게 대응하는 구조 완성</a:t>
            </a:r>
          </a:p>
          <a:p>
            <a:pPr algn="l" marL="0" indent="0" lvl="0">
              <a:lnSpc>
                <a:spcPts val="3195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3706755" y="4481451"/>
            <a:ext cx="2485430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구현 목표</a:t>
            </a:r>
          </a:p>
        </p:txBody>
      </p:sp>
      <p:sp>
        <p:nvSpPr>
          <p:cNvPr name="TextBox 27" id="27"/>
          <p:cNvSpPr txBox="true"/>
          <p:nvPr/>
        </p:nvSpPr>
        <p:spPr>
          <a:xfrm rot="7120">
            <a:off x="7680582" y="6383637"/>
            <a:ext cx="9876287" cy="4375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1997" b="true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리뷰 정렬 및 필터링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베스트순, 최신순 정렬 기능 &amp; 평점별, 상품 옵션별 세부 리뷰 조회 기능</a:t>
            </a:r>
          </a:p>
          <a:p>
            <a:pPr algn="l">
              <a:lnSpc>
                <a:spcPts val="3195"/>
              </a:lnSpc>
            </a:pPr>
            <a:r>
              <a:rPr lang="en-US" sz="1997" b="true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사용자 화면 및 마이페이지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모달 기반 리뷰 작성·수정 인터페이스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회원 상태(일반/탈퇴 등)에 따른 리뷰 노출(display) 예외 처리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 strike="noStrike" u="none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마이페이지 내 내가 쓴 리뷰 모아보기 및 관리 기능</a:t>
            </a:r>
          </a:p>
          <a:p>
            <a:pPr algn="l">
              <a:lnSpc>
                <a:spcPts val="3195"/>
              </a:lnSpc>
            </a:pPr>
            <a:r>
              <a:rPr lang="en-US" b="true" sz="1997" strike="noStrike" u="none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관리자 기능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 strike="noStrike" u="none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부적절한 리뷰 이미지 숨김 처리 (IS_HIDE_IMAGE 상태 관리)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 strike="noStrike" u="none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운영 정책 위반 리뷰 삭제 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 strike="noStrike" u="none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리뷰에 대한 관리자 공식 댓글(답변) 등록 및 관리</a:t>
            </a:r>
          </a:p>
          <a:p>
            <a:pPr algn="l" marL="0" indent="0" lvl="0">
              <a:lnSpc>
                <a:spcPts val="3195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3706755" y="8099641"/>
            <a:ext cx="2076152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구현 범위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2245" y="1114425"/>
            <a:ext cx="15590707" cy="2069401"/>
            <a:chOff x="0" y="0"/>
            <a:chExt cx="3207964" cy="425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07964" cy="425803"/>
            </a:xfrm>
            <a:custGeom>
              <a:avLst/>
              <a:gdLst/>
              <a:ahLst/>
              <a:cxnLst/>
              <a:rect r="r" b="b" t="t" l="l"/>
              <a:pathLst>
                <a:path h="425803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416104"/>
                  </a:lnTo>
                  <a:cubicBezTo>
                    <a:pt x="3207964" y="421460"/>
                    <a:pt x="3203622" y="425803"/>
                    <a:pt x="3198266" y="425803"/>
                  </a:cubicBezTo>
                  <a:lnTo>
                    <a:pt x="9699" y="425803"/>
                  </a:lnTo>
                  <a:cubicBezTo>
                    <a:pt x="4342" y="425803"/>
                    <a:pt x="0" y="421460"/>
                    <a:pt x="0" y="416104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157C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207964" cy="482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2245" y="3478930"/>
            <a:ext cx="15590707" cy="2487993"/>
            <a:chOff x="0" y="0"/>
            <a:chExt cx="3207964" cy="511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7964" cy="511933"/>
            </a:xfrm>
            <a:custGeom>
              <a:avLst/>
              <a:gdLst/>
              <a:ahLst/>
              <a:cxnLst/>
              <a:rect r="r" b="b" t="t" l="l"/>
              <a:pathLst>
                <a:path h="511933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502234"/>
                  </a:lnTo>
                  <a:cubicBezTo>
                    <a:pt x="3207964" y="507591"/>
                    <a:pt x="3203622" y="511933"/>
                    <a:pt x="3198266" y="511933"/>
                  </a:cubicBezTo>
                  <a:lnTo>
                    <a:pt x="9699" y="511933"/>
                  </a:lnTo>
                  <a:cubicBezTo>
                    <a:pt x="4342" y="511933"/>
                    <a:pt x="0" y="507591"/>
                    <a:pt x="0" y="502234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35D1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207964" cy="569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52245" y="6262799"/>
            <a:ext cx="15590707" cy="4211764"/>
            <a:chOff x="0" y="0"/>
            <a:chExt cx="3207964" cy="8666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7964" cy="866618"/>
            </a:xfrm>
            <a:custGeom>
              <a:avLst/>
              <a:gdLst/>
              <a:ahLst/>
              <a:cxnLst/>
              <a:rect r="r" b="b" t="t" l="l"/>
              <a:pathLst>
                <a:path h="866618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856919"/>
                  </a:lnTo>
                  <a:cubicBezTo>
                    <a:pt x="3207964" y="862276"/>
                    <a:pt x="3203622" y="866618"/>
                    <a:pt x="3198266" y="866618"/>
                  </a:cubicBezTo>
                  <a:lnTo>
                    <a:pt x="9699" y="866618"/>
                  </a:lnTo>
                  <a:cubicBezTo>
                    <a:pt x="4342" y="866618"/>
                    <a:pt x="0" y="862276"/>
                    <a:pt x="0" y="856919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207964" cy="923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47108" y="2090437"/>
            <a:ext cx="383167" cy="38316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47108" y="4608027"/>
            <a:ext cx="383167" cy="38316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47108" y="8226217"/>
            <a:ext cx="383167" cy="38316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119754" y="7883801"/>
            <a:ext cx="933067" cy="1058799"/>
          </a:xfrm>
          <a:custGeom>
            <a:avLst/>
            <a:gdLst/>
            <a:ahLst/>
            <a:cxnLst/>
            <a:rect r="r" b="b" t="t" l="l"/>
            <a:pathLst>
              <a:path h="1058799" w="933067">
                <a:moveTo>
                  <a:pt x="0" y="0"/>
                </a:moveTo>
                <a:lnTo>
                  <a:pt x="933067" y="0"/>
                </a:lnTo>
                <a:lnTo>
                  <a:pt x="933067" y="1058799"/>
                </a:lnTo>
                <a:lnTo>
                  <a:pt x="0" y="10587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035090" y="4292393"/>
            <a:ext cx="1097094" cy="1048299"/>
          </a:xfrm>
          <a:custGeom>
            <a:avLst/>
            <a:gdLst/>
            <a:ahLst/>
            <a:cxnLst/>
            <a:rect r="r" b="b" t="t" l="l"/>
            <a:pathLst>
              <a:path h="1048299" w="1097094">
                <a:moveTo>
                  <a:pt x="0" y="0"/>
                </a:moveTo>
                <a:lnTo>
                  <a:pt x="1097093" y="0"/>
                </a:lnTo>
                <a:lnTo>
                  <a:pt x="1097093" y="1048299"/>
                </a:lnTo>
                <a:lnTo>
                  <a:pt x="0" y="10482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949245" y="1455950"/>
            <a:ext cx="1254318" cy="1386351"/>
          </a:xfrm>
          <a:custGeom>
            <a:avLst/>
            <a:gdLst/>
            <a:ahLst/>
            <a:cxnLst/>
            <a:rect r="r" b="b" t="t" l="l"/>
            <a:pathLst>
              <a:path h="1386351" w="1254318">
                <a:moveTo>
                  <a:pt x="0" y="0"/>
                </a:moveTo>
                <a:lnTo>
                  <a:pt x="1254318" y="0"/>
                </a:lnTo>
                <a:lnTo>
                  <a:pt x="1254318" y="1386351"/>
                </a:lnTo>
                <a:lnTo>
                  <a:pt x="0" y="13863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7120">
            <a:off x="7677710" y="1531384"/>
            <a:ext cx="9015997" cy="800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5"/>
              </a:lnSpc>
            </a:pPr>
            <a:r>
              <a:rPr lang="en-US" sz="2097" b="true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장바구니(Cart)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상품 상세 페이지를 통한 장바구니 담기, 수량 변경, 개별 및 선택 삭제, 주문서 연동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706755" y="1856899"/>
            <a:ext cx="1352401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담당 기능</a:t>
            </a:r>
          </a:p>
        </p:txBody>
      </p:sp>
      <p:sp>
        <p:nvSpPr>
          <p:cNvPr name="TextBox 25" id="25"/>
          <p:cNvSpPr txBox="true"/>
          <p:nvPr/>
        </p:nvSpPr>
        <p:spPr>
          <a:xfrm rot="7120">
            <a:off x="7679341" y="3497040"/>
            <a:ext cx="8498992" cy="2375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b="true" sz="1997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커뮤니티형 쇼핑 플랫폼 구축</a:t>
            </a:r>
            <a:r>
              <a:rPr lang="en-US" sz="1997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: 오늘의집 스타일의 상세 리뷰 및 피드백 환경을 조성해 상품 신뢰도 및 정보 공유 활성화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b="true" sz="1997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데이터 정합성 및 안정성 확보</a:t>
            </a:r>
            <a:r>
              <a:rPr lang="en-US" sz="1997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: DB 제약조건을 활용한 연관 데이터 자동 정리 및 회원·관리자 제어 상황에 유연하게 대응하는 구조 완성</a:t>
            </a:r>
          </a:p>
          <a:p>
            <a:pPr algn="l" marL="0" indent="0" lvl="0">
              <a:lnSpc>
                <a:spcPts val="3195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3706755" y="4481451"/>
            <a:ext cx="2485430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구현 목표</a:t>
            </a:r>
          </a:p>
        </p:txBody>
      </p:sp>
      <p:sp>
        <p:nvSpPr>
          <p:cNvPr name="TextBox 27" id="27"/>
          <p:cNvSpPr txBox="true"/>
          <p:nvPr/>
        </p:nvSpPr>
        <p:spPr>
          <a:xfrm rot="7120">
            <a:off x="7680582" y="6383637"/>
            <a:ext cx="9876287" cy="4375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1997" b="true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리뷰 정렬 및 필터링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베스트순, 최신순 정렬 기능 &amp; 평점별, 상품 옵션별 세부 리뷰 조회 기능</a:t>
            </a:r>
          </a:p>
          <a:p>
            <a:pPr algn="l">
              <a:lnSpc>
                <a:spcPts val="3195"/>
              </a:lnSpc>
            </a:pPr>
            <a:r>
              <a:rPr lang="en-US" sz="1997" b="true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사용자 화면 및 마이페이지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모달 기반 리뷰 작성·수정 인터페이스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회원 상태(일반/탈퇴 등)에 따른 리뷰 노출(display) 예외 처리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 strike="noStrike" u="none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마이페이지 내 내가 쓴 리뷰 모아보기 및 관리 기능</a:t>
            </a:r>
          </a:p>
          <a:p>
            <a:pPr algn="l">
              <a:lnSpc>
                <a:spcPts val="3195"/>
              </a:lnSpc>
            </a:pPr>
            <a:r>
              <a:rPr lang="en-US" b="true" sz="1997" strike="noStrike" u="none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관리자 기능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 strike="noStrike" u="none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부적절한 리뷰 이미지 숨김 처리 (IS_HIDE_IMAGE 상태 관리)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 strike="noStrike" u="none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운영 정책 위반 리뷰 삭제 </a:t>
            </a:r>
          </a:p>
          <a:p>
            <a:pPr algn="l" marL="431193" indent="-215597" lvl="1">
              <a:lnSpc>
                <a:spcPts val="3195"/>
              </a:lnSpc>
              <a:buFont typeface="Arial"/>
              <a:buChar char="•"/>
            </a:pPr>
            <a:r>
              <a:rPr lang="en-US" sz="1997" strike="noStrike" u="none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리뷰에 대한 관리자 공식 댓글(답변) 등록 및 관리</a:t>
            </a:r>
          </a:p>
          <a:p>
            <a:pPr algn="l" marL="0" indent="0" lvl="0">
              <a:lnSpc>
                <a:spcPts val="3195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3706755" y="8099641"/>
            <a:ext cx="2076152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구현 범위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0908" y="8126891"/>
            <a:ext cx="2322570" cy="1554189"/>
            <a:chOff x="0" y="0"/>
            <a:chExt cx="778898" cy="5212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8898" cy="521213"/>
            </a:xfrm>
            <a:custGeom>
              <a:avLst/>
              <a:gdLst/>
              <a:ahLst/>
              <a:cxnLst/>
              <a:rect r="r" b="b" t="t" l="l"/>
              <a:pathLst>
                <a:path h="521213" w="778898">
                  <a:moveTo>
                    <a:pt x="100000" y="0"/>
                  </a:moveTo>
                  <a:lnTo>
                    <a:pt x="678897" y="0"/>
                  </a:lnTo>
                  <a:cubicBezTo>
                    <a:pt x="734126" y="0"/>
                    <a:pt x="778898" y="44772"/>
                    <a:pt x="778898" y="100000"/>
                  </a:cubicBezTo>
                  <a:lnTo>
                    <a:pt x="778898" y="421213"/>
                  </a:lnTo>
                  <a:cubicBezTo>
                    <a:pt x="778898" y="447735"/>
                    <a:pt x="768362" y="473170"/>
                    <a:pt x="749608" y="491924"/>
                  </a:cubicBezTo>
                  <a:cubicBezTo>
                    <a:pt x="730855" y="510678"/>
                    <a:pt x="705419" y="521213"/>
                    <a:pt x="678897" y="521213"/>
                  </a:cubicBezTo>
                  <a:lnTo>
                    <a:pt x="100000" y="521213"/>
                  </a:lnTo>
                  <a:cubicBezTo>
                    <a:pt x="44772" y="521213"/>
                    <a:pt x="0" y="476442"/>
                    <a:pt x="0" y="421213"/>
                  </a:cubicBezTo>
                  <a:lnTo>
                    <a:pt x="0" y="100000"/>
                  </a:lnTo>
                  <a:cubicBezTo>
                    <a:pt x="0" y="44772"/>
                    <a:pt x="44772" y="0"/>
                    <a:pt x="100000" y="0"/>
                  </a:cubicBezTo>
                  <a:close/>
                </a:path>
              </a:pathLst>
            </a:custGeom>
            <a:solidFill>
              <a:srgbClr val="35D19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78898" cy="57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2245" y="8126891"/>
            <a:ext cx="2322570" cy="1554189"/>
            <a:chOff x="0" y="0"/>
            <a:chExt cx="778898" cy="5212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8898" cy="521213"/>
            </a:xfrm>
            <a:custGeom>
              <a:avLst/>
              <a:gdLst/>
              <a:ahLst/>
              <a:cxnLst/>
              <a:rect r="r" b="b" t="t" l="l"/>
              <a:pathLst>
                <a:path h="521213" w="778898">
                  <a:moveTo>
                    <a:pt x="100000" y="0"/>
                  </a:moveTo>
                  <a:lnTo>
                    <a:pt x="678897" y="0"/>
                  </a:lnTo>
                  <a:cubicBezTo>
                    <a:pt x="734126" y="0"/>
                    <a:pt x="778898" y="44772"/>
                    <a:pt x="778898" y="100000"/>
                  </a:cubicBezTo>
                  <a:lnTo>
                    <a:pt x="778898" y="421213"/>
                  </a:lnTo>
                  <a:cubicBezTo>
                    <a:pt x="778898" y="447735"/>
                    <a:pt x="768362" y="473170"/>
                    <a:pt x="749608" y="491924"/>
                  </a:cubicBezTo>
                  <a:cubicBezTo>
                    <a:pt x="730855" y="510678"/>
                    <a:pt x="705419" y="521213"/>
                    <a:pt x="678897" y="521213"/>
                  </a:cubicBezTo>
                  <a:lnTo>
                    <a:pt x="100000" y="521213"/>
                  </a:lnTo>
                  <a:cubicBezTo>
                    <a:pt x="44772" y="521213"/>
                    <a:pt x="0" y="476442"/>
                    <a:pt x="0" y="421213"/>
                  </a:cubicBezTo>
                  <a:lnTo>
                    <a:pt x="0" y="100000"/>
                  </a:lnTo>
                  <a:cubicBezTo>
                    <a:pt x="0" y="44772"/>
                    <a:pt x="44772" y="0"/>
                    <a:pt x="100000" y="0"/>
                  </a:cubicBezTo>
                  <a:close/>
                </a:path>
              </a:pathLst>
            </a:custGeom>
            <a:solidFill>
              <a:srgbClr val="157CE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778898" cy="57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70036" y="8126891"/>
            <a:ext cx="2322570" cy="1554189"/>
            <a:chOff x="0" y="0"/>
            <a:chExt cx="778898" cy="5212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78898" cy="521213"/>
            </a:xfrm>
            <a:custGeom>
              <a:avLst/>
              <a:gdLst/>
              <a:ahLst/>
              <a:cxnLst/>
              <a:rect r="r" b="b" t="t" l="l"/>
              <a:pathLst>
                <a:path h="521213" w="778898">
                  <a:moveTo>
                    <a:pt x="100000" y="0"/>
                  </a:moveTo>
                  <a:lnTo>
                    <a:pt x="678897" y="0"/>
                  </a:lnTo>
                  <a:cubicBezTo>
                    <a:pt x="734126" y="0"/>
                    <a:pt x="778898" y="44772"/>
                    <a:pt x="778898" y="100000"/>
                  </a:cubicBezTo>
                  <a:lnTo>
                    <a:pt x="778898" y="421213"/>
                  </a:lnTo>
                  <a:cubicBezTo>
                    <a:pt x="778898" y="447735"/>
                    <a:pt x="768362" y="473170"/>
                    <a:pt x="749608" y="491924"/>
                  </a:cubicBezTo>
                  <a:cubicBezTo>
                    <a:pt x="730855" y="510678"/>
                    <a:pt x="705419" y="521213"/>
                    <a:pt x="678897" y="521213"/>
                  </a:cubicBezTo>
                  <a:lnTo>
                    <a:pt x="100000" y="521213"/>
                  </a:lnTo>
                  <a:cubicBezTo>
                    <a:pt x="44772" y="521213"/>
                    <a:pt x="0" y="476442"/>
                    <a:pt x="0" y="421213"/>
                  </a:cubicBezTo>
                  <a:lnTo>
                    <a:pt x="0" y="100000"/>
                  </a:lnTo>
                  <a:cubicBezTo>
                    <a:pt x="0" y="44772"/>
                    <a:pt x="44772" y="0"/>
                    <a:pt x="100000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78898" cy="57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11756" y="2533164"/>
            <a:ext cx="6964501" cy="7147916"/>
            <a:chOff x="0" y="0"/>
            <a:chExt cx="1719870" cy="17651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19870" cy="1765164"/>
            </a:xfrm>
            <a:custGeom>
              <a:avLst/>
              <a:gdLst/>
              <a:ahLst/>
              <a:cxnLst/>
              <a:rect r="r" b="b" t="t" l="l"/>
              <a:pathLst>
                <a:path h="1765164" w="1719870">
                  <a:moveTo>
                    <a:pt x="32237" y="0"/>
                  </a:moveTo>
                  <a:lnTo>
                    <a:pt x="1687633" y="0"/>
                  </a:lnTo>
                  <a:cubicBezTo>
                    <a:pt x="1705437" y="0"/>
                    <a:pt x="1719870" y="14433"/>
                    <a:pt x="1719870" y="32237"/>
                  </a:cubicBezTo>
                  <a:lnTo>
                    <a:pt x="1719870" y="1732927"/>
                  </a:lnTo>
                  <a:cubicBezTo>
                    <a:pt x="1719870" y="1741477"/>
                    <a:pt x="1716474" y="1749677"/>
                    <a:pt x="1710428" y="1755722"/>
                  </a:cubicBezTo>
                  <a:cubicBezTo>
                    <a:pt x="1704382" y="1761768"/>
                    <a:pt x="1696183" y="1765164"/>
                    <a:pt x="1687633" y="1765164"/>
                  </a:cubicBezTo>
                  <a:lnTo>
                    <a:pt x="32237" y="1765164"/>
                  </a:lnTo>
                  <a:cubicBezTo>
                    <a:pt x="23687" y="1765164"/>
                    <a:pt x="15488" y="1761768"/>
                    <a:pt x="9442" y="1755722"/>
                  </a:cubicBezTo>
                  <a:cubicBezTo>
                    <a:pt x="3396" y="1749677"/>
                    <a:pt x="0" y="1741477"/>
                    <a:pt x="0" y="1732927"/>
                  </a:cubicBezTo>
                  <a:lnTo>
                    <a:pt x="0" y="32237"/>
                  </a:lnTo>
                  <a:cubicBezTo>
                    <a:pt x="0" y="23687"/>
                    <a:pt x="3396" y="15488"/>
                    <a:pt x="9442" y="9442"/>
                  </a:cubicBezTo>
                  <a:cubicBezTo>
                    <a:pt x="15488" y="3396"/>
                    <a:pt x="23687" y="0"/>
                    <a:pt x="32237" y="0"/>
                  </a:cubicBezTo>
                  <a:close/>
                </a:path>
              </a:pathLst>
            </a:custGeom>
            <a:blipFill>
              <a:blip r:embed="rId2"/>
              <a:stretch>
                <a:fillRect l="-482" t="0" r="-482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875092" y="8561086"/>
            <a:ext cx="1276876" cy="56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6"/>
              </a:lnSpc>
            </a:pPr>
            <a:r>
              <a:rPr lang="en-US" b="true" sz="2997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화면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04276" y="8561086"/>
            <a:ext cx="1535835" cy="56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6"/>
              </a:lnSpc>
            </a:pPr>
            <a:r>
              <a:rPr lang="en-US" b="true" sz="2997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화면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48103" y="8561086"/>
            <a:ext cx="1166437" cy="56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6"/>
              </a:lnSpc>
            </a:pPr>
            <a:r>
              <a:rPr lang="en-US" b="true" sz="2997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화면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2245" y="2365854"/>
            <a:ext cx="3838129" cy="75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5"/>
              </a:lnSpc>
            </a:pPr>
            <a:r>
              <a:rPr lang="en-US" b="true" sz="3997" spc="-8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02 구현 화면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33463" y="4876347"/>
            <a:ext cx="0" cy="3274379"/>
          </a:xfrm>
          <a:prstGeom prst="line">
            <a:avLst/>
          </a:prstGeom>
          <a:ln cap="flat" w="9525">
            <a:solidFill>
              <a:srgbClr val="D1D1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7254538" y="4876347"/>
            <a:ext cx="0" cy="3274379"/>
          </a:xfrm>
          <a:prstGeom prst="line">
            <a:avLst/>
          </a:prstGeom>
          <a:ln cap="flat" w="9525">
            <a:solidFill>
              <a:srgbClr val="D1D1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6440488" y="4876347"/>
            <a:ext cx="0" cy="3274379"/>
          </a:xfrm>
          <a:prstGeom prst="line">
            <a:avLst/>
          </a:prstGeom>
          <a:ln cap="flat" w="9525">
            <a:solidFill>
              <a:srgbClr val="D1D1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1847513" y="4876347"/>
            <a:ext cx="0" cy="3274379"/>
          </a:xfrm>
          <a:prstGeom prst="line">
            <a:avLst/>
          </a:prstGeom>
          <a:ln cap="flat" w="9525">
            <a:solidFill>
              <a:srgbClr val="D1D1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5539094"/>
            <a:ext cx="5411788" cy="744973"/>
            <a:chOff x="0" y="0"/>
            <a:chExt cx="1425327" cy="1962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5327" cy="196207"/>
            </a:xfrm>
            <a:custGeom>
              <a:avLst/>
              <a:gdLst/>
              <a:ahLst/>
              <a:cxnLst/>
              <a:rect r="r" b="b" t="t" l="l"/>
              <a:pathLst>
                <a:path h="196207" w="1425327">
                  <a:moveTo>
                    <a:pt x="0" y="0"/>
                  </a:moveTo>
                  <a:lnTo>
                    <a:pt x="1425327" y="0"/>
                  </a:lnTo>
                  <a:lnTo>
                    <a:pt x="1425327" y="196207"/>
                  </a:lnTo>
                  <a:lnTo>
                    <a:pt x="0" y="196207"/>
                  </a:lnTo>
                  <a:close/>
                </a:path>
              </a:pathLst>
            </a:custGeom>
            <a:solidFill>
              <a:srgbClr val="157CE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425327" cy="25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35725" y="5540831"/>
            <a:ext cx="5411788" cy="744973"/>
            <a:chOff x="0" y="0"/>
            <a:chExt cx="1425327" cy="1962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25327" cy="196207"/>
            </a:xfrm>
            <a:custGeom>
              <a:avLst/>
              <a:gdLst/>
              <a:ahLst/>
              <a:cxnLst/>
              <a:rect r="r" b="b" t="t" l="l"/>
              <a:pathLst>
                <a:path h="196207" w="1425327">
                  <a:moveTo>
                    <a:pt x="0" y="0"/>
                  </a:moveTo>
                  <a:lnTo>
                    <a:pt x="1425327" y="0"/>
                  </a:lnTo>
                  <a:lnTo>
                    <a:pt x="1425327" y="196207"/>
                  </a:lnTo>
                  <a:lnTo>
                    <a:pt x="0" y="196207"/>
                  </a:lnTo>
                  <a:close/>
                </a:path>
              </a:pathLst>
            </a:custGeom>
            <a:solidFill>
              <a:srgbClr val="35D19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425327" cy="25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19213" y="4912784"/>
            <a:ext cx="1813466" cy="421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5"/>
              </a:lnSpc>
            </a:pPr>
            <a:r>
              <a:rPr lang="en-US" b="true" sz="2196" spc="-6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Step 01.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26238" y="4921747"/>
            <a:ext cx="1888629" cy="421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5"/>
              </a:lnSpc>
            </a:pPr>
            <a:r>
              <a:rPr lang="en-US" b="true" sz="2196" spc="-6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Step 02.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31774" y="4921747"/>
            <a:ext cx="1810643" cy="421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5"/>
              </a:lnSpc>
            </a:pPr>
            <a:r>
              <a:rPr lang="en-US" b="true" sz="2196" spc="-6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Step 03.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9213" y="5629155"/>
            <a:ext cx="3162300" cy="47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7"/>
              </a:lnSpc>
            </a:pPr>
            <a:r>
              <a:rPr lang="en-US" b="true" sz="249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사용자 요청 &amp; Handler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847513" y="5540831"/>
            <a:ext cx="5411788" cy="744973"/>
            <a:chOff x="0" y="0"/>
            <a:chExt cx="1425327" cy="19620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25327" cy="196207"/>
            </a:xfrm>
            <a:custGeom>
              <a:avLst/>
              <a:gdLst/>
              <a:ahLst/>
              <a:cxnLst/>
              <a:rect r="r" b="b" t="t" l="l"/>
              <a:pathLst>
                <a:path h="196207" w="1425327">
                  <a:moveTo>
                    <a:pt x="0" y="0"/>
                  </a:moveTo>
                  <a:lnTo>
                    <a:pt x="1425327" y="0"/>
                  </a:lnTo>
                  <a:lnTo>
                    <a:pt x="1425327" y="196207"/>
                  </a:lnTo>
                  <a:lnTo>
                    <a:pt x="0" y="196207"/>
                  </a:lnTo>
                  <a:close/>
                </a:path>
              </a:pathLst>
            </a:custGeom>
            <a:solidFill>
              <a:srgbClr val="D1D1D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425327" cy="25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726238" y="5629155"/>
            <a:ext cx="2417894" cy="47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7"/>
              </a:lnSpc>
            </a:pPr>
            <a:r>
              <a:rPr lang="en-US" b="true" sz="249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Service &amp; DAO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31774" y="5629155"/>
            <a:ext cx="3267224" cy="47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7"/>
              </a:lnSpc>
            </a:pPr>
            <a:r>
              <a:rPr lang="en-US" b="true" sz="2498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JSP &amp; 응답 반환</a:t>
            </a:r>
          </a:p>
        </p:txBody>
      </p:sp>
      <p:sp>
        <p:nvSpPr>
          <p:cNvPr name="TextBox 21" id="21"/>
          <p:cNvSpPr txBox="true"/>
          <p:nvPr/>
        </p:nvSpPr>
        <p:spPr>
          <a:xfrm rot="7120">
            <a:off x="1320358" y="6612378"/>
            <a:ext cx="4355567" cy="972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사용자가 브라우저에서 URL 요청을 전송합니다.</a:t>
            </a:r>
          </a:p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Handler(Servlet)가 요청을 받아 파라미터를 파싱하고 Service를 호출합니다.</a:t>
            </a:r>
          </a:p>
        </p:txBody>
      </p:sp>
      <p:sp>
        <p:nvSpPr>
          <p:cNvPr name="TextBox 22" id="22"/>
          <p:cNvSpPr txBox="true"/>
          <p:nvPr/>
        </p:nvSpPr>
        <p:spPr>
          <a:xfrm rot="7120">
            <a:off x="6726639" y="6612160"/>
            <a:ext cx="4565493" cy="972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Service 계층에서 비즈니스 로직을 처리합니다.</a:t>
            </a:r>
          </a:p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DAO를 통해 Oracle DB에 SQL 쿼리를 실행하고 DTO로 결과를 반환합니다.</a:t>
            </a:r>
          </a:p>
        </p:txBody>
      </p:sp>
      <p:sp>
        <p:nvSpPr>
          <p:cNvPr name="TextBox 23" id="23"/>
          <p:cNvSpPr txBox="true"/>
          <p:nvPr/>
        </p:nvSpPr>
        <p:spPr>
          <a:xfrm rot="7120">
            <a:off x="12129300" y="6626039"/>
            <a:ext cx="4481511" cy="130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Handler가 결과 데이터를 request에 담아 JSP로 포워딩합니다.</a:t>
            </a:r>
          </a:p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JSP(JSTL·EL)가 HTML을 렌더링하여 사용자에게 응답합니다.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2245" y="2365854"/>
            <a:ext cx="6626263" cy="75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5"/>
              </a:lnSpc>
            </a:pPr>
            <a:r>
              <a:rPr lang="en-US" b="true" sz="3997" spc="-8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03 처리 흐름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55646" y="8468903"/>
            <a:ext cx="16376707" cy="1521639"/>
            <a:chOff x="0" y="0"/>
            <a:chExt cx="3369693" cy="31309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69693" cy="313094"/>
            </a:xfrm>
            <a:custGeom>
              <a:avLst/>
              <a:gdLst/>
              <a:ahLst/>
              <a:cxnLst/>
              <a:rect r="r" b="b" t="t" l="l"/>
              <a:pathLst>
                <a:path h="313094" w="3369693">
                  <a:moveTo>
                    <a:pt x="9233" y="0"/>
                  </a:moveTo>
                  <a:lnTo>
                    <a:pt x="3360460" y="0"/>
                  </a:lnTo>
                  <a:cubicBezTo>
                    <a:pt x="3365559" y="0"/>
                    <a:pt x="3369693" y="4134"/>
                    <a:pt x="3369693" y="9233"/>
                  </a:cubicBezTo>
                  <a:lnTo>
                    <a:pt x="3369693" y="303861"/>
                  </a:lnTo>
                  <a:cubicBezTo>
                    <a:pt x="3369693" y="308961"/>
                    <a:pt x="3365559" y="313094"/>
                    <a:pt x="3360460" y="313094"/>
                  </a:cubicBezTo>
                  <a:lnTo>
                    <a:pt x="9233" y="313094"/>
                  </a:lnTo>
                  <a:cubicBezTo>
                    <a:pt x="4134" y="313094"/>
                    <a:pt x="0" y="308961"/>
                    <a:pt x="0" y="303861"/>
                  </a:cubicBezTo>
                  <a:lnTo>
                    <a:pt x="0" y="9233"/>
                  </a:lnTo>
                  <a:cubicBezTo>
                    <a:pt x="0" y="4134"/>
                    <a:pt x="4134" y="0"/>
                    <a:pt x="9233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3369693" cy="37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7120">
            <a:off x="4063317" y="8820124"/>
            <a:ext cx="10163208" cy="37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95"/>
              </a:lnSpc>
            </a:pPr>
            <a:r>
              <a:rPr lang="en-US" b="true" sz="1997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기능 처리 흐름 이미지를 넣으세요.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3288445" y="2784973"/>
            <a:ext cx="4883409" cy="3314614"/>
          </a:xfrm>
          <a:custGeom>
            <a:avLst/>
            <a:gdLst/>
            <a:ahLst/>
            <a:cxnLst/>
            <a:rect r="r" b="b" t="t" l="l"/>
            <a:pathLst>
              <a:path h="3314614" w="4883409">
                <a:moveTo>
                  <a:pt x="0" y="0"/>
                </a:moveTo>
                <a:lnTo>
                  <a:pt x="4883409" y="0"/>
                </a:lnTo>
                <a:lnTo>
                  <a:pt x="4883409" y="3314614"/>
                </a:lnTo>
                <a:lnTo>
                  <a:pt x="0" y="3314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2245" y="4686494"/>
            <a:ext cx="15590707" cy="1521639"/>
            <a:chOff x="0" y="0"/>
            <a:chExt cx="3207964" cy="3130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07964" cy="313094"/>
            </a:xfrm>
            <a:custGeom>
              <a:avLst/>
              <a:gdLst/>
              <a:ahLst/>
              <a:cxnLst/>
              <a:rect r="r" b="b" t="t" l="l"/>
              <a:pathLst>
                <a:path h="313094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303396"/>
                  </a:lnTo>
                  <a:cubicBezTo>
                    <a:pt x="3207964" y="305968"/>
                    <a:pt x="3206943" y="308435"/>
                    <a:pt x="3205124" y="310254"/>
                  </a:cubicBezTo>
                  <a:cubicBezTo>
                    <a:pt x="3203305" y="312073"/>
                    <a:pt x="3200838" y="313094"/>
                    <a:pt x="3198266" y="313094"/>
                  </a:cubicBezTo>
                  <a:lnTo>
                    <a:pt x="9699" y="313094"/>
                  </a:lnTo>
                  <a:cubicBezTo>
                    <a:pt x="4342" y="313094"/>
                    <a:pt x="0" y="308752"/>
                    <a:pt x="0" y="303396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157C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207964" cy="37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2245" y="6405228"/>
            <a:ext cx="15590707" cy="1521639"/>
            <a:chOff x="0" y="0"/>
            <a:chExt cx="3207964" cy="3130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7964" cy="313094"/>
            </a:xfrm>
            <a:custGeom>
              <a:avLst/>
              <a:gdLst/>
              <a:ahLst/>
              <a:cxnLst/>
              <a:rect r="r" b="b" t="t" l="l"/>
              <a:pathLst>
                <a:path h="313094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303396"/>
                  </a:lnTo>
                  <a:cubicBezTo>
                    <a:pt x="3207964" y="305968"/>
                    <a:pt x="3206943" y="308435"/>
                    <a:pt x="3205124" y="310254"/>
                  </a:cubicBezTo>
                  <a:cubicBezTo>
                    <a:pt x="3203305" y="312073"/>
                    <a:pt x="3200838" y="313094"/>
                    <a:pt x="3198266" y="313094"/>
                  </a:cubicBezTo>
                  <a:lnTo>
                    <a:pt x="9699" y="313094"/>
                  </a:lnTo>
                  <a:cubicBezTo>
                    <a:pt x="4342" y="313094"/>
                    <a:pt x="0" y="308752"/>
                    <a:pt x="0" y="303396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35D1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207964" cy="37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52245" y="8126891"/>
            <a:ext cx="15590707" cy="1521639"/>
            <a:chOff x="0" y="0"/>
            <a:chExt cx="3207964" cy="3130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7964" cy="313094"/>
            </a:xfrm>
            <a:custGeom>
              <a:avLst/>
              <a:gdLst/>
              <a:ahLst/>
              <a:cxnLst/>
              <a:rect r="r" b="b" t="t" l="l"/>
              <a:pathLst>
                <a:path h="313094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303396"/>
                  </a:lnTo>
                  <a:cubicBezTo>
                    <a:pt x="3207964" y="305968"/>
                    <a:pt x="3206943" y="308435"/>
                    <a:pt x="3205124" y="310254"/>
                  </a:cubicBezTo>
                  <a:cubicBezTo>
                    <a:pt x="3203305" y="312073"/>
                    <a:pt x="3200838" y="313094"/>
                    <a:pt x="3198266" y="313094"/>
                  </a:cubicBezTo>
                  <a:lnTo>
                    <a:pt x="9699" y="313094"/>
                  </a:lnTo>
                  <a:cubicBezTo>
                    <a:pt x="4342" y="313094"/>
                    <a:pt x="0" y="308752"/>
                    <a:pt x="0" y="303396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207964" cy="37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47108" y="5255730"/>
            <a:ext cx="383167" cy="38316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47108" y="6974463"/>
            <a:ext cx="383167" cy="38316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47108" y="8696127"/>
            <a:ext cx="383167" cy="38316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98801" y="8182796"/>
            <a:ext cx="1535806" cy="1381773"/>
          </a:xfrm>
          <a:custGeom>
            <a:avLst/>
            <a:gdLst/>
            <a:ahLst/>
            <a:cxnLst/>
            <a:rect r="r" b="b" t="t" l="l"/>
            <a:pathLst>
              <a:path h="1381773" w="1535806">
                <a:moveTo>
                  <a:pt x="0" y="0"/>
                </a:moveTo>
                <a:lnTo>
                  <a:pt x="1535807" y="0"/>
                </a:lnTo>
                <a:lnTo>
                  <a:pt x="1535807" y="1381772"/>
                </a:lnTo>
                <a:lnTo>
                  <a:pt x="0" y="13817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012543" y="6611411"/>
            <a:ext cx="1224116" cy="1290851"/>
          </a:xfrm>
          <a:custGeom>
            <a:avLst/>
            <a:gdLst/>
            <a:ahLst/>
            <a:cxnLst/>
            <a:rect r="r" b="b" t="t" l="l"/>
            <a:pathLst>
              <a:path h="1290851" w="1224116">
                <a:moveTo>
                  <a:pt x="0" y="0"/>
                </a:moveTo>
                <a:lnTo>
                  <a:pt x="1224116" y="0"/>
                </a:lnTo>
                <a:lnTo>
                  <a:pt x="1224116" y="1290851"/>
                </a:lnTo>
                <a:lnTo>
                  <a:pt x="0" y="1290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837351" y="4635885"/>
            <a:ext cx="1475852" cy="1320887"/>
          </a:xfrm>
          <a:custGeom>
            <a:avLst/>
            <a:gdLst/>
            <a:ahLst/>
            <a:cxnLst/>
            <a:rect r="r" b="b" t="t" l="l"/>
            <a:pathLst>
              <a:path h="1320887" w="1475852">
                <a:moveTo>
                  <a:pt x="0" y="0"/>
                </a:moveTo>
                <a:lnTo>
                  <a:pt x="1475851" y="0"/>
                </a:lnTo>
                <a:lnTo>
                  <a:pt x="1475851" y="1320887"/>
                </a:lnTo>
                <a:lnTo>
                  <a:pt x="0" y="13208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7120">
            <a:off x="7920185" y="5218974"/>
            <a:ext cx="6126944" cy="37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발생한 문제와 오류 현상을 작성하세요.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706755" y="5129155"/>
            <a:ext cx="1352401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문제 상황</a:t>
            </a:r>
          </a:p>
        </p:txBody>
      </p:sp>
      <p:sp>
        <p:nvSpPr>
          <p:cNvPr name="TextBox 25" id="25"/>
          <p:cNvSpPr txBox="true"/>
          <p:nvPr/>
        </p:nvSpPr>
        <p:spPr>
          <a:xfrm rot="7120">
            <a:off x="7919935" y="6703970"/>
            <a:ext cx="6443763" cy="77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문제의 원인과 확인 과정을 작성하세요.</a:t>
            </a:r>
          </a:p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원인을 파악하기 위해 시도한 방법을 서술하세요.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06755" y="6847888"/>
            <a:ext cx="2485430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원인 분석</a:t>
            </a:r>
          </a:p>
        </p:txBody>
      </p:sp>
      <p:sp>
        <p:nvSpPr>
          <p:cNvPr name="TextBox 27" id="27"/>
          <p:cNvSpPr txBox="true"/>
          <p:nvPr/>
        </p:nvSpPr>
        <p:spPr>
          <a:xfrm rot="7120">
            <a:off x="7919936" y="8426008"/>
            <a:ext cx="6126779" cy="77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적용한 해결 방법과 결과를 작성하세요.</a:t>
            </a:r>
          </a:p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해결 후 개선된 사항을 정리하세요.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706755" y="8569551"/>
            <a:ext cx="2076152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문제 해결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52245" y="2363564"/>
            <a:ext cx="3838129" cy="75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5"/>
              </a:lnSpc>
            </a:pPr>
            <a:r>
              <a:rPr lang="en-US" b="true" sz="3997" spc="-8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문제 및 해결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892" y="3146667"/>
            <a:ext cx="8733639" cy="143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97"/>
              </a:lnSpc>
              <a:spcBef>
                <a:spcPct val="0"/>
              </a:spcBef>
            </a:pPr>
            <a:r>
              <a:rPr lang="en-US" sz="4141">
                <a:solidFill>
                  <a:srgbClr val="2282F3"/>
                </a:solidFill>
                <a:latin typeface="JASO Sans"/>
                <a:ea typeface="JASO Sans"/>
                <a:cs typeface="JASO Sans"/>
                <a:sym typeface="JASO Sans"/>
              </a:rPr>
              <a:t>TEAM MEMBER</a:t>
            </a:r>
          </a:p>
          <a:p>
            <a:pPr algn="l" marL="0" indent="0" lvl="0">
              <a:lnSpc>
                <a:spcPts val="5797"/>
              </a:lnSpc>
              <a:spcBef>
                <a:spcPct val="0"/>
              </a:spcBef>
            </a:pPr>
            <a:r>
              <a:rPr lang="en-US" sz="4141">
                <a:solidFill>
                  <a:srgbClr val="2282F3"/>
                </a:solidFill>
                <a:latin typeface="JASO Sans"/>
                <a:ea typeface="JASO Sans"/>
                <a:cs typeface="JASO Sans"/>
                <a:sym typeface="JASO Sans"/>
              </a:rPr>
              <a:t>류호훈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305322" y="3942282"/>
            <a:ext cx="9108032" cy="8424930"/>
          </a:xfrm>
          <a:custGeom>
            <a:avLst/>
            <a:gdLst/>
            <a:ahLst/>
            <a:cxnLst/>
            <a:rect r="r" b="b" t="t" l="l"/>
            <a:pathLst>
              <a:path h="8424930" w="9108032">
                <a:moveTo>
                  <a:pt x="0" y="0"/>
                </a:moveTo>
                <a:lnTo>
                  <a:pt x="9108032" y="0"/>
                </a:lnTo>
                <a:lnTo>
                  <a:pt x="9108032" y="8424930"/>
                </a:lnTo>
                <a:lnTo>
                  <a:pt x="0" y="8424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33892" y="4079156"/>
            <a:ext cx="12294182" cy="596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93"/>
              </a:lnSpc>
            </a:pPr>
            <a:r>
              <a:rPr lang="en-US" sz="8094">
                <a:solidFill>
                  <a:srgbClr val="222222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상</a:t>
            </a:r>
            <a:r>
              <a:rPr lang="en-US" sz="8094">
                <a:solidFill>
                  <a:srgbClr val="222222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품 Detail</a:t>
            </a:r>
          </a:p>
          <a:p>
            <a:pPr algn="l">
              <a:lnSpc>
                <a:spcPts val="16916"/>
              </a:lnSpc>
            </a:pPr>
            <a:r>
              <a:rPr lang="en-US" sz="9193">
                <a:solidFill>
                  <a:srgbClr val="222222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구매/결제</a:t>
            </a:r>
          </a:p>
          <a:p>
            <a:pPr algn="l" marL="0" indent="0" lvl="0">
              <a:lnSpc>
                <a:spcPts val="16916"/>
              </a:lnSpc>
              <a:spcBef>
                <a:spcPct val="0"/>
              </a:spcBef>
            </a:pPr>
            <a:r>
              <a:rPr lang="en-US" sz="9193">
                <a:solidFill>
                  <a:srgbClr val="222222"/>
                </a:solidFill>
                <a:latin typeface="210 네버랜드"/>
                <a:ea typeface="210 네버랜드"/>
                <a:cs typeface="210 네버랜드"/>
                <a:sym typeface="210 네버랜드"/>
              </a:rPr>
              <a:t>주문 목록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2245" y="8126891"/>
            <a:ext cx="15590707" cy="1928283"/>
            <a:chOff x="0" y="0"/>
            <a:chExt cx="3207964" cy="3967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07964" cy="396766"/>
            </a:xfrm>
            <a:custGeom>
              <a:avLst/>
              <a:gdLst/>
              <a:ahLst/>
              <a:cxnLst/>
              <a:rect r="r" b="b" t="t" l="l"/>
              <a:pathLst>
                <a:path h="396766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387067"/>
                  </a:lnTo>
                  <a:cubicBezTo>
                    <a:pt x="3207964" y="392424"/>
                    <a:pt x="3203622" y="396766"/>
                    <a:pt x="3198266" y="396766"/>
                  </a:cubicBezTo>
                  <a:lnTo>
                    <a:pt x="9699" y="396766"/>
                  </a:lnTo>
                  <a:cubicBezTo>
                    <a:pt x="4342" y="396766"/>
                    <a:pt x="0" y="392424"/>
                    <a:pt x="0" y="387067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207964" cy="453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33501" y="9029344"/>
            <a:ext cx="383167" cy="38316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135483" y="8566777"/>
            <a:ext cx="933067" cy="1058799"/>
          </a:xfrm>
          <a:custGeom>
            <a:avLst/>
            <a:gdLst/>
            <a:ahLst/>
            <a:cxnLst/>
            <a:rect r="r" b="b" t="t" l="l"/>
            <a:pathLst>
              <a:path h="1058799" w="933067">
                <a:moveTo>
                  <a:pt x="0" y="0"/>
                </a:moveTo>
                <a:lnTo>
                  <a:pt x="933067" y="0"/>
                </a:lnTo>
                <a:lnTo>
                  <a:pt x="933067" y="1058799"/>
                </a:lnTo>
                <a:lnTo>
                  <a:pt x="0" y="1058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48646" y="1411104"/>
            <a:ext cx="15590707" cy="3784448"/>
            <a:chOff x="0" y="0"/>
            <a:chExt cx="20787610" cy="504593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787610" cy="5045931"/>
              <a:chOff x="0" y="0"/>
              <a:chExt cx="3207964" cy="77869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207964" cy="778693"/>
              </a:xfrm>
              <a:custGeom>
                <a:avLst/>
                <a:gdLst/>
                <a:ahLst/>
                <a:cxnLst/>
                <a:rect r="r" b="b" t="t" l="l"/>
                <a:pathLst>
                  <a:path h="778693" w="3207964">
                    <a:moveTo>
                      <a:pt x="9699" y="0"/>
                    </a:moveTo>
                    <a:lnTo>
                      <a:pt x="3198266" y="0"/>
                    </a:lnTo>
                    <a:cubicBezTo>
                      <a:pt x="3203622" y="0"/>
                      <a:pt x="3207964" y="4342"/>
                      <a:pt x="3207964" y="9699"/>
                    </a:cubicBezTo>
                    <a:lnTo>
                      <a:pt x="3207964" y="768994"/>
                    </a:lnTo>
                    <a:cubicBezTo>
                      <a:pt x="3207964" y="774351"/>
                      <a:pt x="3203622" y="778693"/>
                      <a:pt x="3198266" y="778693"/>
                    </a:cubicBezTo>
                    <a:lnTo>
                      <a:pt x="9699" y="778693"/>
                    </a:lnTo>
                    <a:cubicBezTo>
                      <a:pt x="7126" y="778693"/>
                      <a:pt x="4660" y="777671"/>
                      <a:pt x="2841" y="775852"/>
                    </a:cubicBezTo>
                    <a:cubicBezTo>
                      <a:pt x="1022" y="774033"/>
                      <a:pt x="0" y="771567"/>
                      <a:pt x="0" y="768994"/>
                    </a:cubicBezTo>
                    <a:lnTo>
                      <a:pt x="0" y="9699"/>
                    </a:lnTo>
                    <a:cubicBezTo>
                      <a:pt x="0" y="4342"/>
                      <a:pt x="4342" y="0"/>
                      <a:pt x="9699" y="0"/>
                    </a:cubicBezTo>
                    <a:close/>
                  </a:path>
                </a:pathLst>
              </a:custGeom>
              <a:solidFill>
                <a:srgbClr val="157CE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3207964" cy="8358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6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6234386" y="1981687"/>
              <a:ext cx="510889" cy="510889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812800" y="406400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406400" y="609600"/>
                    </a:lnTo>
                    <a:lnTo>
                      <a:pt x="406400" y="812800"/>
                    </a:lnTo>
                    <a:lnTo>
                      <a:pt x="812800" y="406400"/>
                    </a:lnTo>
                    <a:close/>
                  </a:path>
                </a:pathLst>
              </a:custGeom>
              <a:solidFill>
                <a:srgbClr val="FAFAFA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46050"/>
                <a:ext cx="711200" cy="46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60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772850" y="1598731"/>
              <a:ext cx="1672424" cy="1848468"/>
            </a:xfrm>
            <a:custGeom>
              <a:avLst/>
              <a:gdLst/>
              <a:ahLst/>
              <a:cxnLst/>
              <a:rect r="r" b="b" t="t" l="l"/>
              <a:pathLst>
                <a:path h="1848468" w="1672424">
                  <a:moveTo>
                    <a:pt x="0" y="0"/>
                  </a:moveTo>
                  <a:lnTo>
                    <a:pt x="1672424" y="0"/>
                  </a:lnTo>
                  <a:lnTo>
                    <a:pt x="1672424" y="1848469"/>
                  </a:lnTo>
                  <a:lnTo>
                    <a:pt x="0" y="184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7120">
              <a:off x="7485667" y="617115"/>
              <a:ext cx="12675235" cy="3674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193" indent="-215597" lvl="1">
                <a:lnSpc>
                  <a:spcPts val="3195"/>
                </a:lnSpc>
                <a:buAutoNum type="arabicPeriod" startAt="1"/>
              </a:pPr>
              <a:r>
                <a:rPr lang="en-US" sz="1997">
                  <a:solidFill>
                    <a:srgbClr val="FFFFFF"/>
                  </a:solidFill>
                  <a:latin typeface="JASO Sans"/>
                  <a:ea typeface="JASO Sans"/>
                  <a:cs typeface="JASO Sans"/>
                  <a:sym typeface="JASO Sans"/>
                </a:rPr>
                <a:t> 상품의 id값에 따라 상품의 브랜드, 이름, 사진, 옵션 및 옵션 조합, 가격을 보여주는 기능 구현</a:t>
              </a:r>
            </a:p>
            <a:p>
              <a:pPr algn="l" marL="431193" indent="-215597" lvl="1">
                <a:lnSpc>
                  <a:spcPts val="3195"/>
                </a:lnSpc>
                <a:buAutoNum type="arabicPeriod" startAt="1"/>
              </a:pPr>
              <a:r>
                <a:rPr lang="en-US" sz="1997">
                  <a:solidFill>
                    <a:srgbClr val="FFFFFF"/>
                  </a:solidFill>
                  <a:latin typeface="JASO Sans"/>
                  <a:ea typeface="JASO Sans"/>
                  <a:cs typeface="JASO Sans"/>
                  <a:sym typeface="JASO Sans"/>
                </a:rPr>
                <a:t> 상품에 대한 상세 옵션을 선택한 뒤 장바구니 or 상품 구매 페이지로 이동</a:t>
              </a:r>
            </a:p>
            <a:p>
              <a:pPr algn="l" marL="431193" indent="-215597" lvl="1">
                <a:lnSpc>
                  <a:spcPts val="3195"/>
                </a:lnSpc>
                <a:buAutoNum type="arabicPeriod" startAt="1"/>
              </a:pPr>
              <a:r>
                <a:rPr lang="en-US" sz="1997">
                  <a:solidFill>
                    <a:srgbClr val="FFFFFF"/>
                  </a:solidFill>
                  <a:latin typeface="JASO Sans"/>
                  <a:ea typeface="JASO Sans"/>
                  <a:cs typeface="JASO Sans"/>
                  <a:sym typeface="JASO Sans"/>
                </a:rPr>
                <a:t> 구매 목록에 담겨져 있는 상품에 대한 수량, 옵션 변경 가능. 구매 의사 결정되면 결제 ( 결제는 토스페이먼츠 api 사용 )</a:t>
              </a:r>
            </a:p>
            <a:p>
              <a:pPr algn="l" marL="431193" indent="-215597" lvl="1">
                <a:lnSpc>
                  <a:spcPts val="3195"/>
                </a:lnSpc>
                <a:buAutoNum type="arabicPeriod" startAt="1"/>
              </a:pPr>
              <a:r>
                <a:rPr lang="en-US" sz="1997">
                  <a:solidFill>
                    <a:srgbClr val="FFFFFF"/>
                  </a:solidFill>
                  <a:latin typeface="JASO Sans"/>
                  <a:ea typeface="JASO Sans"/>
                  <a:cs typeface="JASO Sans"/>
                  <a:sym typeface="JASO Sans"/>
                </a:rPr>
                <a:t> 결제가 성공하면 주문 목록 생성</a:t>
              </a:r>
            </a:p>
            <a:p>
              <a:pPr algn="l" marL="431193" indent="-215597" lvl="1">
                <a:lnSpc>
                  <a:spcPts val="3195"/>
                </a:lnSpc>
                <a:buAutoNum type="arabicPeriod" startAt="1"/>
              </a:pPr>
              <a:r>
                <a:rPr lang="en-US" sz="1997">
                  <a:solidFill>
                    <a:srgbClr val="FFFFFF"/>
                  </a:solidFill>
                  <a:latin typeface="JASO Sans"/>
                  <a:ea typeface="JASO Sans"/>
                  <a:cs typeface="JASO Sans"/>
                  <a:sym typeface="JASO Sans"/>
                </a:rPr>
                <a:t> 주문 목록에서 상태에 따라 취소, 반품, 구매확정 기능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181292" y="1867387"/>
              <a:ext cx="1803202" cy="6555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13"/>
                </a:lnSpc>
              </a:pPr>
              <a:r>
                <a:rPr lang="en-US" b="true" sz="2696" spc="-8">
                  <a:solidFill>
                    <a:srgbClr val="FFFFFF"/>
                  </a:solidFill>
                  <a:latin typeface="JASO Sans Bold"/>
                  <a:ea typeface="JASO Sans Bold"/>
                  <a:cs typeface="JASO Sans Bold"/>
                  <a:sym typeface="JASO Sans Bold"/>
                </a:rPr>
                <a:t>담당 기능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52245" y="5435252"/>
            <a:ext cx="15590707" cy="2202915"/>
            <a:chOff x="0" y="0"/>
            <a:chExt cx="20787610" cy="293722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20787610" cy="2937220"/>
              <a:chOff x="0" y="0"/>
              <a:chExt cx="3207964" cy="45327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207964" cy="453275"/>
              </a:xfrm>
              <a:custGeom>
                <a:avLst/>
                <a:gdLst/>
                <a:ahLst/>
                <a:cxnLst/>
                <a:rect r="r" b="b" t="t" l="l"/>
                <a:pathLst>
                  <a:path h="453275" w="3207964">
                    <a:moveTo>
                      <a:pt x="9699" y="0"/>
                    </a:moveTo>
                    <a:lnTo>
                      <a:pt x="3198266" y="0"/>
                    </a:lnTo>
                    <a:cubicBezTo>
                      <a:pt x="3203622" y="0"/>
                      <a:pt x="3207964" y="4342"/>
                      <a:pt x="3207964" y="9699"/>
                    </a:cubicBezTo>
                    <a:lnTo>
                      <a:pt x="3207964" y="443576"/>
                    </a:lnTo>
                    <a:cubicBezTo>
                      <a:pt x="3207964" y="448932"/>
                      <a:pt x="3203622" y="453275"/>
                      <a:pt x="3198266" y="453275"/>
                    </a:cubicBezTo>
                    <a:lnTo>
                      <a:pt x="9699" y="453275"/>
                    </a:lnTo>
                    <a:cubicBezTo>
                      <a:pt x="7126" y="453275"/>
                      <a:pt x="4660" y="452253"/>
                      <a:pt x="2841" y="450434"/>
                    </a:cubicBezTo>
                    <a:cubicBezTo>
                      <a:pt x="1022" y="448615"/>
                      <a:pt x="0" y="446148"/>
                      <a:pt x="0" y="443576"/>
                    </a:cubicBezTo>
                    <a:lnTo>
                      <a:pt x="0" y="9699"/>
                    </a:lnTo>
                    <a:cubicBezTo>
                      <a:pt x="0" y="4342"/>
                      <a:pt x="4342" y="0"/>
                      <a:pt x="9699" y="0"/>
                    </a:cubicBezTo>
                    <a:close/>
                  </a:path>
                </a:pathLst>
              </a:custGeom>
              <a:solidFill>
                <a:srgbClr val="35D19C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57150"/>
                <a:ext cx="3207964" cy="51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6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6757045" y="1144062"/>
              <a:ext cx="510889" cy="510889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812800" y="406400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406400" y="609600"/>
                    </a:lnTo>
                    <a:lnTo>
                      <a:pt x="406400" y="812800"/>
                    </a:lnTo>
                    <a:lnTo>
                      <a:pt x="812800" y="406400"/>
                    </a:lnTo>
                    <a:close/>
                  </a:path>
                </a:pathLst>
              </a:custGeom>
              <a:solidFill>
                <a:srgbClr val="FAFAFA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146050"/>
                <a:ext cx="711200" cy="46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60"/>
                  </a:lnSpc>
                </a:pPr>
              </a:p>
            </p:txBody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763651" y="769744"/>
              <a:ext cx="1462792" cy="1397732"/>
            </a:xfrm>
            <a:custGeom>
              <a:avLst/>
              <a:gdLst/>
              <a:ahLst/>
              <a:cxnLst/>
              <a:rect r="r" b="b" t="t" l="l"/>
              <a:pathLst>
                <a:path h="1397732" w="1462792">
                  <a:moveTo>
                    <a:pt x="0" y="0"/>
                  </a:moveTo>
                  <a:lnTo>
                    <a:pt x="1462791" y="0"/>
                  </a:lnTo>
                  <a:lnTo>
                    <a:pt x="1462791" y="1397732"/>
                  </a:lnTo>
                  <a:lnTo>
                    <a:pt x="0" y="1397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7120">
              <a:off x="7738865" y="72639"/>
              <a:ext cx="11989640" cy="2607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95"/>
                </a:lnSpc>
              </a:pPr>
              <a:r>
                <a:rPr lang="en-US" sz="1997">
                  <a:solidFill>
                    <a:srgbClr val="FFFFFF"/>
                  </a:solidFill>
                  <a:latin typeface="JASO Sans"/>
                  <a:ea typeface="JASO Sans"/>
                  <a:cs typeface="JASO Sans"/>
                  <a:sym typeface="JASO Sans"/>
                </a:rPr>
                <a:t>최대한 실제 서비스와 유사하게 구현하여 실제 서비스를 할 수 있을 정도로</a:t>
              </a:r>
            </a:p>
            <a:p>
              <a:pPr algn="l">
                <a:lnSpc>
                  <a:spcPts val="3195"/>
                </a:lnSpc>
              </a:pPr>
              <a:r>
                <a:rPr lang="en-US" sz="1997">
                  <a:solidFill>
                    <a:srgbClr val="FFFFFF"/>
                  </a:solidFill>
                  <a:latin typeface="JASO Sans"/>
                  <a:ea typeface="JASO Sans"/>
                  <a:cs typeface="JASO Sans"/>
                  <a:sym typeface="JASO Sans"/>
                </a:rPr>
                <a:t> 단순 기본 기능만이 아닌 모든 디테일을 분석하여 제작하려는 목표.</a:t>
              </a:r>
            </a:p>
            <a:p>
              <a:pPr algn="l">
                <a:lnSpc>
                  <a:spcPts val="3195"/>
                </a:lnSpc>
              </a:pPr>
              <a:r>
                <a:rPr lang="en-US" sz="1997">
                  <a:solidFill>
                    <a:srgbClr val="FFFFFF"/>
                  </a:solidFill>
                  <a:latin typeface="JASO Sans"/>
                  <a:ea typeface="JASO Sans"/>
                  <a:cs typeface="JASO Sans"/>
                  <a:sym typeface="JASO Sans"/>
                </a:rPr>
                <a:t>기본 개념 반복 숙달과 프로젝트로 인한 실제 예제 구현으로</a:t>
              </a:r>
            </a:p>
            <a:p>
              <a:pPr algn="l">
                <a:lnSpc>
                  <a:spcPts val="3195"/>
                </a:lnSpc>
              </a:pPr>
              <a:r>
                <a:rPr lang="en-US" sz="1997">
                  <a:solidFill>
                    <a:srgbClr val="FFFFFF"/>
                  </a:solidFill>
                  <a:latin typeface="JASO Sans"/>
                  <a:ea typeface="JASO Sans"/>
                  <a:cs typeface="JASO Sans"/>
                  <a:sym typeface="JASO Sans"/>
                </a:rPr>
                <a:t>MVC 패턴의 이해도 상승 목표. 이후 Spring으로 전환 시 꼬이는 부분 없이</a:t>
              </a:r>
            </a:p>
            <a:p>
              <a:pPr algn="l">
                <a:lnSpc>
                  <a:spcPts val="3195"/>
                </a:lnSpc>
              </a:pPr>
              <a:r>
                <a:rPr lang="en-US" sz="1997">
                  <a:solidFill>
                    <a:srgbClr val="FFFFFF"/>
                  </a:solidFill>
                  <a:latin typeface="JASO Sans"/>
                  <a:ea typeface="JASO Sans"/>
                  <a:cs typeface="JASO Sans"/>
                  <a:sym typeface="JASO Sans"/>
                </a:rPr>
                <a:t>꼼꼼하게 개념과 구조 체크.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974896" y="1029762"/>
              <a:ext cx="3313906" cy="6555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13"/>
                </a:lnSpc>
              </a:pPr>
              <a:r>
                <a:rPr lang="en-US" b="true" sz="2696" spc="-8">
                  <a:solidFill>
                    <a:srgbClr val="FFFFFF"/>
                  </a:solidFill>
                  <a:latin typeface="JASO Sans Bold"/>
                  <a:ea typeface="JASO Sans Bold"/>
                  <a:cs typeface="JASO Sans Bold"/>
                  <a:sym typeface="JASO Sans Bold"/>
                </a:rPr>
                <a:t>구현 목표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7120">
            <a:off x="7069296" y="8070580"/>
            <a:ext cx="9273030" cy="197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1997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현재 구현 범위 → 쇼핑 분야 ( 상품 , 리뷰 , 장바구니 , 주문, 회원 CRUD )</a:t>
            </a:r>
          </a:p>
          <a:p>
            <a:pPr algn="l">
              <a:lnSpc>
                <a:spcPts val="3195"/>
              </a:lnSpc>
            </a:pPr>
            <a:r>
              <a:rPr lang="en-US" sz="1997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실제 서비스 → 쇼핑 뿐만이 아닌 상품에 대한 커뮤니케이션(회원 피드) 기능 활성화</a:t>
            </a:r>
          </a:p>
          <a:p>
            <a:pPr algn="l">
              <a:lnSpc>
                <a:spcPts val="3195"/>
              </a:lnSpc>
            </a:pPr>
            <a:r>
              <a:rPr lang="en-US" sz="1997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현재 기본 기능 집중으로 인해 자잘한 디테일들이 남아있음. </a:t>
            </a:r>
          </a:p>
          <a:p>
            <a:pPr algn="l">
              <a:lnSpc>
                <a:spcPts val="3195"/>
              </a:lnSpc>
            </a:pPr>
            <a:r>
              <a:rPr lang="en-US" sz="1997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프로젝트가 종료된 이후에도 디테일을 모두 잡아 실제 오늘의 집 서비스와 동일하게</a:t>
            </a:r>
          </a:p>
          <a:p>
            <a:pPr algn="l" marL="0" indent="0" lvl="0">
              <a:lnSpc>
                <a:spcPts val="3195"/>
              </a:lnSpc>
            </a:pPr>
            <a:r>
              <a:rPr lang="en-US" sz="1997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기능하는 것이 목표.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709673" y="8892252"/>
            <a:ext cx="2076152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구현 범위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2245" y="586131"/>
            <a:ext cx="3838129" cy="75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5"/>
              </a:lnSpc>
            </a:pPr>
            <a:r>
              <a:rPr lang="en-US" b="true" sz="3997" spc="-8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01 담당 영역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0908" y="8126891"/>
            <a:ext cx="2322570" cy="1554189"/>
            <a:chOff x="0" y="0"/>
            <a:chExt cx="778898" cy="5212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8898" cy="521213"/>
            </a:xfrm>
            <a:custGeom>
              <a:avLst/>
              <a:gdLst/>
              <a:ahLst/>
              <a:cxnLst/>
              <a:rect r="r" b="b" t="t" l="l"/>
              <a:pathLst>
                <a:path h="521213" w="778898">
                  <a:moveTo>
                    <a:pt x="100000" y="0"/>
                  </a:moveTo>
                  <a:lnTo>
                    <a:pt x="678897" y="0"/>
                  </a:lnTo>
                  <a:cubicBezTo>
                    <a:pt x="734126" y="0"/>
                    <a:pt x="778898" y="44772"/>
                    <a:pt x="778898" y="100000"/>
                  </a:cubicBezTo>
                  <a:lnTo>
                    <a:pt x="778898" y="421213"/>
                  </a:lnTo>
                  <a:cubicBezTo>
                    <a:pt x="778898" y="447735"/>
                    <a:pt x="768362" y="473170"/>
                    <a:pt x="749608" y="491924"/>
                  </a:cubicBezTo>
                  <a:cubicBezTo>
                    <a:pt x="730855" y="510678"/>
                    <a:pt x="705419" y="521213"/>
                    <a:pt x="678897" y="521213"/>
                  </a:cubicBezTo>
                  <a:lnTo>
                    <a:pt x="100000" y="521213"/>
                  </a:lnTo>
                  <a:cubicBezTo>
                    <a:pt x="44772" y="521213"/>
                    <a:pt x="0" y="476442"/>
                    <a:pt x="0" y="421213"/>
                  </a:cubicBezTo>
                  <a:lnTo>
                    <a:pt x="0" y="100000"/>
                  </a:lnTo>
                  <a:cubicBezTo>
                    <a:pt x="0" y="44772"/>
                    <a:pt x="44772" y="0"/>
                    <a:pt x="100000" y="0"/>
                  </a:cubicBezTo>
                  <a:close/>
                </a:path>
              </a:pathLst>
            </a:custGeom>
            <a:solidFill>
              <a:srgbClr val="35D19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78898" cy="57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2245" y="8126891"/>
            <a:ext cx="2322570" cy="1554189"/>
            <a:chOff x="0" y="0"/>
            <a:chExt cx="778898" cy="5212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8898" cy="521213"/>
            </a:xfrm>
            <a:custGeom>
              <a:avLst/>
              <a:gdLst/>
              <a:ahLst/>
              <a:cxnLst/>
              <a:rect r="r" b="b" t="t" l="l"/>
              <a:pathLst>
                <a:path h="521213" w="778898">
                  <a:moveTo>
                    <a:pt x="100000" y="0"/>
                  </a:moveTo>
                  <a:lnTo>
                    <a:pt x="678897" y="0"/>
                  </a:lnTo>
                  <a:cubicBezTo>
                    <a:pt x="734126" y="0"/>
                    <a:pt x="778898" y="44772"/>
                    <a:pt x="778898" y="100000"/>
                  </a:cubicBezTo>
                  <a:lnTo>
                    <a:pt x="778898" y="421213"/>
                  </a:lnTo>
                  <a:cubicBezTo>
                    <a:pt x="778898" y="447735"/>
                    <a:pt x="768362" y="473170"/>
                    <a:pt x="749608" y="491924"/>
                  </a:cubicBezTo>
                  <a:cubicBezTo>
                    <a:pt x="730855" y="510678"/>
                    <a:pt x="705419" y="521213"/>
                    <a:pt x="678897" y="521213"/>
                  </a:cubicBezTo>
                  <a:lnTo>
                    <a:pt x="100000" y="521213"/>
                  </a:lnTo>
                  <a:cubicBezTo>
                    <a:pt x="44772" y="521213"/>
                    <a:pt x="0" y="476442"/>
                    <a:pt x="0" y="421213"/>
                  </a:cubicBezTo>
                  <a:lnTo>
                    <a:pt x="0" y="100000"/>
                  </a:lnTo>
                  <a:cubicBezTo>
                    <a:pt x="0" y="44772"/>
                    <a:pt x="44772" y="0"/>
                    <a:pt x="100000" y="0"/>
                  </a:cubicBezTo>
                  <a:close/>
                </a:path>
              </a:pathLst>
            </a:custGeom>
            <a:solidFill>
              <a:srgbClr val="157CE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778898" cy="57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70036" y="8126891"/>
            <a:ext cx="2322570" cy="1554189"/>
            <a:chOff x="0" y="0"/>
            <a:chExt cx="778898" cy="5212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78898" cy="521213"/>
            </a:xfrm>
            <a:custGeom>
              <a:avLst/>
              <a:gdLst/>
              <a:ahLst/>
              <a:cxnLst/>
              <a:rect r="r" b="b" t="t" l="l"/>
              <a:pathLst>
                <a:path h="521213" w="778898">
                  <a:moveTo>
                    <a:pt x="100000" y="0"/>
                  </a:moveTo>
                  <a:lnTo>
                    <a:pt x="678897" y="0"/>
                  </a:lnTo>
                  <a:cubicBezTo>
                    <a:pt x="734126" y="0"/>
                    <a:pt x="778898" y="44772"/>
                    <a:pt x="778898" y="100000"/>
                  </a:cubicBezTo>
                  <a:lnTo>
                    <a:pt x="778898" y="421213"/>
                  </a:lnTo>
                  <a:cubicBezTo>
                    <a:pt x="778898" y="447735"/>
                    <a:pt x="768362" y="473170"/>
                    <a:pt x="749608" y="491924"/>
                  </a:cubicBezTo>
                  <a:cubicBezTo>
                    <a:pt x="730855" y="510678"/>
                    <a:pt x="705419" y="521213"/>
                    <a:pt x="678897" y="521213"/>
                  </a:cubicBezTo>
                  <a:lnTo>
                    <a:pt x="100000" y="521213"/>
                  </a:lnTo>
                  <a:cubicBezTo>
                    <a:pt x="44772" y="521213"/>
                    <a:pt x="0" y="476442"/>
                    <a:pt x="0" y="421213"/>
                  </a:cubicBezTo>
                  <a:lnTo>
                    <a:pt x="0" y="100000"/>
                  </a:lnTo>
                  <a:cubicBezTo>
                    <a:pt x="0" y="44772"/>
                    <a:pt x="44772" y="0"/>
                    <a:pt x="100000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78898" cy="578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11756" y="2533164"/>
            <a:ext cx="6964501" cy="7147916"/>
            <a:chOff x="0" y="0"/>
            <a:chExt cx="1719870" cy="17651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19870" cy="1765164"/>
            </a:xfrm>
            <a:custGeom>
              <a:avLst/>
              <a:gdLst/>
              <a:ahLst/>
              <a:cxnLst/>
              <a:rect r="r" b="b" t="t" l="l"/>
              <a:pathLst>
                <a:path h="1765164" w="1719870">
                  <a:moveTo>
                    <a:pt x="32237" y="0"/>
                  </a:moveTo>
                  <a:lnTo>
                    <a:pt x="1687633" y="0"/>
                  </a:lnTo>
                  <a:cubicBezTo>
                    <a:pt x="1705437" y="0"/>
                    <a:pt x="1719870" y="14433"/>
                    <a:pt x="1719870" y="32237"/>
                  </a:cubicBezTo>
                  <a:lnTo>
                    <a:pt x="1719870" y="1732927"/>
                  </a:lnTo>
                  <a:cubicBezTo>
                    <a:pt x="1719870" y="1741477"/>
                    <a:pt x="1716474" y="1749677"/>
                    <a:pt x="1710428" y="1755722"/>
                  </a:cubicBezTo>
                  <a:cubicBezTo>
                    <a:pt x="1704382" y="1761768"/>
                    <a:pt x="1696183" y="1765164"/>
                    <a:pt x="1687633" y="1765164"/>
                  </a:cubicBezTo>
                  <a:lnTo>
                    <a:pt x="32237" y="1765164"/>
                  </a:lnTo>
                  <a:cubicBezTo>
                    <a:pt x="23687" y="1765164"/>
                    <a:pt x="15488" y="1761768"/>
                    <a:pt x="9442" y="1755722"/>
                  </a:cubicBezTo>
                  <a:cubicBezTo>
                    <a:pt x="3396" y="1749677"/>
                    <a:pt x="0" y="1741477"/>
                    <a:pt x="0" y="1732927"/>
                  </a:cubicBezTo>
                  <a:lnTo>
                    <a:pt x="0" y="32237"/>
                  </a:lnTo>
                  <a:cubicBezTo>
                    <a:pt x="0" y="23687"/>
                    <a:pt x="3396" y="15488"/>
                    <a:pt x="9442" y="9442"/>
                  </a:cubicBezTo>
                  <a:cubicBezTo>
                    <a:pt x="15488" y="3396"/>
                    <a:pt x="23687" y="0"/>
                    <a:pt x="32237" y="0"/>
                  </a:cubicBezTo>
                  <a:close/>
                </a:path>
              </a:pathLst>
            </a:custGeom>
            <a:blipFill>
              <a:blip r:embed="rId2"/>
              <a:stretch>
                <a:fillRect l="-482" t="0" r="-482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875092" y="8561086"/>
            <a:ext cx="1276876" cy="56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6"/>
              </a:lnSpc>
            </a:pPr>
            <a:r>
              <a:rPr lang="en-US" b="true" sz="2997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화면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04276" y="8561086"/>
            <a:ext cx="1535835" cy="56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6"/>
              </a:lnSpc>
            </a:pPr>
            <a:r>
              <a:rPr lang="en-US" b="true" sz="2997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화면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48103" y="8561086"/>
            <a:ext cx="1166437" cy="56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6"/>
              </a:lnSpc>
            </a:pPr>
            <a:r>
              <a:rPr lang="en-US" b="true" sz="2997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화면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2245" y="2365854"/>
            <a:ext cx="3838129" cy="75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5"/>
              </a:lnSpc>
            </a:pPr>
            <a:r>
              <a:rPr lang="en-US" b="true" sz="3997" spc="-8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02 구현 화면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3818518"/>
            <a:ext cx="736209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앙 기모링 뭐해야 될지 모르겠다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33463" y="4876347"/>
            <a:ext cx="0" cy="3274379"/>
          </a:xfrm>
          <a:prstGeom prst="line">
            <a:avLst/>
          </a:prstGeom>
          <a:ln cap="flat" w="9525">
            <a:solidFill>
              <a:srgbClr val="D1D1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7254538" y="4876347"/>
            <a:ext cx="0" cy="3274379"/>
          </a:xfrm>
          <a:prstGeom prst="line">
            <a:avLst/>
          </a:prstGeom>
          <a:ln cap="flat" w="9525">
            <a:solidFill>
              <a:srgbClr val="D1D1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6440488" y="4876347"/>
            <a:ext cx="0" cy="3274379"/>
          </a:xfrm>
          <a:prstGeom prst="line">
            <a:avLst/>
          </a:prstGeom>
          <a:ln cap="flat" w="9525">
            <a:solidFill>
              <a:srgbClr val="D1D1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1847513" y="4876347"/>
            <a:ext cx="0" cy="3274379"/>
          </a:xfrm>
          <a:prstGeom prst="line">
            <a:avLst/>
          </a:prstGeom>
          <a:ln cap="flat" w="9525">
            <a:solidFill>
              <a:srgbClr val="D1D1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5539094"/>
            <a:ext cx="5411788" cy="744973"/>
            <a:chOff x="0" y="0"/>
            <a:chExt cx="1425327" cy="1962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5327" cy="196207"/>
            </a:xfrm>
            <a:custGeom>
              <a:avLst/>
              <a:gdLst/>
              <a:ahLst/>
              <a:cxnLst/>
              <a:rect r="r" b="b" t="t" l="l"/>
              <a:pathLst>
                <a:path h="196207" w="1425327">
                  <a:moveTo>
                    <a:pt x="0" y="0"/>
                  </a:moveTo>
                  <a:lnTo>
                    <a:pt x="1425327" y="0"/>
                  </a:lnTo>
                  <a:lnTo>
                    <a:pt x="1425327" y="196207"/>
                  </a:lnTo>
                  <a:lnTo>
                    <a:pt x="0" y="196207"/>
                  </a:lnTo>
                  <a:close/>
                </a:path>
              </a:pathLst>
            </a:custGeom>
            <a:solidFill>
              <a:srgbClr val="157CE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425327" cy="25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35725" y="5540831"/>
            <a:ext cx="5411788" cy="744973"/>
            <a:chOff x="0" y="0"/>
            <a:chExt cx="1425327" cy="1962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25327" cy="196207"/>
            </a:xfrm>
            <a:custGeom>
              <a:avLst/>
              <a:gdLst/>
              <a:ahLst/>
              <a:cxnLst/>
              <a:rect r="r" b="b" t="t" l="l"/>
              <a:pathLst>
                <a:path h="196207" w="1425327">
                  <a:moveTo>
                    <a:pt x="0" y="0"/>
                  </a:moveTo>
                  <a:lnTo>
                    <a:pt x="1425327" y="0"/>
                  </a:lnTo>
                  <a:lnTo>
                    <a:pt x="1425327" y="196207"/>
                  </a:lnTo>
                  <a:lnTo>
                    <a:pt x="0" y="196207"/>
                  </a:lnTo>
                  <a:close/>
                </a:path>
              </a:pathLst>
            </a:custGeom>
            <a:solidFill>
              <a:srgbClr val="35D19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425327" cy="25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19213" y="4912784"/>
            <a:ext cx="1813466" cy="421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5"/>
              </a:lnSpc>
            </a:pPr>
            <a:r>
              <a:rPr lang="en-US" b="true" sz="2196" spc="-6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Step 01.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26238" y="4921747"/>
            <a:ext cx="1888629" cy="421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5"/>
              </a:lnSpc>
            </a:pPr>
            <a:r>
              <a:rPr lang="en-US" b="true" sz="2196" spc="-6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Step 02.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31774" y="4921747"/>
            <a:ext cx="1810643" cy="421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5"/>
              </a:lnSpc>
            </a:pPr>
            <a:r>
              <a:rPr lang="en-US" b="true" sz="2196" spc="-6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Step 03.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9213" y="5629155"/>
            <a:ext cx="3162300" cy="47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7"/>
              </a:lnSpc>
            </a:pPr>
            <a:r>
              <a:rPr lang="en-US" b="true" sz="249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사용자 요청 &amp; Handler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847513" y="5540831"/>
            <a:ext cx="5411788" cy="744973"/>
            <a:chOff x="0" y="0"/>
            <a:chExt cx="1425327" cy="19620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25327" cy="196207"/>
            </a:xfrm>
            <a:custGeom>
              <a:avLst/>
              <a:gdLst/>
              <a:ahLst/>
              <a:cxnLst/>
              <a:rect r="r" b="b" t="t" l="l"/>
              <a:pathLst>
                <a:path h="196207" w="1425327">
                  <a:moveTo>
                    <a:pt x="0" y="0"/>
                  </a:moveTo>
                  <a:lnTo>
                    <a:pt x="1425327" y="0"/>
                  </a:lnTo>
                  <a:lnTo>
                    <a:pt x="1425327" y="196207"/>
                  </a:lnTo>
                  <a:lnTo>
                    <a:pt x="0" y="196207"/>
                  </a:lnTo>
                  <a:close/>
                </a:path>
              </a:pathLst>
            </a:custGeom>
            <a:solidFill>
              <a:srgbClr val="D1D1D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425327" cy="25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726238" y="5629155"/>
            <a:ext cx="2417894" cy="47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7"/>
              </a:lnSpc>
            </a:pPr>
            <a:r>
              <a:rPr lang="en-US" b="true" sz="249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Service &amp; DAO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31774" y="5629155"/>
            <a:ext cx="3267224" cy="47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7"/>
              </a:lnSpc>
            </a:pPr>
            <a:r>
              <a:rPr lang="en-US" b="true" sz="2498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JSP &amp; 응답 반환</a:t>
            </a:r>
          </a:p>
        </p:txBody>
      </p:sp>
      <p:sp>
        <p:nvSpPr>
          <p:cNvPr name="TextBox 21" id="21"/>
          <p:cNvSpPr txBox="true"/>
          <p:nvPr/>
        </p:nvSpPr>
        <p:spPr>
          <a:xfrm rot="7120">
            <a:off x="1320358" y="6612378"/>
            <a:ext cx="4355567" cy="972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사용자가 브라우저에서 URL 요청을 전송합니다.</a:t>
            </a:r>
          </a:p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Handler(Servlet)가 요청을 받아 파라미터를 파싱하고 Service를 호출합니다.</a:t>
            </a:r>
          </a:p>
        </p:txBody>
      </p:sp>
      <p:sp>
        <p:nvSpPr>
          <p:cNvPr name="TextBox 22" id="22"/>
          <p:cNvSpPr txBox="true"/>
          <p:nvPr/>
        </p:nvSpPr>
        <p:spPr>
          <a:xfrm rot="7120">
            <a:off x="6726639" y="6612160"/>
            <a:ext cx="4565493" cy="972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Service 계층에서 비즈니스 로직을 처리합니다.</a:t>
            </a:r>
          </a:p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DAO를 통해 Oracle DB에 SQL 쿼리를 실행하고 DTO로 결과를 반환합니다.</a:t>
            </a:r>
          </a:p>
        </p:txBody>
      </p:sp>
      <p:sp>
        <p:nvSpPr>
          <p:cNvPr name="TextBox 23" id="23"/>
          <p:cNvSpPr txBox="true"/>
          <p:nvPr/>
        </p:nvSpPr>
        <p:spPr>
          <a:xfrm rot="7120">
            <a:off x="12129300" y="6626039"/>
            <a:ext cx="4481511" cy="130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Handler가 결과 데이터를 request에 담아 JSP로 포워딩합니다.</a:t>
            </a:r>
          </a:p>
          <a:p>
            <a:pPr algn="l" marL="0" indent="0" lvl="0">
              <a:lnSpc>
                <a:spcPts val="2675"/>
              </a:lnSpc>
            </a:pPr>
            <a:r>
              <a:rPr lang="en-US" sz="1672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JSP(JSTL·EL)가 HTML을 렌더링하여 사용자에게 응답합니다.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9808" y="993179"/>
            <a:ext cx="6626263" cy="75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5"/>
              </a:lnSpc>
            </a:pPr>
            <a:r>
              <a:rPr lang="en-US" b="true" sz="3997" spc="-8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03 처리 흐름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55646" y="8468903"/>
            <a:ext cx="16376707" cy="1521639"/>
            <a:chOff x="0" y="0"/>
            <a:chExt cx="3369693" cy="31309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69693" cy="313094"/>
            </a:xfrm>
            <a:custGeom>
              <a:avLst/>
              <a:gdLst/>
              <a:ahLst/>
              <a:cxnLst/>
              <a:rect r="r" b="b" t="t" l="l"/>
              <a:pathLst>
                <a:path h="313094" w="3369693">
                  <a:moveTo>
                    <a:pt x="9233" y="0"/>
                  </a:moveTo>
                  <a:lnTo>
                    <a:pt x="3360460" y="0"/>
                  </a:lnTo>
                  <a:cubicBezTo>
                    <a:pt x="3365559" y="0"/>
                    <a:pt x="3369693" y="4134"/>
                    <a:pt x="3369693" y="9233"/>
                  </a:cubicBezTo>
                  <a:lnTo>
                    <a:pt x="3369693" y="303861"/>
                  </a:lnTo>
                  <a:cubicBezTo>
                    <a:pt x="3369693" y="308961"/>
                    <a:pt x="3365559" y="313094"/>
                    <a:pt x="3360460" y="313094"/>
                  </a:cubicBezTo>
                  <a:lnTo>
                    <a:pt x="9233" y="313094"/>
                  </a:lnTo>
                  <a:cubicBezTo>
                    <a:pt x="4134" y="313094"/>
                    <a:pt x="0" y="308961"/>
                    <a:pt x="0" y="303861"/>
                  </a:cubicBezTo>
                  <a:lnTo>
                    <a:pt x="0" y="9233"/>
                  </a:lnTo>
                  <a:cubicBezTo>
                    <a:pt x="0" y="4134"/>
                    <a:pt x="4134" y="0"/>
                    <a:pt x="9233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3369693" cy="37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7120">
            <a:off x="4063317" y="8820124"/>
            <a:ext cx="10163208" cy="37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95"/>
              </a:lnSpc>
            </a:pPr>
            <a:r>
              <a:rPr lang="en-US" b="true" sz="1997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기능 처리 흐름 이미지를 넣으세요.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1847513" y="1361708"/>
            <a:ext cx="4883409" cy="3314614"/>
          </a:xfrm>
          <a:custGeom>
            <a:avLst/>
            <a:gdLst/>
            <a:ahLst/>
            <a:cxnLst/>
            <a:rect r="r" b="b" t="t" l="l"/>
            <a:pathLst>
              <a:path h="3314614" w="4883409">
                <a:moveTo>
                  <a:pt x="0" y="0"/>
                </a:moveTo>
                <a:lnTo>
                  <a:pt x="4883409" y="0"/>
                </a:lnTo>
                <a:lnTo>
                  <a:pt x="4883409" y="3314614"/>
                </a:lnTo>
                <a:lnTo>
                  <a:pt x="0" y="3314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892" y="4843379"/>
            <a:ext cx="7354788" cy="1916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48"/>
              </a:lnSpc>
              <a:spcBef>
                <a:spcPct val="0"/>
              </a:spcBef>
            </a:pPr>
            <a:r>
              <a:rPr lang="en-US" b="true" sz="8993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검색/키워드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43124" y="2813848"/>
            <a:ext cx="8733639" cy="143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97"/>
              </a:lnSpc>
              <a:spcBef>
                <a:spcPct val="0"/>
              </a:spcBef>
            </a:pPr>
            <a:r>
              <a:rPr lang="en-US" sz="4141">
                <a:solidFill>
                  <a:srgbClr val="2282F3"/>
                </a:solidFill>
                <a:latin typeface="JASO Sans"/>
                <a:ea typeface="JASO Sans"/>
                <a:cs typeface="JASO Sans"/>
                <a:sym typeface="JASO Sans"/>
              </a:rPr>
              <a:t>TEAM MEMBER</a:t>
            </a:r>
          </a:p>
          <a:p>
            <a:pPr algn="l" marL="0" indent="0" lvl="0">
              <a:lnSpc>
                <a:spcPts val="5797"/>
              </a:lnSpc>
              <a:spcBef>
                <a:spcPct val="0"/>
              </a:spcBef>
            </a:pPr>
            <a:r>
              <a:rPr lang="en-US" sz="4141">
                <a:solidFill>
                  <a:srgbClr val="2282F3"/>
                </a:solidFill>
                <a:latin typeface="JASO Sans"/>
                <a:ea typeface="JASO Sans"/>
                <a:cs typeface="JASO Sans"/>
                <a:sym typeface="JASO Sans"/>
              </a:rPr>
              <a:t>안정빈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305322" y="3942282"/>
            <a:ext cx="9108032" cy="8424930"/>
          </a:xfrm>
          <a:custGeom>
            <a:avLst/>
            <a:gdLst/>
            <a:ahLst/>
            <a:cxnLst/>
            <a:rect r="r" b="b" t="t" l="l"/>
            <a:pathLst>
              <a:path h="8424930" w="9108032">
                <a:moveTo>
                  <a:pt x="0" y="0"/>
                </a:moveTo>
                <a:lnTo>
                  <a:pt x="9108032" y="0"/>
                </a:lnTo>
                <a:lnTo>
                  <a:pt x="9108032" y="8424930"/>
                </a:lnTo>
                <a:lnTo>
                  <a:pt x="0" y="8424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33892" y="6811153"/>
            <a:ext cx="7354788" cy="1916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48"/>
              </a:lnSpc>
              <a:spcBef>
                <a:spcPct val="0"/>
              </a:spcBef>
            </a:pPr>
            <a:r>
              <a:rPr lang="en-US" b="true" sz="8993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관리자/판매자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8646" y="2397411"/>
            <a:ext cx="15590707" cy="1975482"/>
            <a:chOff x="0" y="0"/>
            <a:chExt cx="3207964" cy="406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07964" cy="406478"/>
            </a:xfrm>
            <a:custGeom>
              <a:avLst/>
              <a:gdLst/>
              <a:ahLst/>
              <a:cxnLst/>
              <a:rect r="r" b="b" t="t" l="l"/>
              <a:pathLst>
                <a:path h="406478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396779"/>
                  </a:lnTo>
                  <a:cubicBezTo>
                    <a:pt x="3207964" y="402136"/>
                    <a:pt x="3203622" y="406478"/>
                    <a:pt x="3198266" y="406478"/>
                  </a:cubicBezTo>
                  <a:lnTo>
                    <a:pt x="9699" y="406478"/>
                  </a:lnTo>
                  <a:cubicBezTo>
                    <a:pt x="4342" y="406478"/>
                    <a:pt x="0" y="402136"/>
                    <a:pt x="0" y="396779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157C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207964" cy="463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2245" y="5015416"/>
            <a:ext cx="15590707" cy="1960354"/>
            <a:chOff x="0" y="0"/>
            <a:chExt cx="3207964" cy="4033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7964" cy="403365"/>
            </a:xfrm>
            <a:custGeom>
              <a:avLst/>
              <a:gdLst/>
              <a:ahLst/>
              <a:cxnLst/>
              <a:rect r="r" b="b" t="t" l="l"/>
              <a:pathLst>
                <a:path h="403365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393666"/>
                  </a:lnTo>
                  <a:cubicBezTo>
                    <a:pt x="3207964" y="399023"/>
                    <a:pt x="3203622" y="403365"/>
                    <a:pt x="3198266" y="403365"/>
                  </a:cubicBezTo>
                  <a:lnTo>
                    <a:pt x="9699" y="403365"/>
                  </a:lnTo>
                  <a:cubicBezTo>
                    <a:pt x="7126" y="403365"/>
                    <a:pt x="4660" y="402343"/>
                    <a:pt x="2841" y="400524"/>
                  </a:cubicBezTo>
                  <a:cubicBezTo>
                    <a:pt x="1022" y="398706"/>
                    <a:pt x="0" y="396239"/>
                    <a:pt x="0" y="393666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35D1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207964" cy="460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52245" y="7463218"/>
            <a:ext cx="15590707" cy="2699668"/>
            <a:chOff x="0" y="0"/>
            <a:chExt cx="3207964" cy="5554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7964" cy="555487"/>
            </a:xfrm>
            <a:custGeom>
              <a:avLst/>
              <a:gdLst/>
              <a:ahLst/>
              <a:cxnLst/>
              <a:rect r="r" b="b" t="t" l="l"/>
              <a:pathLst>
                <a:path h="555487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545789"/>
                  </a:lnTo>
                  <a:cubicBezTo>
                    <a:pt x="3207964" y="548361"/>
                    <a:pt x="3206943" y="550828"/>
                    <a:pt x="3205124" y="552647"/>
                  </a:cubicBezTo>
                  <a:cubicBezTo>
                    <a:pt x="3203305" y="554465"/>
                    <a:pt x="3200838" y="555487"/>
                    <a:pt x="3198266" y="555487"/>
                  </a:cubicBezTo>
                  <a:lnTo>
                    <a:pt x="9699" y="555487"/>
                  </a:lnTo>
                  <a:cubicBezTo>
                    <a:pt x="4342" y="555487"/>
                    <a:pt x="0" y="551145"/>
                    <a:pt x="0" y="545789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207964" cy="612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985473" y="3236843"/>
            <a:ext cx="383167" cy="38316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985473" y="5804010"/>
            <a:ext cx="383167" cy="38316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09018" y="8526967"/>
            <a:ext cx="383167" cy="38316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117103" y="8177755"/>
            <a:ext cx="933067" cy="1058799"/>
          </a:xfrm>
          <a:custGeom>
            <a:avLst/>
            <a:gdLst/>
            <a:ahLst/>
            <a:cxnLst/>
            <a:rect r="r" b="b" t="t" l="l"/>
            <a:pathLst>
              <a:path h="1058799" w="933067">
                <a:moveTo>
                  <a:pt x="0" y="0"/>
                </a:moveTo>
                <a:lnTo>
                  <a:pt x="933067" y="0"/>
                </a:lnTo>
                <a:lnTo>
                  <a:pt x="933067" y="1058800"/>
                </a:lnTo>
                <a:lnTo>
                  <a:pt x="0" y="105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934117" y="5392068"/>
            <a:ext cx="1097094" cy="1048299"/>
          </a:xfrm>
          <a:custGeom>
            <a:avLst/>
            <a:gdLst/>
            <a:ahLst/>
            <a:cxnLst/>
            <a:rect r="r" b="b" t="t" l="l"/>
            <a:pathLst>
              <a:path h="1048299" w="1097094">
                <a:moveTo>
                  <a:pt x="0" y="0"/>
                </a:moveTo>
                <a:lnTo>
                  <a:pt x="1097094" y="0"/>
                </a:lnTo>
                <a:lnTo>
                  <a:pt x="1097094" y="1048299"/>
                </a:lnTo>
                <a:lnTo>
                  <a:pt x="0" y="1048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934117" y="2614633"/>
            <a:ext cx="1254318" cy="1386351"/>
          </a:xfrm>
          <a:custGeom>
            <a:avLst/>
            <a:gdLst/>
            <a:ahLst/>
            <a:cxnLst/>
            <a:rect r="r" b="b" t="t" l="l"/>
            <a:pathLst>
              <a:path h="1386351" w="1254318">
                <a:moveTo>
                  <a:pt x="0" y="0"/>
                </a:moveTo>
                <a:lnTo>
                  <a:pt x="1254318" y="0"/>
                </a:lnTo>
                <a:lnTo>
                  <a:pt x="1254318" y="1386351"/>
                </a:lnTo>
                <a:lnTo>
                  <a:pt x="0" y="13863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7120">
            <a:off x="7904226" y="2808298"/>
            <a:ext cx="7654912" cy="117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5"/>
              </a:lnSpc>
            </a:pPr>
            <a:r>
              <a:rPr lang="en-US" sz="1997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쇼핑몰</a:t>
            </a:r>
            <a:r>
              <a:rPr lang="en-US" sz="1997" strike="noStrike" u="none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 통합 검색 및 실시간 키워드 시스템 구축</a:t>
            </a:r>
          </a:p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판매자(Seller) 전용 백오피스(상품/배송/정산) 시스템 개발</a:t>
            </a:r>
          </a:p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관리자(Admin) 통합 제어(회원/판매자/상품/정산) 시스템 개발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691627" y="3122543"/>
            <a:ext cx="1352401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담당 기능</a:t>
            </a:r>
          </a:p>
        </p:txBody>
      </p:sp>
      <p:sp>
        <p:nvSpPr>
          <p:cNvPr name="TextBox 25" id="25"/>
          <p:cNvSpPr txBox="true"/>
          <p:nvPr/>
        </p:nvSpPr>
        <p:spPr>
          <a:xfrm rot="7120">
            <a:off x="7903813" y="5492534"/>
            <a:ext cx="6443763" cy="77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5"/>
              </a:lnSpc>
            </a:pPr>
            <a:r>
              <a:rPr lang="en-US" sz="1997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JSP·Servlet </a:t>
            </a:r>
            <a:r>
              <a:rPr lang="en-US" sz="1997" strike="noStrike" u="none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기반 MVC2 아키텍처 적용 </a:t>
            </a:r>
          </a:p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예외 변수를 고려한 견고한 비즈니스 로직 구현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605782" y="5678314"/>
            <a:ext cx="2485430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구현 목표</a:t>
            </a:r>
          </a:p>
        </p:txBody>
      </p:sp>
      <p:sp>
        <p:nvSpPr>
          <p:cNvPr name="TextBox 27" id="27"/>
          <p:cNvSpPr txBox="true"/>
          <p:nvPr/>
        </p:nvSpPr>
        <p:spPr>
          <a:xfrm rot="7120">
            <a:off x="6738824" y="7823055"/>
            <a:ext cx="9960201" cy="197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1997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[검색/키워드 시스템] 상품 검색 페이지 구현 및 검색 빈도 기반 인기 검색어 랭킹 산출</a:t>
            </a:r>
          </a:p>
          <a:p>
            <a:pPr algn="l">
              <a:lnSpc>
                <a:spcPts val="3195"/>
              </a:lnSpc>
            </a:pPr>
            <a:r>
              <a:rPr lang="en-US" sz="1997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[일반 회원 기능] 배송지 등록 및 관리 모듈 구현</a:t>
            </a:r>
          </a:p>
          <a:p>
            <a:pPr algn="l">
              <a:lnSpc>
                <a:spcPts val="3195"/>
              </a:lnSpc>
            </a:pPr>
            <a:r>
              <a:rPr lang="en-US" sz="1997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[판매자 시스템] 상품 CRUD, 주문 CS 처리 및 판매 정산액 확인</a:t>
            </a:r>
          </a:p>
          <a:p>
            <a:pPr algn="l">
              <a:lnSpc>
                <a:spcPts val="3195"/>
              </a:lnSpc>
            </a:pPr>
            <a:r>
              <a:rPr lang="en-US" sz="1997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[관리자 시스템] 신규 판매자 가입 승인, 전체 회원(일반/판매자) 계정 관리, </a:t>
            </a:r>
          </a:p>
          <a:p>
            <a:pPr algn="l" marL="0" indent="0" lvl="0">
              <a:lnSpc>
                <a:spcPts val="3195"/>
              </a:lnSpc>
            </a:pPr>
            <a:r>
              <a:rPr lang="en-US" sz="1997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                          플랫폼 전체 상품 제어 및 정산 승인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706755" y="8389876"/>
            <a:ext cx="2076152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구현 범위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12146" y="1000268"/>
            <a:ext cx="3838129" cy="75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5"/>
              </a:lnSpc>
            </a:pPr>
            <a:r>
              <a:rPr lang="en-US" b="true" sz="3997" spc="-8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01   담당 영역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75092" y="8561086"/>
            <a:ext cx="1276876" cy="56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6"/>
              </a:lnSpc>
            </a:pPr>
            <a:r>
              <a:rPr lang="en-US" b="true" sz="2997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화면 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04276" y="8561086"/>
            <a:ext cx="1535835" cy="56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6"/>
              </a:lnSpc>
            </a:pPr>
            <a:r>
              <a:rPr lang="en-US" b="true" sz="2997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화면 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34580"/>
            <a:ext cx="4382741" cy="75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5"/>
              </a:lnSpc>
            </a:pPr>
            <a:r>
              <a:rPr lang="en-US" b="true" sz="3997" spc="-8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02   주요 코드 설명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2245" y="2432701"/>
            <a:ext cx="15590707" cy="1521639"/>
            <a:chOff x="0" y="0"/>
            <a:chExt cx="3207964" cy="3130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07964" cy="313094"/>
            </a:xfrm>
            <a:custGeom>
              <a:avLst/>
              <a:gdLst/>
              <a:ahLst/>
              <a:cxnLst/>
              <a:rect r="r" b="b" t="t" l="l"/>
              <a:pathLst>
                <a:path h="313094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303396"/>
                  </a:lnTo>
                  <a:cubicBezTo>
                    <a:pt x="3207964" y="305968"/>
                    <a:pt x="3206943" y="308435"/>
                    <a:pt x="3205124" y="310254"/>
                  </a:cubicBezTo>
                  <a:cubicBezTo>
                    <a:pt x="3203305" y="312073"/>
                    <a:pt x="3200838" y="313094"/>
                    <a:pt x="3198266" y="313094"/>
                  </a:cubicBezTo>
                  <a:lnTo>
                    <a:pt x="9699" y="313094"/>
                  </a:lnTo>
                  <a:cubicBezTo>
                    <a:pt x="4342" y="313094"/>
                    <a:pt x="0" y="308752"/>
                    <a:pt x="0" y="303396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157C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207964" cy="37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2245" y="4954181"/>
            <a:ext cx="15590707" cy="1521639"/>
            <a:chOff x="0" y="0"/>
            <a:chExt cx="3207964" cy="3130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7964" cy="313094"/>
            </a:xfrm>
            <a:custGeom>
              <a:avLst/>
              <a:gdLst/>
              <a:ahLst/>
              <a:cxnLst/>
              <a:rect r="r" b="b" t="t" l="l"/>
              <a:pathLst>
                <a:path h="313094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303396"/>
                  </a:lnTo>
                  <a:cubicBezTo>
                    <a:pt x="3207964" y="305968"/>
                    <a:pt x="3206943" y="308435"/>
                    <a:pt x="3205124" y="310254"/>
                  </a:cubicBezTo>
                  <a:cubicBezTo>
                    <a:pt x="3203305" y="312073"/>
                    <a:pt x="3200838" y="313094"/>
                    <a:pt x="3198266" y="313094"/>
                  </a:cubicBezTo>
                  <a:lnTo>
                    <a:pt x="9699" y="313094"/>
                  </a:lnTo>
                  <a:cubicBezTo>
                    <a:pt x="4342" y="313094"/>
                    <a:pt x="0" y="308752"/>
                    <a:pt x="0" y="303396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35D1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207964" cy="37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52245" y="7627663"/>
            <a:ext cx="15590707" cy="1521639"/>
            <a:chOff x="0" y="0"/>
            <a:chExt cx="3207964" cy="3130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7964" cy="313094"/>
            </a:xfrm>
            <a:custGeom>
              <a:avLst/>
              <a:gdLst/>
              <a:ahLst/>
              <a:cxnLst/>
              <a:rect r="r" b="b" t="t" l="l"/>
              <a:pathLst>
                <a:path h="313094" w="3207964">
                  <a:moveTo>
                    <a:pt x="9699" y="0"/>
                  </a:moveTo>
                  <a:lnTo>
                    <a:pt x="3198266" y="0"/>
                  </a:lnTo>
                  <a:cubicBezTo>
                    <a:pt x="3203622" y="0"/>
                    <a:pt x="3207964" y="4342"/>
                    <a:pt x="3207964" y="9699"/>
                  </a:cubicBezTo>
                  <a:lnTo>
                    <a:pt x="3207964" y="303396"/>
                  </a:lnTo>
                  <a:cubicBezTo>
                    <a:pt x="3207964" y="305968"/>
                    <a:pt x="3206943" y="308435"/>
                    <a:pt x="3205124" y="310254"/>
                  </a:cubicBezTo>
                  <a:cubicBezTo>
                    <a:pt x="3203305" y="312073"/>
                    <a:pt x="3200838" y="313094"/>
                    <a:pt x="3198266" y="313094"/>
                  </a:cubicBezTo>
                  <a:lnTo>
                    <a:pt x="9699" y="313094"/>
                  </a:lnTo>
                  <a:cubicBezTo>
                    <a:pt x="4342" y="313094"/>
                    <a:pt x="0" y="308752"/>
                    <a:pt x="0" y="303396"/>
                  </a:cubicBezTo>
                  <a:lnTo>
                    <a:pt x="0" y="9699"/>
                  </a:lnTo>
                  <a:cubicBezTo>
                    <a:pt x="0" y="4342"/>
                    <a:pt x="4342" y="0"/>
                    <a:pt x="9699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207964" cy="37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47108" y="3137794"/>
            <a:ext cx="383167" cy="38316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47108" y="5523417"/>
            <a:ext cx="383167" cy="38316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47108" y="8196899"/>
            <a:ext cx="383167" cy="38316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98801" y="7683568"/>
            <a:ext cx="1535806" cy="1381773"/>
          </a:xfrm>
          <a:custGeom>
            <a:avLst/>
            <a:gdLst/>
            <a:ahLst/>
            <a:cxnLst/>
            <a:rect r="r" b="b" t="t" l="l"/>
            <a:pathLst>
              <a:path h="1381773" w="1535806">
                <a:moveTo>
                  <a:pt x="0" y="0"/>
                </a:moveTo>
                <a:lnTo>
                  <a:pt x="1535807" y="0"/>
                </a:lnTo>
                <a:lnTo>
                  <a:pt x="1535807" y="1381772"/>
                </a:lnTo>
                <a:lnTo>
                  <a:pt x="0" y="13817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012543" y="5160364"/>
            <a:ext cx="1224116" cy="1290851"/>
          </a:xfrm>
          <a:custGeom>
            <a:avLst/>
            <a:gdLst/>
            <a:ahLst/>
            <a:cxnLst/>
            <a:rect r="r" b="b" t="t" l="l"/>
            <a:pathLst>
              <a:path h="1290851" w="1224116">
                <a:moveTo>
                  <a:pt x="0" y="0"/>
                </a:moveTo>
                <a:lnTo>
                  <a:pt x="1224116" y="0"/>
                </a:lnTo>
                <a:lnTo>
                  <a:pt x="1224116" y="1290851"/>
                </a:lnTo>
                <a:lnTo>
                  <a:pt x="0" y="1290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837351" y="2533077"/>
            <a:ext cx="1475852" cy="1320887"/>
          </a:xfrm>
          <a:custGeom>
            <a:avLst/>
            <a:gdLst/>
            <a:ahLst/>
            <a:cxnLst/>
            <a:rect r="r" b="b" t="t" l="l"/>
            <a:pathLst>
              <a:path h="1320887" w="1475852">
                <a:moveTo>
                  <a:pt x="0" y="0"/>
                </a:moveTo>
                <a:lnTo>
                  <a:pt x="1475851" y="0"/>
                </a:lnTo>
                <a:lnTo>
                  <a:pt x="1475851" y="1320887"/>
                </a:lnTo>
                <a:lnTo>
                  <a:pt x="0" y="13208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7120">
            <a:off x="7920185" y="3116166"/>
            <a:ext cx="6126944" cy="37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발생한 문제와 오류 현상을 작성하세요.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706755" y="3011218"/>
            <a:ext cx="1352401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문제 상황</a:t>
            </a:r>
          </a:p>
        </p:txBody>
      </p:sp>
      <p:sp>
        <p:nvSpPr>
          <p:cNvPr name="TextBox 25" id="25"/>
          <p:cNvSpPr txBox="true"/>
          <p:nvPr/>
        </p:nvSpPr>
        <p:spPr>
          <a:xfrm rot="7120">
            <a:off x="7919935" y="5252923"/>
            <a:ext cx="6443763" cy="77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문제의 원인과 확인 과정을 작성하세요.</a:t>
            </a:r>
          </a:p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FFFFFF"/>
                </a:solidFill>
                <a:latin typeface="JASO Sans"/>
                <a:ea typeface="JASO Sans"/>
                <a:cs typeface="JASO Sans"/>
                <a:sym typeface="JASO Sans"/>
              </a:rPr>
              <a:t>원인을 파악하기 위해 시도한 방법을 서술하세요.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06755" y="5396841"/>
            <a:ext cx="2485430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원인 분석</a:t>
            </a:r>
          </a:p>
        </p:txBody>
      </p:sp>
      <p:sp>
        <p:nvSpPr>
          <p:cNvPr name="TextBox 27" id="27"/>
          <p:cNvSpPr txBox="true"/>
          <p:nvPr/>
        </p:nvSpPr>
        <p:spPr>
          <a:xfrm rot="7120">
            <a:off x="7919936" y="7926781"/>
            <a:ext cx="6126779" cy="77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적용한 해결 방법과 결과를 작성하세요.</a:t>
            </a:r>
          </a:p>
          <a:p>
            <a:pPr algn="l" marL="0" indent="0" lvl="0">
              <a:lnSpc>
                <a:spcPts val="3195"/>
              </a:lnSpc>
            </a:pPr>
            <a:r>
              <a:rPr lang="en-US" sz="1997" strike="noStrike" u="none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해결 후 개선된 사항을 정리하세요.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706755" y="8070323"/>
            <a:ext cx="2076152" cy="5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3"/>
              </a:lnSpc>
            </a:pPr>
            <a:r>
              <a:rPr lang="en-US" b="true" sz="2696" spc="-8">
                <a:solidFill>
                  <a:srgbClr val="000000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문제 해결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1002034"/>
            <a:ext cx="3838129" cy="75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5"/>
              </a:lnSpc>
            </a:pPr>
            <a:r>
              <a:rPr lang="en-US" b="true" sz="3997" spc="-8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문제 및 해결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0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0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23214" y="2686179"/>
            <a:ext cx="13128441" cy="1023583"/>
            <a:chOff x="0" y="0"/>
            <a:chExt cx="3457696" cy="2695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57696" cy="269586"/>
            </a:xfrm>
            <a:custGeom>
              <a:avLst/>
              <a:gdLst/>
              <a:ahLst/>
              <a:cxnLst/>
              <a:rect r="r" b="b" t="t" l="l"/>
              <a:pathLst>
                <a:path h="269586" w="3457696">
                  <a:moveTo>
                    <a:pt x="14743" y="0"/>
                  </a:moveTo>
                  <a:lnTo>
                    <a:pt x="3442954" y="0"/>
                  </a:lnTo>
                  <a:cubicBezTo>
                    <a:pt x="3446864" y="0"/>
                    <a:pt x="3450613" y="1553"/>
                    <a:pt x="3453378" y="4318"/>
                  </a:cubicBezTo>
                  <a:cubicBezTo>
                    <a:pt x="3456143" y="7083"/>
                    <a:pt x="3457696" y="10833"/>
                    <a:pt x="3457696" y="14743"/>
                  </a:cubicBezTo>
                  <a:lnTo>
                    <a:pt x="3457696" y="254843"/>
                  </a:lnTo>
                  <a:cubicBezTo>
                    <a:pt x="3457696" y="258753"/>
                    <a:pt x="3456143" y="262503"/>
                    <a:pt x="3453378" y="265268"/>
                  </a:cubicBezTo>
                  <a:cubicBezTo>
                    <a:pt x="3450613" y="268032"/>
                    <a:pt x="3446864" y="269586"/>
                    <a:pt x="3442954" y="269586"/>
                  </a:cubicBezTo>
                  <a:lnTo>
                    <a:pt x="14743" y="269586"/>
                  </a:lnTo>
                  <a:cubicBezTo>
                    <a:pt x="10833" y="269586"/>
                    <a:pt x="7083" y="268032"/>
                    <a:pt x="4318" y="265268"/>
                  </a:cubicBezTo>
                  <a:cubicBezTo>
                    <a:pt x="1553" y="262503"/>
                    <a:pt x="0" y="258753"/>
                    <a:pt x="0" y="254843"/>
                  </a:cubicBezTo>
                  <a:lnTo>
                    <a:pt x="0" y="14743"/>
                  </a:lnTo>
                  <a:cubicBezTo>
                    <a:pt x="0" y="10833"/>
                    <a:pt x="1553" y="7083"/>
                    <a:pt x="4318" y="4318"/>
                  </a:cubicBezTo>
                  <a:cubicBezTo>
                    <a:pt x="7083" y="1553"/>
                    <a:pt x="10833" y="0"/>
                    <a:pt x="14743" y="0"/>
                  </a:cubicBezTo>
                  <a:close/>
                </a:path>
              </a:pathLst>
            </a:custGeom>
            <a:solidFill>
              <a:srgbClr val="FAFAFA"/>
            </a:solidFill>
            <a:ln w="19050" cap="rnd">
              <a:solidFill>
                <a:srgbClr val="157CE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3457696" cy="355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64804" y="2686179"/>
            <a:ext cx="3158410" cy="1023583"/>
            <a:chOff x="0" y="0"/>
            <a:chExt cx="831845" cy="2695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31845" cy="269586"/>
            </a:xfrm>
            <a:custGeom>
              <a:avLst/>
              <a:gdLst/>
              <a:ahLst/>
              <a:cxnLst/>
              <a:rect r="r" b="b" t="t" l="l"/>
              <a:pathLst>
                <a:path h="269586" w="831845">
                  <a:moveTo>
                    <a:pt x="61280" y="0"/>
                  </a:moveTo>
                  <a:lnTo>
                    <a:pt x="770564" y="0"/>
                  </a:lnTo>
                  <a:cubicBezTo>
                    <a:pt x="804409" y="0"/>
                    <a:pt x="831845" y="27436"/>
                    <a:pt x="831845" y="61280"/>
                  </a:cubicBezTo>
                  <a:lnTo>
                    <a:pt x="831845" y="208305"/>
                  </a:lnTo>
                  <a:cubicBezTo>
                    <a:pt x="831845" y="224558"/>
                    <a:pt x="825388" y="240145"/>
                    <a:pt x="813896" y="251637"/>
                  </a:cubicBezTo>
                  <a:cubicBezTo>
                    <a:pt x="802404" y="263129"/>
                    <a:pt x="786817" y="269586"/>
                    <a:pt x="770564" y="269586"/>
                  </a:cubicBezTo>
                  <a:lnTo>
                    <a:pt x="61280" y="269586"/>
                  </a:lnTo>
                  <a:cubicBezTo>
                    <a:pt x="45028" y="269586"/>
                    <a:pt x="29441" y="263129"/>
                    <a:pt x="17949" y="251637"/>
                  </a:cubicBezTo>
                  <a:cubicBezTo>
                    <a:pt x="6456" y="240145"/>
                    <a:pt x="0" y="224558"/>
                    <a:pt x="0" y="208305"/>
                  </a:cubicBezTo>
                  <a:lnTo>
                    <a:pt x="0" y="61280"/>
                  </a:lnTo>
                  <a:cubicBezTo>
                    <a:pt x="0" y="45028"/>
                    <a:pt x="6456" y="29441"/>
                    <a:pt x="17949" y="17949"/>
                  </a:cubicBezTo>
                  <a:cubicBezTo>
                    <a:pt x="29441" y="6456"/>
                    <a:pt x="45028" y="0"/>
                    <a:pt x="61280" y="0"/>
                  </a:cubicBezTo>
                  <a:close/>
                </a:path>
              </a:pathLst>
            </a:custGeom>
            <a:solidFill>
              <a:srgbClr val="157CEE"/>
            </a:solidFill>
            <a:ln w="9525" cap="rnd">
              <a:solidFill>
                <a:srgbClr val="157CE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831845" cy="355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19"/>
                </a:lnSpc>
              </a:pPr>
              <a:r>
                <a:rPr lang="en-US" sz="2199">
                  <a:solidFill>
                    <a:srgbClr val="000000"/>
                  </a:solidFill>
                  <a:latin typeface="둥근펜"/>
                  <a:ea typeface="둥근펜"/>
                  <a:cs typeface="둥근펜"/>
                  <a:sym typeface="둥근펜"/>
                </a:rPr>
                <a:t>문규리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959380" y="4550857"/>
            <a:ext cx="1528535" cy="45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34"/>
              </a:lnSpc>
            </a:pPr>
            <a:r>
              <a:rPr lang="en-US" b="true" sz="2396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구현 결과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723214" y="3804537"/>
            <a:ext cx="13128441" cy="1023583"/>
            <a:chOff x="0" y="0"/>
            <a:chExt cx="3457696" cy="2695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7696" cy="269586"/>
            </a:xfrm>
            <a:custGeom>
              <a:avLst/>
              <a:gdLst/>
              <a:ahLst/>
              <a:cxnLst/>
              <a:rect r="r" b="b" t="t" l="l"/>
              <a:pathLst>
                <a:path h="269586" w="3457696">
                  <a:moveTo>
                    <a:pt x="14743" y="0"/>
                  </a:moveTo>
                  <a:lnTo>
                    <a:pt x="3442954" y="0"/>
                  </a:lnTo>
                  <a:cubicBezTo>
                    <a:pt x="3446864" y="0"/>
                    <a:pt x="3450613" y="1553"/>
                    <a:pt x="3453378" y="4318"/>
                  </a:cubicBezTo>
                  <a:cubicBezTo>
                    <a:pt x="3456143" y="7083"/>
                    <a:pt x="3457696" y="10833"/>
                    <a:pt x="3457696" y="14743"/>
                  </a:cubicBezTo>
                  <a:lnTo>
                    <a:pt x="3457696" y="254843"/>
                  </a:lnTo>
                  <a:cubicBezTo>
                    <a:pt x="3457696" y="258753"/>
                    <a:pt x="3456143" y="262503"/>
                    <a:pt x="3453378" y="265268"/>
                  </a:cubicBezTo>
                  <a:cubicBezTo>
                    <a:pt x="3450613" y="268032"/>
                    <a:pt x="3446864" y="269586"/>
                    <a:pt x="3442954" y="269586"/>
                  </a:cubicBezTo>
                  <a:lnTo>
                    <a:pt x="14743" y="269586"/>
                  </a:lnTo>
                  <a:cubicBezTo>
                    <a:pt x="10833" y="269586"/>
                    <a:pt x="7083" y="268032"/>
                    <a:pt x="4318" y="265268"/>
                  </a:cubicBezTo>
                  <a:cubicBezTo>
                    <a:pt x="1553" y="262503"/>
                    <a:pt x="0" y="258753"/>
                    <a:pt x="0" y="254843"/>
                  </a:cubicBezTo>
                  <a:lnTo>
                    <a:pt x="0" y="14743"/>
                  </a:lnTo>
                  <a:cubicBezTo>
                    <a:pt x="0" y="10833"/>
                    <a:pt x="1553" y="7083"/>
                    <a:pt x="4318" y="4318"/>
                  </a:cubicBezTo>
                  <a:cubicBezTo>
                    <a:pt x="7083" y="1553"/>
                    <a:pt x="10833" y="0"/>
                    <a:pt x="14743" y="0"/>
                  </a:cubicBezTo>
                  <a:close/>
                </a:path>
              </a:pathLst>
            </a:custGeom>
            <a:solidFill>
              <a:srgbClr val="FAFAFA"/>
            </a:solidFill>
            <a:ln w="19050" cap="rnd">
              <a:solidFill>
                <a:srgbClr val="35D19C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3457696" cy="364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1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64804" y="3804537"/>
            <a:ext cx="3158410" cy="1023583"/>
            <a:chOff x="0" y="0"/>
            <a:chExt cx="831845" cy="2695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1845" cy="269586"/>
            </a:xfrm>
            <a:custGeom>
              <a:avLst/>
              <a:gdLst/>
              <a:ahLst/>
              <a:cxnLst/>
              <a:rect r="r" b="b" t="t" l="l"/>
              <a:pathLst>
                <a:path h="269586" w="831845">
                  <a:moveTo>
                    <a:pt x="61280" y="0"/>
                  </a:moveTo>
                  <a:lnTo>
                    <a:pt x="770564" y="0"/>
                  </a:lnTo>
                  <a:cubicBezTo>
                    <a:pt x="804409" y="0"/>
                    <a:pt x="831845" y="27436"/>
                    <a:pt x="831845" y="61280"/>
                  </a:cubicBezTo>
                  <a:lnTo>
                    <a:pt x="831845" y="208305"/>
                  </a:lnTo>
                  <a:cubicBezTo>
                    <a:pt x="831845" y="224558"/>
                    <a:pt x="825388" y="240145"/>
                    <a:pt x="813896" y="251637"/>
                  </a:cubicBezTo>
                  <a:cubicBezTo>
                    <a:pt x="802404" y="263129"/>
                    <a:pt x="786817" y="269586"/>
                    <a:pt x="770564" y="269586"/>
                  </a:cubicBezTo>
                  <a:lnTo>
                    <a:pt x="61280" y="269586"/>
                  </a:lnTo>
                  <a:cubicBezTo>
                    <a:pt x="45028" y="269586"/>
                    <a:pt x="29441" y="263129"/>
                    <a:pt x="17949" y="251637"/>
                  </a:cubicBezTo>
                  <a:cubicBezTo>
                    <a:pt x="6456" y="240145"/>
                    <a:pt x="0" y="224558"/>
                    <a:pt x="0" y="208305"/>
                  </a:cubicBezTo>
                  <a:lnTo>
                    <a:pt x="0" y="61280"/>
                  </a:lnTo>
                  <a:cubicBezTo>
                    <a:pt x="0" y="45028"/>
                    <a:pt x="6456" y="29441"/>
                    <a:pt x="17949" y="17949"/>
                  </a:cubicBezTo>
                  <a:cubicBezTo>
                    <a:pt x="29441" y="6456"/>
                    <a:pt x="45028" y="0"/>
                    <a:pt x="61280" y="0"/>
                  </a:cubicBezTo>
                  <a:close/>
                </a:path>
              </a:pathLst>
            </a:custGeom>
            <a:solidFill>
              <a:srgbClr val="35D19C"/>
            </a:solidFill>
            <a:ln w="9525" cap="rnd">
              <a:solidFill>
                <a:srgbClr val="35D19C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831845" cy="355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19"/>
                </a:lnSpc>
              </a:pPr>
              <a:r>
                <a:rPr lang="en-US" sz="2199">
                  <a:solidFill>
                    <a:srgbClr val="000000"/>
                  </a:solidFill>
                  <a:latin typeface="둥근펜"/>
                  <a:ea typeface="둥근펜"/>
                  <a:cs typeface="둥근펜"/>
                  <a:sym typeface="둥근펜"/>
                </a:rPr>
                <a:t>조지훈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0539" y="4939099"/>
            <a:ext cx="16275387" cy="1023583"/>
            <a:chOff x="0" y="0"/>
            <a:chExt cx="21700516" cy="136477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4243635" y="0"/>
              <a:ext cx="17456881" cy="1364777"/>
              <a:chOff x="0" y="0"/>
              <a:chExt cx="3448273" cy="26958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448273" cy="269586"/>
              </a:xfrm>
              <a:custGeom>
                <a:avLst/>
                <a:gdLst/>
                <a:ahLst/>
                <a:cxnLst/>
                <a:rect r="r" b="b" t="t" l="l"/>
                <a:pathLst>
                  <a:path h="269586" w="3448273">
                    <a:moveTo>
                      <a:pt x="14783" y="0"/>
                    </a:moveTo>
                    <a:lnTo>
                      <a:pt x="3433490" y="0"/>
                    </a:lnTo>
                    <a:cubicBezTo>
                      <a:pt x="3437411" y="0"/>
                      <a:pt x="3441171" y="1557"/>
                      <a:pt x="3443943" y="4330"/>
                    </a:cubicBezTo>
                    <a:cubicBezTo>
                      <a:pt x="3446715" y="7102"/>
                      <a:pt x="3448273" y="10862"/>
                      <a:pt x="3448273" y="14783"/>
                    </a:cubicBezTo>
                    <a:lnTo>
                      <a:pt x="3448273" y="254803"/>
                    </a:lnTo>
                    <a:cubicBezTo>
                      <a:pt x="3448273" y="262967"/>
                      <a:pt x="3441654" y="269586"/>
                      <a:pt x="3433490" y="269586"/>
                    </a:cubicBezTo>
                    <a:lnTo>
                      <a:pt x="14783" y="269586"/>
                    </a:lnTo>
                    <a:cubicBezTo>
                      <a:pt x="10862" y="269586"/>
                      <a:pt x="7102" y="268028"/>
                      <a:pt x="4330" y="265256"/>
                    </a:cubicBezTo>
                    <a:cubicBezTo>
                      <a:pt x="1557" y="262483"/>
                      <a:pt x="0" y="258723"/>
                      <a:pt x="0" y="254803"/>
                    </a:cubicBezTo>
                    <a:lnTo>
                      <a:pt x="0" y="14783"/>
                    </a:lnTo>
                    <a:cubicBezTo>
                      <a:pt x="0" y="6619"/>
                      <a:pt x="6619" y="0"/>
                      <a:pt x="14783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 w="19050" cap="rnd">
                <a:solidFill>
                  <a:srgbClr val="D1D1D1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42875"/>
                <a:ext cx="3448273" cy="4124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047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4243635" cy="1364777"/>
              <a:chOff x="0" y="0"/>
              <a:chExt cx="838249" cy="26958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38249" cy="269586"/>
              </a:xfrm>
              <a:custGeom>
                <a:avLst/>
                <a:gdLst/>
                <a:ahLst/>
                <a:cxnLst/>
                <a:rect r="r" b="b" t="t" l="l"/>
                <a:pathLst>
                  <a:path h="269586" w="838249">
                    <a:moveTo>
                      <a:pt x="60812" y="0"/>
                    </a:moveTo>
                    <a:lnTo>
                      <a:pt x="777437" y="0"/>
                    </a:lnTo>
                    <a:cubicBezTo>
                      <a:pt x="793565" y="0"/>
                      <a:pt x="809033" y="6407"/>
                      <a:pt x="820438" y="17811"/>
                    </a:cubicBezTo>
                    <a:cubicBezTo>
                      <a:pt x="831842" y="29216"/>
                      <a:pt x="838249" y="44684"/>
                      <a:pt x="838249" y="60812"/>
                    </a:cubicBezTo>
                    <a:lnTo>
                      <a:pt x="838249" y="208774"/>
                    </a:lnTo>
                    <a:cubicBezTo>
                      <a:pt x="838249" y="224902"/>
                      <a:pt x="831842" y="240370"/>
                      <a:pt x="820438" y="251774"/>
                    </a:cubicBezTo>
                    <a:cubicBezTo>
                      <a:pt x="809033" y="263179"/>
                      <a:pt x="793565" y="269586"/>
                      <a:pt x="777437" y="269586"/>
                    </a:cubicBezTo>
                    <a:lnTo>
                      <a:pt x="60812" y="269586"/>
                    </a:lnTo>
                    <a:cubicBezTo>
                      <a:pt x="44684" y="269586"/>
                      <a:pt x="29216" y="263179"/>
                      <a:pt x="17811" y="251774"/>
                    </a:cubicBezTo>
                    <a:cubicBezTo>
                      <a:pt x="6407" y="240370"/>
                      <a:pt x="0" y="224902"/>
                      <a:pt x="0" y="208774"/>
                    </a:cubicBezTo>
                    <a:lnTo>
                      <a:pt x="0" y="60812"/>
                    </a:lnTo>
                    <a:cubicBezTo>
                      <a:pt x="0" y="44684"/>
                      <a:pt x="6407" y="29216"/>
                      <a:pt x="17811" y="17811"/>
                    </a:cubicBezTo>
                    <a:cubicBezTo>
                      <a:pt x="29216" y="6407"/>
                      <a:pt x="44684" y="0"/>
                      <a:pt x="60812" y="0"/>
                    </a:cubicBezTo>
                    <a:close/>
                  </a:path>
                </a:pathLst>
              </a:custGeom>
              <a:solidFill>
                <a:srgbClr val="D1D1D1"/>
              </a:solidFill>
              <a:ln w="19050" cap="rnd">
                <a:solidFill>
                  <a:srgbClr val="D1D1D1"/>
                </a:solidFill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33350"/>
                <a:ext cx="838249" cy="4029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047"/>
                  </a:lnSpc>
                </a:pPr>
                <a:r>
                  <a:rPr lang="en-US" sz="2199">
                    <a:solidFill>
                      <a:srgbClr val="000000"/>
                    </a:solidFill>
                    <a:latin typeface="둥근펜"/>
                    <a:ea typeface="둥근펜"/>
                    <a:cs typeface="둥근펜"/>
                    <a:sym typeface="둥근펜"/>
                  </a:rPr>
                  <a:t>안정빈</a:t>
                </a:r>
              </a:p>
            </p:txBody>
          </p:sp>
        </p:grpSp>
      </p:grpSp>
      <p:sp>
        <p:nvSpPr>
          <p:cNvPr name="TextBox 22" id="22"/>
          <p:cNvSpPr txBox="true"/>
          <p:nvPr/>
        </p:nvSpPr>
        <p:spPr>
          <a:xfrm rot="0">
            <a:off x="600077" y="2262635"/>
            <a:ext cx="9286014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60"/>
              </a:lnSpc>
            </a:pPr>
            <a:r>
              <a:rPr lang="en-US" sz="160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프로젝트를 마무리하며 구현 결과와 배운 점, 그리고 앞으로의 개선 방향을 정리하였습니다.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55646" y="8468903"/>
            <a:ext cx="16376707" cy="1521639"/>
            <a:chOff x="0" y="0"/>
            <a:chExt cx="3369693" cy="3130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69693" cy="313094"/>
            </a:xfrm>
            <a:custGeom>
              <a:avLst/>
              <a:gdLst/>
              <a:ahLst/>
              <a:cxnLst/>
              <a:rect r="r" b="b" t="t" l="l"/>
              <a:pathLst>
                <a:path h="313094" w="3369693">
                  <a:moveTo>
                    <a:pt x="9233" y="0"/>
                  </a:moveTo>
                  <a:lnTo>
                    <a:pt x="3360460" y="0"/>
                  </a:lnTo>
                  <a:cubicBezTo>
                    <a:pt x="3365559" y="0"/>
                    <a:pt x="3369693" y="4134"/>
                    <a:pt x="3369693" y="9233"/>
                  </a:cubicBezTo>
                  <a:lnTo>
                    <a:pt x="3369693" y="303861"/>
                  </a:lnTo>
                  <a:cubicBezTo>
                    <a:pt x="3369693" y="308961"/>
                    <a:pt x="3365559" y="313094"/>
                    <a:pt x="3360460" y="313094"/>
                  </a:cubicBezTo>
                  <a:lnTo>
                    <a:pt x="9233" y="313094"/>
                  </a:lnTo>
                  <a:cubicBezTo>
                    <a:pt x="4134" y="313094"/>
                    <a:pt x="0" y="308961"/>
                    <a:pt x="0" y="303861"/>
                  </a:cubicBezTo>
                  <a:lnTo>
                    <a:pt x="0" y="9233"/>
                  </a:lnTo>
                  <a:cubicBezTo>
                    <a:pt x="0" y="4134"/>
                    <a:pt x="4134" y="0"/>
                    <a:pt x="9233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369693" cy="370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6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7120">
            <a:off x="4063317" y="8820124"/>
            <a:ext cx="10163208" cy="37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95"/>
              </a:lnSpc>
            </a:pPr>
            <a:r>
              <a:rPr lang="en-US" b="true" sz="1997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© 2026 오늘의집 클론 프로젝트 팀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5646" y="1264189"/>
            <a:ext cx="3318564" cy="93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24"/>
              </a:lnSpc>
            </a:pPr>
            <a:r>
              <a:rPr lang="en-US" b="true" sz="4890" spc="-107">
                <a:solidFill>
                  <a:srgbClr val="2282F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08 개발 후기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564804" y="6070778"/>
            <a:ext cx="3158410" cy="1023583"/>
            <a:chOff x="0" y="0"/>
            <a:chExt cx="831845" cy="26958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31845" cy="269586"/>
            </a:xfrm>
            <a:custGeom>
              <a:avLst/>
              <a:gdLst/>
              <a:ahLst/>
              <a:cxnLst/>
              <a:rect r="r" b="b" t="t" l="l"/>
              <a:pathLst>
                <a:path h="269586" w="831845">
                  <a:moveTo>
                    <a:pt x="61280" y="0"/>
                  </a:moveTo>
                  <a:lnTo>
                    <a:pt x="770564" y="0"/>
                  </a:lnTo>
                  <a:cubicBezTo>
                    <a:pt x="804409" y="0"/>
                    <a:pt x="831845" y="27436"/>
                    <a:pt x="831845" y="61280"/>
                  </a:cubicBezTo>
                  <a:lnTo>
                    <a:pt x="831845" y="208305"/>
                  </a:lnTo>
                  <a:cubicBezTo>
                    <a:pt x="831845" y="224558"/>
                    <a:pt x="825388" y="240145"/>
                    <a:pt x="813896" y="251637"/>
                  </a:cubicBezTo>
                  <a:cubicBezTo>
                    <a:pt x="802404" y="263129"/>
                    <a:pt x="786817" y="269586"/>
                    <a:pt x="770564" y="269586"/>
                  </a:cubicBezTo>
                  <a:lnTo>
                    <a:pt x="61280" y="269586"/>
                  </a:lnTo>
                  <a:cubicBezTo>
                    <a:pt x="45028" y="269586"/>
                    <a:pt x="29441" y="263129"/>
                    <a:pt x="17949" y="251637"/>
                  </a:cubicBezTo>
                  <a:cubicBezTo>
                    <a:pt x="6456" y="240145"/>
                    <a:pt x="0" y="224558"/>
                    <a:pt x="0" y="208305"/>
                  </a:cubicBezTo>
                  <a:lnTo>
                    <a:pt x="0" y="61280"/>
                  </a:lnTo>
                  <a:cubicBezTo>
                    <a:pt x="0" y="45028"/>
                    <a:pt x="6456" y="29441"/>
                    <a:pt x="17949" y="17949"/>
                  </a:cubicBezTo>
                  <a:cubicBezTo>
                    <a:pt x="29441" y="6456"/>
                    <a:pt x="45028" y="0"/>
                    <a:pt x="61280" y="0"/>
                  </a:cubicBezTo>
                  <a:close/>
                </a:path>
              </a:pathLst>
            </a:custGeom>
            <a:solidFill>
              <a:srgbClr val="C1FF72"/>
            </a:solidFill>
            <a:ln w="9525" cap="rnd">
              <a:solidFill>
                <a:srgbClr val="35D19C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831845" cy="355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19"/>
                </a:lnSpc>
              </a:pPr>
              <a:r>
                <a:rPr lang="en-US" sz="2199">
                  <a:solidFill>
                    <a:srgbClr val="000000"/>
                  </a:solidFill>
                  <a:latin typeface="둥근펜"/>
                  <a:ea typeface="둥근펜"/>
                  <a:cs typeface="둥근펜"/>
                  <a:sym typeface="둥근펜"/>
                </a:rPr>
                <a:t>장미성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64804" y="7189611"/>
            <a:ext cx="3158410" cy="1023583"/>
            <a:chOff x="0" y="0"/>
            <a:chExt cx="831845" cy="26958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31845" cy="269586"/>
            </a:xfrm>
            <a:custGeom>
              <a:avLst/>
              <a:gdLst/>
              <a:ahLst/>
              <a:cxnLst/>
              <a:rect r="r" b="b" t="t" l="l"/>
              <a:pathLst>
                <a:path h="269586" w="831845">
                  <a:moveTo>
                    <a:pt x="61280" y="0"/>
                  </a:moveTo>
                  <a:lnTo>
                    <a:pt x="770564" y="0"/>
                  </a:lnTo>
                  <a:cubicBezTo>
                    <a:pt x="804409" y="0"/>
                    <a:pt x="831845" y="27436"/>
                    <a:pt x="831845" y="61280"/>
                  </a:cubicBezTo>
                  <a:lnTo>
                    <a:pt x="831845" y="208305"/>
                  </a:lnTo>
                  <a:cubicBezTo>
                    <a:pt x="831845" y="224558"/>
                    <a:pt x="825388" y="240145"/>
                    <a:pt x="813896" y="251637"/>
                  </a:cubicBezTo>
                  <a:cubicBezTo>
                    <a:pt x="802404" y="263129"/>
                    <a:pt x="786817" y="269586"/>
                    <a:pt x="770564" y="269586"/>
                  </a:cubicBezTo>
                  <a:lnTo>
                    <a:pt x="61280" y="269586"/>
                  </a:lnTo>
                  <a:cubicBezTo>
                    <a:pt x="45028" y="269586"/>
                    <a:pt x="29441" y="263129"/>
                    <a:pt x="17949" y="251637"/>
                  </a:cubicBezTo>
                  <a:cubicBezTo>
                    <a:pt x="6456" y="240145"/>
                    <a:pt x="0" y="224558"/>
                    <a:pt x="0" y="208305"/>
                  </a:cubicBezTo>
                  <a:lnTo>
                    <a:pt x="0" y="61280"/>
                  </a:lnTo>
                  <a:cubicBezTo>
                    <a:pt x="0" y="45028"/>
                    <a:pt x="6456" y="29441"/>
                    <a:pt x="17949" y="17949"/>
                  </a:cubicBezTo>
                  <a:cubicBezTo>
                    <a:pt x="29441" y="6456"/>
                    <a:pt x="45028" y="0"/>
                    <a:pt x="61280" y="0"/>
                  </a:cubicBezTo>
                  <a:close/>
                </a:path>
              </a:pathLst>
            </a:custGeom>
            <a:solidFill>
              <a:srgbClr val="00BF63"/>
            </a:solidFill>
            <a:ln w="9525" cap="rnd">
              <a:solidFill>
                <a:srgbClr val="35D19C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85725"/>
              <a:ext cx="831845" cy="355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19"/>
                </a:lnSpc>
              </a:pPr>
              <a:r>
                <a:rPr lang="en-US" sz="2199">
                  <a:solidFill>
                    <a:srgbClr val="000000"/>
                  </a:solidFill>
                  <a:latin typeface="둥근펜"/>
                  <a:ea typeface="둥근펜"/>
                  <a:cs typeface="둥근펜"/>
                  <a:sym typeface="둥근펜"/>
                </a:rPr>
                <a:t>류호훈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723214" y="6070778"/>
            <a:ext cx="13128441" cy="1023583"/>
            <a:chOff x="0" y="0"/>
            <a:chExt cx="3457696" cy="26958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457696" cy="269586"/>
            </a:xfrm>
            <a:custGeom>
              <a:avLst/>
              <a:gdLst/>
              <a:ahLst/>
              <a:cxnLst/>
              <a:rect r="r" b="b" t="t" l="l"/>
              <a:pathLst>
                <a:path h="269586" w="3457696">
                  <a:moveTo>
                    <a:pt x="14743" y="0"/>
                  </a:moveTo>
                  <a:lnTo>
                    <a:pt x="3442954" y="0"/>
                  </a:lnTo>
                  <a:cubicBezTo>
                    <a:pt x="3446864" y="0"/>
                    <a:pt x="3450613" y="1553"/>
                    <a:pt x="3453378" y="4318"/>
                  </a:cubicBezTo>
                  <a:cubicBezTo>
                    <a:pt x="3456143" y="7083"/>
                    <a:pt x="3457696" y="10833"/>
                    <a:pt x="3457696" y="14743"/>
                  </a:cubicBezTo>
                  <a:lnTo>
                    <a:pt x="3457696" y="254843"/>
                  </a:lnTo>
                  <a:cubicBezTo>
                    <a:pt x="3457696" y="258753"/>
                    <a:pt x="3456143" y="262503"/>
                    <a:pt x="3453378" y="265268"/>
                  </a:cubicBezTo>
                  <a:cubicBezTo>
                    <a:pt x="3450613" y="268032"/>
                    <a:pt x="3446864" y="269586"/>
                    <a:pt x="3442954" y="269586"/>
                  </a:cubicBezTo>
                  <a:lnTo>
                    <a:pt x="14743" y="269586"/>
                  </a:lnTo>
                  <a:cubicBezTo>
                    <a:pt x="10833" y="269586"/>
                    <a:pt x="7083" y="268032"/>
                    <a:pt x="4318" y="265268"/>
                  </a:cubicBezTo>
                  <a:cubicBezTo>
                    <a:pt x="1553" y="262503"/>
                    <a:pt x="0" y="258753"/>
                    <a:pt x="0" y="254843"/>
                  </a:cubicBezTo>
                  <a:lnTo>
                    <a:pt x="0" y="14743"/>
                  </a:lnTo>
                  <a:cubicBezTo>
                    <a:pt x="0" y="10833"/>
                    <a:pt x="1553" y="7083"/>
                    <a:pt x="4318" y="4318"/>
                  </a:cubicBezTo>
                  <a:cubicBezTo>
                    <a:pt x="7083" y="1553"/>
                    <a:pt x="10833" y="0"/>
                    <a:pt x="14743" y="0"/>
                  </a:cubicBezTo>
                  <a:close/>
                </a:path>
              </a:pathLst>
            </a:custGeom>
            <a:solidFill>
              <a:srgbClr val="FAFAFA"/>
            </a:solidFill>
            <a:ln w="19050" cap="rnd">
              <a:solidFill>
                <a:srgbClr val="C1FF72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0"/>
              <a:ext cx="3457696" cy="364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1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23214" y="7189611"/>
            <a:ext cx="13128441" cy="1023583"/>
            <a:chOff x="0" y="0"/>
            <a:chExt cx="3457696" cy="26958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457696" cy="269586"/>
            </a:xfrm>
            <a:custGeom>
              <a:avLst/>
              <a:gdLst/>
              <a:ahLst/>
              <a:cxnLst/>
              <a:rect r="r" b="b" t="t" l="l"/>
              <a:pathLst>
                <a:path h="269586" w="3457696">
                  <a:moveTo>
                    <a:pt x="14743" y="0"/>
                  </a:moveTo>
                  <a:lnTo>
                    <a:pt x="3442954" y="0"/>
                  </a:lnTo>
                  <a:cubicBezTo>
                    <a:pt x="3446864" y="0"/>
                    <a:pt x="3450613" y="1553"/>
                    <a:pt x="3453378" y="4318"/>
                  </a:cubicBezTo>
                  <a:cubicBezTo>
                    <a:pt x="3456143" y="7083"/>
                    <a:pt x="3457696" y="10833"/>
                    <a:pt x="3457696" y="14743"/>
                  </a:cubicBezTo>
                  <a:lnTo>
                    <a:pt x="3457696" y="254843"/>
                  </a:lnTo>
                  <a:cubicBezTo>
                    <a:pt x="3457696" y="258753"/>
                    <a:pt x="3456143" y="262503"/>
                    <a:pt x="3453378" y="265268"/>
                  </a:cubicBezTo>
                  <a:cubicBezTo>
                    <a:pt x="3450613" y="268032"/>
                    <a:pt x="3446864" y="269586"/>
                    <a:pt x="3442954" y="269586"/>
                  </a:cubicBezTo>
                  <a:lnTo>
                    <a:pt x="14743" y="269586"/>
                  </a:lnTo>
                  <a:cubicBezTo>
                    <a:pt x="10833" y="269586"/>
                    <a:pt x="7083" y="268032"/>
                    <a:pt x="4318" y="265268"/>
                  </a:cubicBezTo>
                  <a:cubicBezTo>
                    <a:pt x="1553" y="262503"/>
                    <a:pt x="0" y="258753"/>
                    <a:pt x="0" y="254843"/>
                  </a:cubicBezTo>
                  <a:lnTo>
                    <a:pt x="0" y="14743"/>
                  </a:lnTo>
                  <a:cubicBezTo>
                    <a:pt x="0" y="10833"/>
                    <a:pt x="1553" y="7083"/>
                    <a:pt x="4318" y="4318"/>
                  </a:cubicBezTo>
                  <a:cubicBezTo>
                    <a:pt x="7083" y="1553"/>
                    <a:pt x="10833" y="0"/>
                    <a:pt x="14743" y="0"/>
                  </a:cubicBezTo>
                  <a:close/>
                </a:path>
              </a:pathLst>
            </a:custGeom>
            <a:solidFill>
              <a:srgbClr val="FAFAFA"/>
            </a:solidFill>
            <a:ln w="19050" cap="rnd">
              <a:solidFill>
                <a:srgbClr val="00BF63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0"/>
              <a:ext cx="3457696" cy="364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1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4862842" y="845642"/>
            <a:ext cx="9559825" cy="117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8"/>
              </a:lnSpc>
            </a:pPr>
            <a:r>
              <a:rPr lang="en-US" sz="3377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작성하고 싶으신 만큼 작성 하시고 규격 넘으면</a:t>
            </a:r>
          </a:p>
          <a:p>
            <a:pPr algn="ctr">
              <a:lnSpc>
                <a:spcPts val="4728"/>
              </a:lnSpc>
            </a:pPr>
            <a:r>
              <a:rPr lang="en-US" sz="3377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밑에 있는 사람꺼 담페이지에 복붙 부탁드립니다.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DAHUHGkPnmc</dc:identifier>
  <dcterms:modified xsi:type="dcterms:W3CDTF">2011-08-01T06:04:30Z</dcterms:modified>
  <cp:revision>1</cp:revision>
  <dc:title>오늘의집 클론 프로젝트 프레젠테이션</dc:title>
</cp:coreProperties>
</file>